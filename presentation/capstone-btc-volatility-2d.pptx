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ur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91440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Bitcoin Volatility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A9AFBC"/>
                </a:solidFill>
                <a:latin typeface="Calibri"/>
              </a:rPr>
              <a:t>Forecasting 2-day realized volatility, not price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C99B"/>
                </a:solidFill>
                <a:latin typeface="Calibri"/>
              </a:rPr>
              <a:t>79,000+ Hourly BTC/USDT Records (2017-2026)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MOHAMMED HEJAIRI  ·  DSB FT2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How Bitcoin's Price Swings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Big rallies, sharp crashes, and everything in between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A9AFBC"/>
                </a:solidFill>
                <a:latin typeface="Calibri"/>
              </a:rPr>
              <a:t>Bitcoin's price is highly non-stationary: since 2017 it has drawn down more than 80% twice, then rallied to new all-time highs both times. These swings - not day-to-day direction - are the volatility this project forecasts.</a:t>
            </a:r>
          </a:p>
        </p:txBody>
      </p:sp>
      <p:pic>
        <p:nvPicPr>
          <p:cNvPr id="7" name="Picture 6" descr="price_sw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94560"/>
            <a:ext cx="10424160" cy="3246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623560"/>
            <a:ext cx="10881360" cy="96012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623560"/>
            <a:ext cx="45720" cy="96012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5157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WHAT THIS MEANS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4418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These price swings are volatility - the dispersion of returns, not their direction. This project forecasts the magnitude of that dispersion 2 days ahead.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What Is Volatility, and Why Predict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212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 i="0">
                <a:solidFill>
                  <a:srgbClr val="A9AFBC"/>
                </a:solidFill>
                <a:latin typeface="Calibri"/>
              </a:rPr>
              <a:t>Volatility measures the dispersion of price movements over time, independent of direction. Low volatility means small, tight moves; high volatility means large, rapid swings either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43200"/>
            <a:ext cx="5212080" cy="18288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743200"/>
            <a:ext cx="45720" cy="182880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7121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AN ANALOGY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63824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Predicting price is like guessing exactly where a boat will be tomorrow - nearly impossible. Predicting volatility is like guessing how rough the sea will be. That's a more tractable question, and usually the more useful one for risk management.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7548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Why Predicting It Matters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5120640"/>
          <a:ext cx="5212080" cy="15544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46888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Who Uses It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Options traders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Required input for Black-Scholes σ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Risk managers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Scales Value-at-Risk estimates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Traders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Position sizing under changing risk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Exchanges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Sets margin/collateral requirements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035040" y="1417320"/>
            <a:ext cx="5349240" cy="187451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417320"/>
            <a:ext cx="45720" cy="1874519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HOW IT'S CALCULATED</a:t>
            </a:r>
          </a:p>
        </p:txBody>
      </p:sp>
      <p:pic>
        <p:nvPicPr>
          <p:cNvPr id="15" name="Picture 14" descr="formula_volat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4480560" cy="132939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297180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1">
                <a:solidFill>
                  <a:srgbClr val="A9AFBC"/>
                </a:solidFill>
                <a:latin typeface="Calibri"/>
              </a:rPr>
              <a:t>r = hourly return, r̄ = its average, N = 48 hours (2 days)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520440"/>
            <a:ext cx="5349240" cy="242316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7033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INTUITION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11480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The standard deviation of the last 48 hourly returns. A wider spread around the mean means a more turbulent 2 days; a tighter spread means a calmer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From a vague question to a testable target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0881360" cy="141732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45720" cy="1417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9105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THE 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83664"/>
            <a:ext cx="10332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Predict Bitcoin's 2-day realized volatility, 48 hours ahead of the features used to predict it - not the next hour's value. This gives traders and risk desks a continuously-updating volatility estimate, usable directly in position-sizing and margin decisions.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546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Target Definition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66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volatility_2d, 48h ahead of the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05079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Horizon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050791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48 hours (2 days) - never the next hour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16552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Lagged price/volume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901184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0200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Success 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200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Beat GARCH and naive persistence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385816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3154680"/>
            <a:ext cx="5349240" cy="233172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3832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C99B"/>
                </a:solidFill>
                <a:latin typeface="Calibri"/>
              </a:rPr>
              <a:t>A NUMBER, NOT A CATEGORY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8620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Downstream uses - option pricing, Value-at-Risk, margin - need a continuous estimate, not a high/low label. That rules out classification: this is a regression problem.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 Overview &amp; Feature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C99B"/>
                </a:solidFill>
                <a:latin typeface="Calibri"/>
              </a:rPr>
              <a:t>DATASET:  </a:t>
            </a:r>
            <a:r>
              <a:rPr sz="1250" b="0">
                <a:solidFill>
                  <a:srgbClr val="A9AFBC"/>
                </a:solidFill>
                <a:latin typeface="Calibri"/>
              </a:rPr>
              <a:t>79,000+ hourly BTC/USDT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173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C99B"/>
                </a:solidFill>
                <a:latin typeface="Calibri"/>
              </a:rPr>
              <a:t>FEATURES:  </a:t>
            </a:r>
            <a:r>
              <a:rPr sz="1250" b="0">
                <a:solidFill>
                  <a:srgbClr val="A9AFBC"/>
                </a:solidFill>
                <a:latin typeface="Calibri"/>
              </a:rPr>
              <a:t>Price, volume, engineered volatility measures, and calendar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59" y="14173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C99B"/>
                </a:solidFill>
                <a:latin typeface="Calibri"/>
              </a:rPr>
              <a:t>TARGET:  </a:t>
            </a:r>
            <a:r>
              <a:rPr sz="1250" b="0">
                <a:solidFill>
                  <a:srgbClr val="A9AFBC"/>
                </a:solidFill>
                <a:latin typeface="Calibri"/>
              </a:rPr>
              <a:t>Volatility over the next 2 days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057400"/>
          <a:ext cx="11155680" cy="3584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023360"/>
                <a:gridCol w="5852160"/>
                <a:gridCol w="128016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RV_day / RV_week / RV_month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Realized volatility over the past day/week/month (HAR horizons)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ATR_X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Average True Range, as a % of price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BB_width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Bollinger Band width, as a % of the moving average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dow_sin / dow_cos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Cyclical day-of-week encoding (confirmed significant, see Feature Selection)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hourly_return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Hour-over-hour % price change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Numeric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volatility_2d (target)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2-day realized volatility, 48h ahead of the features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A9AFBC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Dataset &amp;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Data Cleaning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2996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0253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Fixed 29 timestamp gaps in the combined 2017-2026 hourly series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80720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77977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0604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Merged historical and live-collected data into one continuous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8328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58444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5701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8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Standardized hourly timestamp frequency, zero duplicates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6052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436168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16052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Dropped ~30 days of rolling-window warm-up rows</a:t>
            </a:r>
          </a:p>
        </p:txBody>
      </p:sp>
      <p:pic>
        <p:nvPicPr>
          <p:cNvPr id="22" name="Picture 21" descr="vol_hist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417320"/>
            <a:ext cx="5577840" cy="374903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35040" y="525780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Regime Mapping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035040" y="5623560"/>
          <a:ext cx="5577840" cy="11704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2377440"/>
                <a:gridCol w="20116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Level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Volatility Range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&lt;= 0.0041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0.0041 - 0.0065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A9AFBC"/>
                          </a:solidFill>
                          <a:latin typeface="Calibri"/>
                        </a:rPr>
                        <a:t>&gt; 0.0065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Feature Engineering: HAR Horizons &amp; ATR_X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The core volatility-based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8C99B"/>
                </a:solidFill>
                <a:latin typeface="Calibri"/>
              </a:rPr>
              <a:t>HAR Horizons (RV_day / RV_week / RV_month)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349240" cy="201168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45720" cy="201168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02535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WHAT IT IS &amp; 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95143"/>
            <a:ext cx="4800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RV_week = mean(volatility_2d, past 168h). Same idea at 24h and 720h windows (Corsi's HAR model, 2009). Volatility has memory at multiple timescales - a rough day in a calm month differs from one in an already-turbulent month, and a single window can't tell those apart.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23360"/>
            <a:ext cx="5349240" cy="214884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45720" cy="214884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513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WHY WE NEED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43984"/>
            <a:ext cx="4800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Confirmed by our own EDA: ACF/PACF shows slow-decaying, long memory; the trend decomposition shows the trend range (0.031) is 16x the seasonal range (0.0019) - regime shifts dominate, exactly what RV_week/RV_month sense. All three correlate at r = 0.58-0.61 with the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41732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5B7FA8"/>
                </a:solidFill>
                <a:latin typeface="Calibri"/>
              </a:rPr>
              <a:t>ATR_X (Average True Range)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74519"/>
            <a:ext cx="5349240" cy="201168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74519"/>
            <a:ext cx="45720" cy="201168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02535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WHAT IT IS &amp; WHAT IT 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95143"/>
            <a:ext cx="4800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True Range = max(High-Low, |High-PrevClose|, |Low-PrevClose|) - catches gaps a simple range misses (Wilder, 1978). ATR_X = mean(True Range, 14h) / Close: scale-free, comparable across any price level.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023360"/>
            <a:ext cx="5349240" cy="214884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4023360"/>
            <a:ext cx="45720" cy="214884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1513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WHY WE NEED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43984"/>
            <a:ext cx="4800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The single strongest feature in the project - r = 0.685 with the target, ahead of every HAR horizon. Gives the model its most immediate, hour-by-hour read on current turbulence.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Feature Engineering: BB_width &amp; What Got Dropped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Not every engineered feature makes the cut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E8C99B"/>
                </a:solidFill>
                <a:latin typeface="Calibri"/>
              </a:rPr>
              <a:t>BB_width (Bollinger Band Width)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74519"/>
            <a:ext cx="5349240" cy="201168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45720" cy="201168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02535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WHAT IT IS &amp; WHAT IT MEANS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95143"/>
            <a:ext cx="4800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upper/lower = MA_20h +/- 2 x std_20h (Bollinger, 1980s). BB_width = (upper - lower) / MA_20h, as a percentage. Widens in choppy trading, squeezes in quiet trading - the classic "squeeze" before a big move.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23360"/>
            <a:ext cx="5349240" cy="214884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023360"/>
            <a:ext cx="45720" cy="214884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513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WHY WE NEED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43984"/>
            <a:ext cx="4800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Correlates at r = 0.557 with the target - kept because it measures dispersion around a trend over a 20h window, not ATR_X's bar-by-bar range. Related to ATR_X (r = 0.82) but not redundant - both carry independent weight in every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417320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C4645A"/>
                </a:solidFill>
                <a:latin typeface="Calibri"/>
              </a:rPr>
              <a:t>Tested and Dropped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874519"/>
            <a:ext cx="5349240" cy="201168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874519"/>
            <a:ext cx="45720" cy="201168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002535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WHAT IT IS &amp; WHAT IT MEANS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95143"/>
            <a:ext cx="4800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Three more candidates, tested the same rigorous way: KC_width (Keltner Channel width - ATR-based envelope), SKEW_X (realized skewness - do returns lean up or down), and RVI (Relative Volatility Index - up-move vs. down-move volatility).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023360"/>
            <a:ext cx="5349240" cy="214884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4023360"/>
            <a:ext cx="45720" cy="214884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1513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WHY WE NEED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443984"/>
            <a:ext cx="48006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KC_width: r = 0.993 with ATR_X - near-duplicate, dropped. SKEW_X (r = -0.07) and RVI (r = -0.009): essentially zero correlation - dropped. Reporting what didn't work is part of an honest feature-selection process, not just what did.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EDA: Temporal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Is autocorrelation present - and how was it handled?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Diagnosing Autocorrelation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212080" cy="187451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45720" cy="1874519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9397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PRESENT - CONFIRMED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86584"/>
            <a:ext cx="4663440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The ACF decays slowly across many lags instead of dropping to zero, and the ADF test rejects a unit root (stat = -12.76, p &lt; 0.001) - the series is stationary but has real memory. This is genuine volatility clustering, not noise.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977639"/>
            <a:ext cx="5212080" cy="20574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977639"/>
            <a:ext cx="45720" cy="2057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05655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HOW IT WAS RESOLVED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98263"/>
            <a:ext cx="466344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Autocorrelated data breaks the i.i.d. assumption behind random splits and K-fold CV - a random shuffle would leak adjacent-in-time rows into training. Resolved with a chronological train/test split and TimeSeriesSplit CV (Preprocessing), plus lagged features - and by using the autocorrelation itself as HAR-RV-X's core signal, not discarding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55448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ACF / PACF (48 Lags)</a:t>
            </a:r>
          </a:p>
        </p:txBody>
      </p:sp>
      <p:pic>
        <p:nvPicPr>
          <p:cNvPr id="16" name="Picture 15" descr="acf_plot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65960"/>
            <a:ext cx="5349240" cy="265176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035040" y="4892040"/>
            <a:ext cx="5212080" cy="1143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4892040"/>
            <a:ext cx="45720" cy="114300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5020056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5312664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Autocorrelation isn't a nuisance to remove here - it's the predictive signal. HAR-RV-X's lagged, multi-horizon regressors exploit it directly, while chronological splitting keeps evaluation honest.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Feature Selection: Correlation &amp; Chi-Square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Correlation Analysis:  </a:t>
            </a:r>
            <a:r>
              <a:rPr sz="1300" b="0">
                <a:solidFill>
                  <a:srgbClr val="A9AFBC"/>
                </a:solidFill>
                <a:latin typeface="Calibri"/>
              </a:rPr>
              <a:t>every continuous feature kept for modeling is meaningfully correlated with the target - none are statistical accidents.</a:t>
            </a:r>
          </a:p>
        </p:txBody>
      </p:sp>
      <p:pic>
        <p:nvPicPr>
          <p:cNvPr id="6" name="Picture 5" descr="corr_bar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680"/>
            <a:ext cx="512064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21031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E8C99B"/>
                </a:solidFill>
                <a:latin typeface="Calibri"/>
              </a:rPr>
              <a:t>Chi-Square: Calendar Features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468880"/>
            <a:ext cx="5394960" cy="13716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2468880"/>
            <a:ext cx="45720" cy="137160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5968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HOUR OF DAY - NOT SIGNIFICANT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8950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chi2 = 3.82, p = 1.0 - no relationship with the volatility regime. Not used as a feature, in any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77639"/>
            <a:ext cx="5394960" cy="13716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0" y="3977639"/>
            <a:ext cx="45720" cy="137160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410565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DAY OF WEEK - SIGNIFICANT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4398263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chi2 = 2886.3, p &lt; 0.001 - a real weekly rhythm. Mon/Sun skew toward low volatility, Tue-Fri skew toward moderate/high. Added as dow_sin/dow_cos to every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49240"/>
            <a:ext cx="10835640" cy="9144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349240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477256"/>
            <a:ext cx="10287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STRONGEST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769864"/>
            <a:ext cx="10287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ATR_X leads the continuous features at r = 0.685 with the target - the single best predictor kept in the final feature 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Using Time as a Feature: dow_sin &amp; dow_cos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Making sure the model reads Sunday and Monday as neighbors</a:t>
            </a:r>
          </a:p>
        </p:txBody>
      </p:sp>
      <p:pic>
        <p:nvPicPr>
          <p:cNvPr id="6" name="Picture 5" descr="dow_cyclical_illu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417320"/>
            <a:ext cx="8686800" cy="4206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5715000"/>
            <a:ext cx="5349240" cy="77724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715000"/>
            <a:ext cx="45720" cy="77724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84301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IN XGBOOST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35624"/>
            <a:ext cx="4800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add_time_features() builds hour_sin, hour_cos, dow_sin, dow_cos from Date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5715000"/>
            <a:ext cx="5349240" cy="77724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5715000"/>
            <a:ext cx="45720" cy="77724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584301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THE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6135624"/>
            <a:ext cx="4800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day-of-week: kept (p &lt; 0.001). hour-of-day: dropped (p = 1.0)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Using Time as a Feature: dow_sin &amp; dow_cos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Making sure the model reads Sunday and Monday as neighbors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1088136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645920"/>
            <a:ext cx="292608" cy="292608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18488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6304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The problem: raw day numbers confuse a model - Sunday (6) and Monday (0) look far apart, even though they're next to each other on the calendar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03704"/>
            <a:ext cx="1088136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386584"/>
            <a:ext cx="292608" cy="292608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59152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0370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The fix: place each day on a circle using sine and cosine - dow_sin and dow_cos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944368"/>
            <a:ext cx="1088136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3127248"/>
            <a:ext cx="292608" cy="292608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99816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94436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Now Sunday and Monday sit right next to each other, just like on a real calendar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85032"/>
            <a:ext cx="1088136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67912"/>
            <a:ext cx="292608" cy="292608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0480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685032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In XGBoost specifically: an add_time_features() function builds all 4 cyclical columns - hour_sin, hour_cos, dow_sin, dow_cos - from the Date column, and adds them on top of the HAR features just for XGBoost's own feature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25696"/>
            <a:ext cx="1088136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4608576"/>
            <a:ext cx="292608" cy="292608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581144"/>
            <a:ext cx="2926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2569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 i="0">
                <a:solidFill>
                  <a:srgbClr val="A9AFBC"/>
                </a:solidFill>
                <a:latin typeface="Calibri"/>
              </a:rPr>
              <a:t>Chi-square test: day-of-week is real (p &lt; 0.001) - kept. Hour-of-day is not (p = 1.0) - dropped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440680"/>
            <a:ext cx="10881360" cy="96012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45720" cy="96012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6869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THE RESULT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61304"/>
            <a:ext cx="10332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dow_sin and dow_cos became real features in HAR-RV-X and XGBoost - not just tested and thrown away. hour_sin/hour_cos stayed in XGBoost too, but ended up with almost zero importance, exactly as the chi-square test predicted.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Preparing a leak-free feature matrix and target for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257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Preprocessing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202996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00253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Build target: volatility_2d shifted 48h (HORIZON) into the future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0604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80720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77977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0604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HORIZON set equal to the volatility window - zero overlapping 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358444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55701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Chronological split at a fixed date - never randomly shuffled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5257800" cy="658368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4361688"/>
            <a:ext cx="274320" cy="274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33425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160520"/>
            <a:ext cx="4526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TimeSeriesSplit (5-fold) for every hyperparameter search - never random K-fold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141732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Train/Test Split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828800"/>
            <a:ext cx="2560320" cy="123444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828800"/>
            <a:ext cx="45720" cy="123444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1975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TRAIN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212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55,821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2017-09 to 2024-01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32520" y="1828800"/>
            <a:ext cx="2560320" cy="123444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32520" y="1828800"/>
            <a:ext cx="45720" cy="123444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88552" y="197510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TEST 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0264" y="2212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22,602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74320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2024-02 to 2026-08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3291840"/>
            <a:ext cx="5349240" cy="141732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3291840"/>
            <a:ext cx="45720" cy="141732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341985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WHY CHRONOLOGICAL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712464"/>
            <a:ext cx="4800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Time-series data is autocorrelated - a random shuffle would leak information from adjacent-in-time rows into training. Every split (train/test, and every cross-validation fold) respects chronological order.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35040" y="4892040"/>
            <a:ext cx="5349240" cy="114300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35040" y="4892040"/>
            <a:ext cx="45720" cy="114300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502005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ZERO-OVERLAP 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5312664"/>
            <a:ext cx="4800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HORIZON (48h) equals the volatility window (48h) on purpose, so the most recent known feature value and the target share zero overlapping hours - no leakage.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Baseline: GARCH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Formula and Parameter Meanings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8229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82296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504645"/>
            <a:ext cx="2651760" cy="55686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45720" cy="3749039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WHAT EACH PARAMETER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sigma^2_t = the variance being solved for (today's estimate)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omega = baseline/floor variance level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alpha = weight on yesterday's squared shock - how reactive the model is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beta = weight on yesterday's own variance estimate - how much memory it has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epsilon_(t-1) = the previous shock (return surprise)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Fitted here: omega=0.0138, alpha=0.10, beta=0.88 (alpha+beta=0.98 - very persistent)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423160"/>
            <a:ext cx="45720" cy="3749039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CHARACTERISTICS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Textbook, most-cited baseline for volatility forecasting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Sets the performance bar every other model here must clear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Forecast mean-reverts within roughly 34 hours (alpha+beta = 0.98)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By 48 hours, has already lost most of its ability to react to current conditions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Reflected directly in its badly negative R2 (-1.62)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Baseline: GARCH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Standard GARCH(1,1) with Student-t Errors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621792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621792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404061"/>
            <a:ext cx="2651760" cy="5568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Model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Vol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GARCH(1,1)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Student's 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9300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Fit 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Hourly returns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9592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Forecast horizon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48 hours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9884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Performance (Test Set)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560320"/>
            <a:ext cx="5212080" cy="128016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2560320"/>
            <a:ext cx="45720" cy="128016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7066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R2 (Test Set)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944368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-1.62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0.003342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MAE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0.003042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10744200" cy="10515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074920"/>
            <a:ext cx="45720" cy="105156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202936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95544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GARCH's forecast mean-reverts toward a long-run average well before 48 hours are up - a structural weakness at this horizon, not an implementation bug. It sets the bar every required model below must clear.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1: EWMA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Formula and Parameter Meanings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8229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82296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ew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563624"/>
            <a:ext cx="3200400" cy="4389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45720" cy="3749039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WHAT EACH PARAMETER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sigma^2_t = today's variance estimate (what's being solved for)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lambda = the decay factor - the model's only tunable parameter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sigma^2_(t-1) = yesterday's variance estimate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r^2_(t-1) = yesterday's squared return (the newest shock)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Tuned value: lambda=0.99 - barely reacts to any single hour, stays near a smooth average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423160"/>
            <a:ext cx="45720" cy="3749039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CHARACTERISTICS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Useful midpoint in complexity between GARCH and a full regression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One dial, no distributional assumptions, no feature engineering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Tuned via TimeSeriesSplit CV (best lambda = 0.99)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Comfortably clears the GARCH baseline (R2 = 0.140 vs -1.618)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No exogenous features - caps how far it can go on its 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1: EWMA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RiskMetrics-Style Exponential Smoothing (Tuned)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621792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621792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ew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463040"/>
            <a:ext cx="3200400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Model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Named 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RiskMetrics (J.P. Morgan, 1996)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Lambda (Tuned)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0.99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9300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Search Range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0.85 - 0.995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9592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TimeSeriesSplit CV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9884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Performance (Test Set)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560320"/>
            <a:ext cx="5212080" cy="128016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2560320"/>
            <a:ext cx="45720" cy="128016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7066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R2 (Test Set)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944368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0.140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0.001916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MAE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0.001434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10744200" cy="10515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074920"/>
            <a:ext cx="45720" cy="105156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202936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95544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A single, fully transparent parameter - no hidden layers, nothing opaque. Clears the GARCH baseline by a wide margin, but its recursive, features-free design caps how much further it can improve.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2: HAR-RV-X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Formula and Parameter Meanings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8229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82296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517904"/>
            <a:ext cx="5577840" cy="5303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45720" cy="3749039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WHAT EACH PARAMETER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beta_0 = intercept (baseline level)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beta_1...beta_7 = regression coefficients - how strongly each feature moves the forecast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RV_day/week/month = realized volatility at 3 lookback windows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ATR_X, BB_width = technical indicators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dow_sin/dow_cos = cyclical day-of-week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epsilon = residual error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Tuned via Ridge, alpha=0.01 - light regularization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423160"/>
            <a:ext cx="45720" cy="3749039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CHARACTERISTICS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Natural fit for our EDA: strong autocorrelation and a large trend component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Best-performing model of the 3 required models (R2 = 0.310)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Edges out XGBoost once day-of-week was added as a feature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Day-of-week confirmed significant by chi-square (chi2 = 2886, p &lt; 0.001)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2: HAR-RV-X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Ridge-Regularized Regression on RV Horizons (Tuned)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621792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621792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h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417320"/>
            <a:ext cx="5577840" cy="5303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Model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Regressors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7 (RV horizons, ATR_X, BB_width, dow_sin/cos)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Regularization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Ridge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9300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Alpha (GridSearchCV)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0.01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9592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TimeSeriesSplit, 5-fold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9884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Performance (Test Set)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560320"/>
            <a:ext cx="5212080" cy="128016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2560320"/>
            <a:ext cx="45720" cy="128016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7066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R2 (Test Set)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944368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0.310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0.001715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MAE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0.001281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10744200" cy="10515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074920"/>
            <a:ext cx="45720" cy="105156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202936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95544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Best of the 3 required models. Adding day-of-week (dow_sin/dow_cos), backed by a significant chi-square result, lifted R2 from 0.234 to 0.31 - the single biggest jump in the whole project.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3: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Formula and Parameter Meanings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8229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82296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576425"/>
            <a:ext cx="4480560" cy="4133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292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23160"/>
            <a:ext cx="45720" cy="3749039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5B7FA8"/>
                </a:solidFill>
                <a:latin typeface="Calibri"/>
              </a:rPr>
              <a:t>WHAT EACH PARAMETER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y_hat = the predicted value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f_k(x) = the k-th tree's contribution, built to correct trees 1...k-1's errors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x = the feature vector (HAR features + calendar)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K (n_estimators) = number of trees in the ensemble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Tuned via GridSearchCV: n_estimators=100, max_depth=3, learning_rate=0.05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23160"/>
            <a:ext cx="5349240" cy="3749039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423160"/>
            <a:ext cx="45720" cy="3749039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551176"/>
            <a:ext cx="4800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CHARACTERISTICS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843784"/>
            <a:ext cx="4800600" cy="3200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Tests whether the feature-volatility relationship is genuinely nonlinear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Clearest overfitting story in the project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Default settings overfit badly (R2 = -0.14)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GridSearchCV-tuned shallow trees fix that (R2 = 0.306)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- Sharpest before/after tuning contrast in the whole notebook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3: XGBoost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Gradient-Boosted Trees, Tuned with GridSearchCV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0744200" cy="621792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45720" cy="621792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417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FORMULA</a:t>
            </a:r>
          </a:p>
        </p:txBody>
      </p:sp>
      <p:pic>
        <p:nvPicPr>
          <p:cNvPr id="9" name="Picture 8" descr="formula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475841"/>
            <a:ext cx="4480560" cy="4133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Model Configuration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Regressors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06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HAR features + cyclical hour/day-of-week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99008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n_estimators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089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49300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max_depth / learning_rate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 / 0.05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9592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AFBC"/>
                </a:solidFill>
                <a:latin typeface="Calibri"/>
              </a:rPr>
              <a:t>CV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148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TimeSeriesSplit, 5-fold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498848"/>
            <a:ext cx="5120640" cy="9525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14884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E8C99B"/>
                </a:solidFill>
                <a:latin typeface="Calibri"/>
              </a:rPr>
              <a:t>Performance (Test Set)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560320"/>
            <a:ext cx="5212080" cy="128016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2560320"/>
            <a:ext cx="45720" cy="128016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7066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R2 (Test Set)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2784" y="2944368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0.306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RMSE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0.001721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32520" y="3977639"/>
            <a:ext cx="2514600" cy="914400"/>
          </a:xfrm>
          <a:prstGeom prst="rect">
            <a:avLst/>
          </a:prstGeom>
          <a:solidFill>
            <a:srgbClr val="0506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32520" y="3977639"/>
            <a:ext cx="45720" cy="91440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8552" y="4123943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MAE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0264" y="4361687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0.001279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10744200" cy="10515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074920"/>
            <a:ext cx="45720" cy="105156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202936"/>
            <a:ext cx="10195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KEY INSIGHT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495544"/>
            <a:ext cx="10195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Untuned XGBoost overfits badly (R2 = -0.14) - GridSearchCV's shallow, slow-learning trees fix that. Slightly behind HAR-RV-X here once day-of-week was added to both models.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868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Every Model Tried in the Final Notebook, Test-Set Performance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155680" cy="41696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657600"/>
                <a:gridCol w="1691640"/>
                <a:gridCol w="1417320"/>
                <a:gridCol w="1600200"/>
                <a:gridCol w="2788920"/>
              </a:tblGrid>
              <a:tr h="260603">
                <a:tc>
                  <a:txBody>
                    <a:bodyPr wrap="square"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R2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7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109728" marR="109728" marT="36576" marB="36576" anchor="ctr">
                    <a:solidFill>
                      <a:srgbClr val="000000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GARCH (baseline)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0.003342</a:t>
                      </a:r>
                    </a:p>
                  </a:txBody>
                  <a:tcPr marL="109728" marR="109728" marT="36576" marB="36576" anchor="ctr">
                    <a:solidFill>
                      <a:srgbClr val="33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-1.618</a:t>
                      </a:r>
                    </a:p>
                  </a:txBody>
                  <a:tcPr marL="109728" marR="109728" marT="36576" marB="36576" anchor="ctr">
                    <a:solidFill>
                      <a:srgbClr val="33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0.003042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EWMA (base, lambda=0.94)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0.002191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-0.125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0.001620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Model 1 - base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EWMA (tuned, lambda=0.99)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0.001916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0.140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0.001434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Model 1 - tuned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HAR-RV-X (base, LinearReg)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0.001714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0.311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0.001278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Model 2 - base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HAR-RV-X (tuned, Ridge)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0.001715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0.310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0.001281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Model 2 - tuned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XGBoost (base, default)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0.002204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-0.139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0.001493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Model 3 - base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XGBoost (tuned, GridSearchCV)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0.001721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0.306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0.001279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Model 3 - tuned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HAR-RV-X (log-target)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0.001732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0.297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0.001212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attempt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XGBoost (log-target)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0.001698</a:t>
                      </a:r>
                    </a:p>
                  </a:txBody>
                  <a:tcPr marL="109728" marR="109728" marT="36576" marB="36576" anchor="ctr">
                    <a:solidFill>
                      <a:srgbClr val="2A33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0.324</a:t>
                      </a:r>
                    </a:p>
                  </a:txBody>
                  <a:tcPr marL="109728" marR="109728" marT="36576" marB="36576" anchor="ctr">
                    <a:solidFill>
                      <a:srgbClr val="2A332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0.001172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- best overall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Ensemble (HAR-RV-X + XGBoost)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0.001710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0.315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0.001274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attempt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XGBoost (PowerTransformer)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0.001705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0.319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0.001173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attempt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EWMA (log-space tuned)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0.001916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0.140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0.001434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attempt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Facebook Prophet (base)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0.002604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-0.589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0.001905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attempt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Facebook Prophet (tuned)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0.003429</a:t>
                      </a:r>
                    </a:p>
                  </a:txBody>
                  <a:tcPr marL="109728" marR="109728" marT="36576" marB="36576" anchor="ctr">
                    <a:solidFill>
                      <a:srgbClr val="33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-1.755</a:t>
                      </a:r>
                    </a:p>
                  </a:txBody>
                  <a:tcPr marL="109728" marR="109728" marT="36576" marB="36576" anchor="ctr">
                    <a:solidFill>
                      <a:srgbClr val="331E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0.002780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- worst overall</a:t>
                      </a:r>
                    </a:p>
                  </a:txBody>
                  <a:tcPr marL="109728" marR="109728" marT="36576" marB="36576" anchor="ctr">
                    <a:solidFill>
                      <a:srgbClr val="0E1117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HAR-RV-X (detrended via RV_month)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0.001713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0.313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0.001274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>
                          <a:solidFill>
                            <a:srgbClr val="A9AFBC"/>
                          </a:solidFill>
                          <a:latin typeface="Calibri"/>
                        </a:rPr>
                        <a:t>Extra attempt</a:t>
                      </a:r>
                    </a:p>
                  </a:txBody>
                  <a:tcPr marL="109728" marR="109728" marT="36576" marB="36576" anchor="ctr">
                    <a:solidFill>
                      <a:srgbClr val="12151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109960" cy="8229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45720" cy="82296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751576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8C99B"/>
                </a:solidFill>
                <a:latin typeface="Calibri"/>
              </a:rPr>
              <a:t>KEY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44184"/>
            <a:ext cx="10561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XGBoost (log-target) is the best number overall (R2=0.324); HAR-RV-X (tuned) is the best of the 3 required models (R2=0.310); Facebook Prophet (tuned) is the single worst result.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611880" cy="33375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72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C99B"/>
                </a:solidFill>
                <a:latin typeface="Calibri"/>
              </a:rPr>
              <a:t>Category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7451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Data Constraints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3774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No fundamental or on-chain signals - only price/volume history.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9067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90672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News, regulation, and macro shocks are invisible to the model.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80390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03904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Single asset - no cross-crypto spillover signal used.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11880" cy="33375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1572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C99B"/>
                </a:solidFill>
                <a:latin typeface="Calibri"/>
              </a:rPr>
              <a:t>Category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187451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Modeling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23774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GARCH's mean-reversion is structural, not tunable away.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309067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090672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Chi-square confirmed day-of-week matters but hour-of-day doesn't.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80390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803904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Time constraints limited exhaustive deep-learning exploration.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1371600"/>
            <a:ext cx="3611880" cy="33375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157276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E8C99B"/>
                </a:solidFill>
                <a:latin typeface="Calibri"/>
              </a:rPr>
              <a:t>Category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2" y="1874519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Statistical Ceiling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2377440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377440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Even the strongest feature (ATR_X) has only r = 0.685 with the target.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2" y="309067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3090672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Models cannot exceed the information content of their inputs.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8472" y="3803904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C4645A"/>
                </a:solidFill>
                <a:latin typeface="Calibri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803904"/>
            <a:ext cx="2880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A9AFBC"/>
                </a:solidFill>
                <a:latin typeface="Calibri"/>
              </a:rPr>
              <a:t>A moderate R2 ceiling is a predictable result, not a bug.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11155680" cy="1051560"/>
          </a:xfrm>
          <a:prstGeom prst="rect">
            <a:avLst/>
          </a:prstGeom>
          <a:solidFill>
            <a:srgbClr val="14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45720" cy="105156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6577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C4645A"/>
                </a:solidFill>
                <a:latin typeface="Calibri"/>
              </a:rPr>
              <a:t>KEY 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58384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A9AFBC"/>
                </a:solidFill>
                <a:latin typeface="Calibri"/>
              </a:rPr>
              <a:t>Meaningful improvement needs genuinely new information (news sentiment, on-chain metrics), not further tuning of what's already here. Neither more model complexity nor more compute alone is sufficient.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54864" cy="384048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Operational Implications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05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A9AFBC"/>
                </a:solidFill>
                <a:latin typeface="Calibri"/>
              </a:rPr>
              <a:t>Where a 0.31 R2 forecast is genuinely useful - and where it is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5B7FA8"/>
                </a:solidFill>
                <a:latin typeface="Calibri"/>
              </a:rPr>
              <a:t>Appropriate 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60020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4645A"/>
                </a:solidFill>
                <a:latin typeface="Calibri"/>
              </a:rPr>
              <a:t>Inappropriate Uses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212080" cy="8229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41148" cy="82296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Position Sizing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140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Scale trade size to the forecast - bigger expected move, smaller position.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5212080" cy="8229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41148" cy="82296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8152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Options Pricing Input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741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One data-driven volatility estimate to compare against market pricing.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5212080" cy="8229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931920"/>
            <a:ext cx="41148" cy="822960"/>
          </a:xfrm>
          <a:prstGeom prst="rect">
            <a:avLst/>
          </a:prstGeom>
          <a:solidFill>
            <a:srgbClr val="5B7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41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Risk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342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A continuous VaR input for short-horizon risk reviews, not a single trade call.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011680"/>
            <a:ext cx="5212080" cy="8229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2011680"/>
            <a:ext cx="41148" cy="82296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21214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Sole Trading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4140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Explains ~31% of variance - never trade on this number alone.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971800"/>
            <a:ext cx="5212080" cy="8229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2971800"/>
            <a:ext cx="41148" cy="82296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08152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Real-Time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3741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Not built or tested for split-second, automated trade triggers.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3931920"/>
            <a:ext cx="5212080" cy="822960"/>
          </a:xfrm>
          <a:prstGeom prst="rect">
            <a:avLst/>
          </a:prstGeom>
          <a:solidFill>
            <a:srgbClr val="12151C"/>
          </a:solidFill>
          <a:ln w="9525">
            <a:solidFill>
              <a:srgbClr val="2A2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3931920"/>
            <a:ext cx="41148" cy="822960"/>
          </a:xfrm>
          <a:prstGeom prst="rect">
            <a:avLst/>
          </a:prstGeom>
          <a:solidFill>
            <a:srgbClr val="C46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40416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Certainty in Legal/Compliance Filings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3342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A9AFBC"/>
                </a:solidFill>
                <a:latin typeface="Calibri"/>
              </a:rPr>
              <a:t>A forecast with real error bars, not a guarantee.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074920"/>
            <a:ext cx="10744200" cy="685800"/>
          </a:xfrm>
          <a:prstGeom prst="rect">
            <a:avLst/>
          </a:prstGeom>
          <a:solidFill>
            <a:srgbClr val="080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074920"/>
            <a:ext cx="107442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E8C99B"/>
                </a:solidFill>
                <a:latin typeface="Calibri"/>
              </a:rPr>
              <a:t>One input, not the final answer.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ur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65176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94760"/>
            <a:ext cx="1463040" cy="38100"/>
          </a:xfrm>
          <a:prstGeom prst="rect">
            <a:avLst/>
          </a:prstGeom>
          <a:solidFill>
            <a:srgbClr val="E8C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A9AFBC"/>
                </a:solidFill>
                <a:latin typeface="Calibri"/>
              </a:rPr>
              <a:t>Any 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093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MOHAMMED HEJAIRI  ·  DSB FT2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A9AFBC"/>
                </a:solidFill>
                <a:latin typeface="Calibri"/>
              </a:rPr>
              <a:t>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777E8C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