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pure-05.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2286000"/>
            <a:ext cx="9144000" cy="1554480"/>
          </a:xfrm>
          <a:prstGeom prst="rect">
            <a:avLst/>
          </a:prstGeom>
          <a:noFill/>
        </p:spPr>
        <p:txBody>
          <a:bodyPr wrap="square" anchor="t" lIns="0" rIns="0" tIns="0" bIns="0">
            <a:spAutoFit/>
          </a:bodyPr>
          <a:lstStyle/>
          <a:p>
            <a:pPr algn="l">
              <a:lnSpc>
                <a:spcPct val="105000"/>
              </a:lnSpc>
              <a:spcAft>
                <a:spcPts val="0"/>
              </a:spcAft>
            </a:pPr>
            <a:r>
              <a:rPr sz="4600" b="1" i="0">
                <a:solidFill>
                  <a:srgbClr val="FFFFFF"/>
                </a:solidFill>
                <a:latin typeface="Calibri"/>
              </a:rPr>
              <a:t>Bitcoin Volatility</a:t>
            </a:r>
          </a:p>
          <a:p>
            <a:pPr algn="l">
              <a:lnSpc>
                <a:spcPct val="105000"/>
              </a:lnSpc>
              <a:spcAft>
                <a:spcPts val="0"/>
              </a:spcAft>
            </a:pPr>
            <a:r>
              <a:rPr sz="4600" b="1" i="0">
                <a:solidFill>
                  <a:srgbClr val="FFFFFF"/>
                </a:solidFill>
                <a:latin typeface="Calibri"/>
              </a:rPr>
              <a:t>Prediction</a:t>
            </a:r>
          </a:p>
        </p:txBody>
      </p:sp>
      <p:sp>
        <p:nvSpPr>
          <p:cNvPr id="4" name="TextBox 3"/>
          <p:cNvSpPr txBox="1"/>
          <p:nvPr/>
        </p:nvSpPr>
        <p:spPr>
          <a:xfrm>
            <a:off x="822960" y="3703320"/>
            <a:ext cx="8229600" cy="457200"/>
          </a:xfrm>
          <a:prstGeom prst="rect">
            <a:avLst/>
          </a:prstGeom>
          <a:noFill/>
        </p:spPr>
        <p:txBody>
          <a:bodyPr wrap="square" anchor="t" lIns="0" rIns="0" tIns="0" bIns="0">
            <a:spAutoFit/>
          </a:bodyPr>
          <a:lstStyle/>
          <a:p>
            <a:pPr algn="l">
              <a:lnSpc>
                <a:spcPct val="100000"/>
              </a:lnSpc>
              <a:spcAft>
                <a:spcPts val="0"/>
              </a:spcAft>
            </a:pPr>
            <a:r>
              <a:rPr sz="1700" b="0" i="0">
                <a:solidFill>
                  <a:srgbClr val="A9AFBC"/>
                </a:solidFill>
                <a:latin typeface="Calibri"/>
              </a:rPr>
              <a:t>A Time-Series Forecasting Analysis</a:t>
            </a:r>
          </a:p>
        </p:txBody>
      </p:sp>
      <p:sp>
        <p:nvSpPr>
          <p:cNvPr id="5" name="TextBox 4"/>
          <p:cNvSpPr txBox="1"/>
          <p:nvPr/>
        </p:nvSpPr>
        <p:spPr>
          <a:xfrm>
            <a:off x="822960" y="4114800"/>
            <a:ext cx="5486400" cy="365760"/>
          </a:xfrm>
          <a:prstGeom prst="rect">
            <a:avLst/>
          </a:prstGeom>
          <a:noFill/>
        </p:spPr>
        <p:txBody>
          <a:bodyPr wrap="square" anchor="t" lIns="0" rIns="0" tIns="0" bIns="0">
            <a:spAutoFit/>
          </a:bodyPr>
          <a:lstStyle/>
          <a:p>
            <a:pPr algn="l">
              <a:lnSpc>
                <a:spcPct val="100000"/>
              </a:lnSpc>
              <a:spcAft>
                <a:spcPts val="0"/>
              </a:spcAft>
            </a:pPr>
            <a:r>
              <a:rPr sz="1300" b="1" i="0">
                <a:solidFill>
                  <a:srgbClr val="E8C99B"/>
                </a:solidFill>
                <a:latin typeface="Calibri"/>
              </a:rPr>
              <a:t>73,000+ Hourly BTC/USDT Records</a:t>
            </a:r>
          </a:p>
        </p:txBody>
      </p:sp>
      <p:sp>
        <p:nvSpPr>
          <p:cNvPr id="6" name="TextBox 5"/>
          <p:cNvSpPr txBox="1"/>
          <p:nvPr/>
        </p:nvSpPr>
        <p:spPr>
          <a:xfrm>
            <a:off x="822960" y="6309360"/>
            <a:ext cx="3657600" cy="320040"/>
          </a:xfrm>
          <a:prstGeom prst="rect">
            <a:avLst/>
          </a:prstGeom>
          <a:noFill/>
        </p:spPr>
        <p:txBody>
          <a:bodyPr wrap="square" anchor="t" lIns="0" rIns="0" tIns="0" bIns="0">
            <a:spAutoFit/>
          </a:bodyPr>
          <a:lstStyle/>
          <a:p>
            <a:pPr algn="l">
              <a:lnSpc>
                <a:spcPct val="100000"/>
              </a:lnSpc>
              <a:spcAft>
                <a:spcPts val="0"/>
              </a:spcAft>
            </a:pPr>
            <a:r>
              <a:rPr sz="1150" b="0" i="0">
                <a:solidFill>
                  <a:srgbClr val="A9AFBC"/>
                </a:solidFill>
                <a:latin typeface="Calibri"/>
              </a:rPr>
              <a:t>MOHAMMED HEJAIRI  ·  DSB2</a:t>
            </a:r>
          </a:p>
        </p:txBody>
      </p:sp>
      <p:sp>
        <p:nvSpPr>
          <p:cNvPr id="7" name="TextBox 6"/>
          <p:cNvSpPr txBox="1"/>
          <p:nvPr/>
        </p:nvSpPr>
        <p:spPr>
          <a:xfrm>
            <a:off x="9601200" y="6309360"/>
            <a:ext cx="2103120" cy="320040"/>
          </a:xfrm>
          <a:prstGeom prst="rect">
            <a:avLst/>
          </a:prstGeom>
          <a:noFill/>
        </p:spPr>
        <p:txBody>
          <a:bodyPr wrap="square" anchor="t" lIns="0" rIns="0" tIns="0" bIns="0">
            <a:spAutoFit/>
          </a:bodyPr>
          <a:lstStyle/>
          <a:p>
            <a:pPr algn="r">
              <a:lnSpc>
                <a:spcPct val="100000"/>
              </a:lnSpc>
              <a:spcAft>
                <a:spcPts val="0"/>
              </a:spcAft>
            </a:pPr>
            <a:r>
              <a:rPr sz="1150" b="0" i="0">
                <a:solidFill>
                  <a:srgbClr val="A9AFBC"/>
                </a:solidFill>
                <a:latin typeface="Calibri"/>
              </a:rPr>
              <a:t>CAPSTONE PROJECT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457200"/>
            <a:ext cx="54864" cy="384048"/>
          </a:xfrm>
          <a:prstGeom prst="rect">
            <a:avLst/>
          </a:prstGeom>
          <a:solidFill>
            <a:srgbClr val="E8C9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384048"/>
            <a:ext cx="9601200" cy="502920"/>
          </a:xfrm>
          <a:prstGeom prst="rect">
            <a:avLst/>
          </a:prstGeom>
          <a:noFill/>
        </p:spPr>
        <p:txBody>
          <a:bodyPr wrap="square" anchor="t" lIns="0" rIns="0" tIns="0" bIns="0">
            <a:spAutoFit/>
          </a:bodyPr>
          <a:lstStyle/>
          <a:p>
            <a:pPr algn="l">
              <a:lnSpc>
                <a:spcPct val="100000"/>
              </a:lnSpc>
              <a:spcAft>
                <a:spcPts val="0"/>
              </a:spcAft>
            </a:pPr>
            <a:r>
              <a:rPr sz="2700" b="1" i="0">
                <a:solidFill>
                  <a:srgbClr val="FFFFFF"/>
                </a:solidFill>
                <a:latin typeface="Calibri"/>
              </a:rPr>
              <a:t>Introduction</a:t>
            </a:r>
          </a:p>
        </p:txBody>
      </p:sp>
      <p:sp>
        <p:nvSpPr>
          <p:cNvPr id="5" name="TextBox 4"/>
          <p:cNvSpPr txBox="1"/>
          <p:nvPr/>
        </p:nvSpPr>
        <p:spPr>
          <a:xfrm>
            <a:off x="685800" y="868680"/>
            <a:ext cx="10515600" cy="365760"/>
          </a:xfrm>
          <a:prstGeom prst="rect">
            <a:avLst/>
          </a:prstGeom>
          <a:noFill/>
        </p:spPr>
        <p:txBody>
          <a:bodyPr wrap="square" anchor="t" lIns="0" rIns="0" tIns="0" bIns="0">
            <a:spAutoFit/>
          </a:bodyPr>
          <a:lstStyle/>
          <a:p>
            <a:pPr algn="l">
              <a:lnSpc>
                <a:spcPct val="100000"/>
              </a:lnSpc>
              <a:spcAft>
                <a:spcPts val="0"/>
              </a:spcAft>
            </a:pPr>
            <a:r>
              <a:rPr sz="1350" b="0" i="0">
                <a:solidFill>
                  <a:srgbClr val="A9AFBC"/>
                </a:solidFill>
                <a:latin typeface="Calibri"/>
              </a:rPr>
              <a:t>Why turbulence, not direction?</a:t>
            </a:r>
          </a:p>
        </p:txBody>
      </p:sp>
      <p:sp>
        <p:nvSpPr>
          <p:cNvPr id="6" name="TextBox 5"/>
          <p:cNvSpPr txBox="1"/>
          <p:nvPr/>
        </p:nvSpPr>
        <p:spPr>
          <a:xfrm>
            <a:off x="502920" y="1508760"/>
            <a:ext cx="10881360" cy="1188720"/>
          </a:xfrm>
          <a:prstGeom prst="rect">
            <a:avLst/>
          </a:prstGeom>
          <a:noFill/>
        </p:spPr>
        <p:txBody>
          <a:bodyPr wrap="square" anchor="t" lIns="0" rIns="0" tIns="0" bIns="0">
            <a:spAutoFit/>
          </a:bodyPr>
          <a:lstStyle/>
          <a:p>
            <a:pPr algn="l">
              <a:lnSpc>
                <a:spcPct val="130000"/>
              </a:lnSpc>
              <a:spcAft>
                <a:spcPts val="0"/>
              </a:spcAft>
            </a:pPr>
            <a:r>
              <a:rPr sz="1500" b="0" i="0">
                <a:solidFill>
                  <a:srgbClr val="A9AFBC"/>
                </a:solidFill>
                <a:latin typeface="Calibri"/>
              </a:rPr>
              <a:t>Bitcoin's price swings unpredictably at short, hourly timescales, and traders, exchanges, and risk desks have no reliable way to anticipate how turbulent the next stretch of trading will be. That leads to mispriced risk, thin margin buffers, and poorly-timed position sizing.</a:t>
            </a:r>
          </a:p>
        </p:txBody>
      </p:sp>
      <p:sp>
        <p:nvSpPr>
          <p:cNvPr id="7" name="Rectangle 6"/>
          <p:cNvSpPr/>
          <p:nvPr/>
        </p:nvSpPr>
        <p:spPr>
          <a:xfrm>
            <a:off x="502920" y="2880360"/>
            <a:ext cx="10881360" cy="1234440"/>
          </a:xfrm>
          <a:prstGeom prst="rect">
            <a:avLst/>
          </a:prstGeom>
          <a:solidFill>
            <a:srgbClr val="1417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2880360"/>
            <a:ext cx="45720" cy="1234440"/>
          </a:xfrm>
          <a:prstGeom prst="rect">
            <a:avLst/>
          </a:prstGeom>
          <a:solidFill>
            <a:srgbClr val="E8C9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3008376"/>
            <a:ext cx="10332720" cy="274320"/>
          </a:xfrm>
          <a:prstGeom prst="rect">
            <a:avLst/>
          </a:prstGeom>
          <a:noFill/>
        </p:spPr>
        <p:txBody>
          <a:bodyPr wrap="square" anchor="t" lIns="0" rIns="0" tIns="0" bIns="0">
            <a:spAutoFit/>
          </a:bodyPr>
          <a:lstStyle/>
          <a:p>
            <a:pPr algn="l">
              <a:lnSpc>
                <a:spcPct val="100000"/>
              </a:lnSpc>
              <a:spcAft>
                <a:spcPts val="0"/>
              </a:spcAft>
            </a:pPr>
            <a:r>
              <a:rPr sz="1250" b="1" i="0">
                <a:solidFill>
                  <a:srgbClr val="E8C99B"/>
                </a:solidFill>
                <a:latin typeface="Calibri"/>
              </a:rPr>
              <a:t>AN ANALOGY</a:t>
            </a:r>
          </a:p>
        </p:txBody>
      </p:sp>
      <p:sp>
        <p:nvSpPr>
          <p:cNvPr id="10" name="TextBox 9"/>
          <p:cNvSpPr txBox="1"/>
          <p:nvPr/>
        </p:nvSpPr>
        <p:spPr>
          <a:xfrm>
            <a:off x="777240" y="3300984"/>
            <a:ext cx="10332720" cy="685800"/>
          </a:xfrm>
          <a:prstGeom prst="rect">
            <a:avLst/>
          </a:prstGeom>
          <a:noFill/>
        </p:spPr>
        <p:txBody>
          <a:bodyPr wrap="square" anchor="t" lIns="0" rIns="0" tIns="0" bIns="0">
            <a:spAutoFit/>
          </a:bodyPr>
          <a:lstStyle/>
          <a:p>
            <a:pPr algn="l">
              <a:lnSpc>
                <a:spcPct val="115000"/>
              </a:lnSpc>
              <a:spcAft>
                <a:spcPts val="0"/>
              </a:spcAft>
            </a:pPr>
            <a:r>
              <a:rPr sz="1300" b="0" i="0">
                <a:solidFill>
                  <a:srgbClr val="A9AFBC"/>
                </a:solidFill>
                <a:latin typeface="Calibri"/>
              </a:rPr>
              <a:t>Forecasting price is like predicting exactly where a boat will be tomorrow. Forecasting volatility is like predicting how rough the sea will be. The second question is more tractable - and for anyone managing risk, it's usually the more useful one.</a:t>
            </a:r>
          </a:p>
        </p:txBody>
      </p:sp>
      <p:sp>
        <p:nvSpPr>
          <p:cNvPr id="11" name="TextBox 10"/>
          <p:cNvSpPr txBox="1"/>
          <p:nvPr/>
        </p:nvSpPr>
        <p:spPr>
          <a:xfrm>
            <a:off x="502920" y="4434840"/>
            <a:ext cx="5486400" cy="320040"/>
          </a:xfrm>
          <a:prstGeom prst="rect">
            <a:avLst/>
          </a:prstGeom>
          <a:noFill/>
        </p:spPr>
        <p:txBody>
          <a:bodyPr wrap="square" anchor="t" lIns="0" rIns="0" tIns="0" bIns="0">
            <a:spAutoFit/>
          </a:bodyPr>
          <a:lstStyle/>
          <a:p>
            <a:pPr algn="l">
              <a:lnSpc>
                <a:spcPct val="100000"/>
              </a:lnSpc>
              <a:spcAft>
                <a:spcPts val="0"/>
              </a:spcAft>
            </a:pPr>
            <a:r>
              <a:rPr sz="1400" b="1" i="0">
                <a:solidFill>
                  <a:srgbClr val="FFFFFF"/>
                </a:solidFill>
                <a:latin typeface="Calibri"/>
              </a:rPr>
              <a:t>Why Volatility, Not Price</a:t>
            </a:r>
          </a:p>
        </p:txBody>
      </p:sp>
      <p:graphicFrame>
        <p:nvGraphicFramePr>
          <p:cNvPr id="12" name="Table 11"/>
          <p:cNvGraphicFramePr>
            <a:graphicFrameLocks noGrp="1"/>
          </p:cNvGraphicFramePr>
          <p:nvPr/>
        </p:nvGraphicFramePr>
        <p:xfrm>
          <a:off x="502920" y="4800600"/>
          <a:ext cx="10881360" cy="1737360"/>
        </p:xfrm>
        <a:graphic>
          <a:graphicData uri="http://schemas.openxmlformats.org/drawingml/2006/table">
            <a:tbl>
              <a:tblPr firstRow="0" bandRow="0">
                <a:tableStyleId>{5C22544A-7EE6-4342-B048-85BDC9FD1C3A}</a:tableStyleId>
              </a:tblPr>
              <a:tblGrid>
                <a:gridCol w="3108960"/>
                <a:gridCol w="7772400"/>
              </a:tblGrid>
              <a:tr h="347472">
                <a:tc>
                  <a:txBody>
                    <a:bodyPr wrap="square"/>
                    <a:lstStyle/>
                    <a:p>
                      <a:r>
                        <a:rPr sz="1300" b="1">
                          <a:solidFill>
                            <a:srgbClr val="FFFFFF"/>
                          </a:solidFill>
                          <a:latin typeface="Calibri"/>
                        </a:rPr>
                        <a:t>Use Case</a:t>
                      </a:r>
                    </a:p>
                  </a:txBody>
                  <a:tcPr marL="109728" marR="109728" marT="36576" marB="36576" anchor="ctr">
                    <a:solidFill>
                      <a:srgbClr val="000000"/>
                    </a:solidFill>
                  </a:tcPr>
                </a:tc>
                <a:tc>
                  <a:txBody>
                    <a:bodyPr wrap="square"/>
                    <a:lstStyle/>
                    <a:p>
                      <a:r>
                        <a:rPr sz="1300" b="1">
                          <a:solidFill>
                            <a:srgbClr val="FFFFFF"/>
                          </a:solidFill>
                          <a:latin typeface="Calibri"/>
                        </a:rPr>
                        <a:t>How Volatility Enters</a:t>
                      </a:r>
                    </a:p>
                  </a:txBody>
                  <a:tcPr marL="109728" marR="109728" marT="36576" marB="36576" anchor="ctr">
                    <a:solidFill>
                      <a:srgbClr val="000000"/>
                    </a:solidFill>
                  </a:tcPr>
                </a:tc>
              </a:tr>
              <a:tr h="347472">
                <a:tc>
                  <a:txBody>
                    <a:bodyPr wrap="square"/>
                    <a:lstStyle/>
                    <a:p>
                      <a:r>
                        <a:rPr sz="1200" b="0">
                          <a:solidFill>
                            <a:srgbClr val="A9AFBC"/>
                          </a:solidFill>
                          <a:latin typeface="Calibri"/>
                        </a:rPr>
                        <a:t>Option pricing</a:t>
                      </a:r>
                    </a:p>
                  </a:txBody>
                  <a:tcPr marL="109728" marR="109728" marT="36576" marB="36576" anchor="ctr">
                    <a:solidFill>
                      <a:srgbClr val="12151C"/>
                    </a:solidFill>
                  </a:tcPr>
                </a:tc>
                <a:tc>
                  <a:txBody>
                    <a:bodyPr wrap="square"/>
                    <a:lstStyle/>
                    <a:p>
                      <a:r>
                        <a:rPr sz="1200" b="0">
                          <a:solidFill>
                            <a:srgbClr val="A9AFBC"/>
                          </a:solidFill>
                          <a:latin typeface="Calibri"/>
                        </a:rPr>
                        <a:t>Black-Scholes takes sigma as a required input</a:t>
                      </a:r>
                    </a:p>
                  </a:txBody>
                  <a:tcPr marL="109728" marR="109728" marT="36576" marB="36576" anchor="ctr">
                    <a:solidFill>
                      <a:srgbClr val="12151C"/>
                    </a:solidFill>
                  </a:tcPr>
                </a:tc>
              </a:tr>
              <a:tr h="347472">
                <a:tc>
                  <a:txBody>
                    <a:bodyPr wrap="square"/>
                    <a:lstStyle/>
                    <a:p>
                      <a:r>
                        <a:rPr sz="1200" b="0">
                          <a:solidFill>
                            <a:srgbClr val="A9AFBC"/>
                          </a:solidFill>
                          <a:latin typeface="Calibri"/>
                        </a:rPr>
                        <a:t>Value-at-Risk</a:t>
                      </a:r>
                    </a:p>
                  </a:txBody>
                  <a:tcPr marL="109728" marR="109728" marT="36576" marB="36576" anchor="ctr">
                    <a:solidFill>
                      <a:srgbClr val="0E1117"/>
                    </a:solidFill>
                  </a:tcPr>
                </a:tc>
                <a:tc>
                  <a:txBody>
                    <a:bodyPr wrap="square"/>
                    <a:lstStyle/>
                    <a:p>
                      <a:r>
                        <a:rPr sz="1200" b="0">
                          <a:solidFill>
                            <a:srgbClr val="A9AFBC"/>
                          </a:solidFill>
                          <a:latin typeface="Calibri"/>
                        </a:rPr>
                        <a:t>Loss estimates scale directly with sigma</a:t>
                      </a:r>
                    </a:p>
                  </a:txBody>
                  <a:tcPr marL="109728" marR="109728" marT="36576" marB="36576" anchor="ctr">
                    <a:solidFill>
                      <a:srgbClr val="0E1117"/>
                    </a:solidFill>
                  </a:tcPr>
                </a:tc>
              </a:tr>
              <a:tr h="347472">
                <a:tc>
                  <a:txBody>
                    <a:bodyPr wrap="square"/>
                    <a:lstStyle/>
                    <a:p>
                      <a:r>
                        <a:rPr sz="1200" b="0">
                          <a:solidFill>
                            <a:srgbClr val="A9AFBC"/>
                          </a:solidFill>
                          <a:latin typeface="Calibri"/>
                        </a:rPr>
                        <a:t>Position sizing</a:t>
                      </a:r>
                    </a:p>
                  </a:txBody>
                  <a:tcPr marL="109728" marR="109728" marT="36576" marB="36576" anchor="ctr">
                    <a:solidFill>
                      <a:srgbClr val="12151C"/>
                    </a:solidFill>
                  </a:tcPr>
                </a:tc>
                <a:tc>
                  <a:txBody>
                    <a:bodyPr wrap="square"/>
                    <a:lstStyle/>
                    <a:p>
                      <a:r>
                        <a:rPr sz="1200" b="0">
                          <a:solidFill>
                            <a:srgbClr val="A9AFBC"/>
                          </a:solidFill>
                          <a:latin typeface="Calibri"/>
                        </a:rPr>
                        <a:t>Trade smaller when choppy, larger when calm</a:t>
                      </a:r>
                    </a:p>
                  </a:txBody>
                  <a:tcPr marL="109728" marR="109728" marT="36576" marB="36576" anchor="ctr">
                    <a:solidFill>
                      <a:srgbClr val="12151C"/>
                    </a:solidFill>
                  </a:tcPr>
                </a:tc>
              </a:tr>
              <a:tr h="347472">
                <a:tc>
                  <a:txBody>
                    <a:bodyPr wrap="square"/>
                    <a:lstStyle/>
                    <a:p>
                      <a:r>
                        <a:rPr sz="1200" b="0">
                          <a:solidFill>
                            <a:srgbClr val="A9AFBC"/>
                          </a:solidFill>
                          <a:latin typeface="Calibri"/>
                        </a:rPr>
                        <a:t>Exchange margin</a:t>
                      </a:r>
                    </a:p>
                  </a:txBody>
                  <a:tcPr marL="109728" marR="109728" marT="36576" marB="36576" anchor="ctr">
                    <a:solidFill>
                      <a:srgbClr val="0E1117"/>
                    </a:solidFill>
                  </a:tcPr>
                </a:tc>
                <a:tc>
                  <a:txBody>
                    <a:bodyPr wrap="square"/>
                    <a:lstStyle/>
                    <a:p>
                      <a:r>
                        <a:rPr sz="1200" b="0">
                          <a:solidFill>
                            <a:srgbClr val="A9AFBC"/>
                          </a:solidFill>
                          <a:latin typeface="Calibri"/>
                        </a:rPr>
                        <a:t>Collateral requirements rise with volatility</a:t>
                      </a:r>
                    </a:p>
                  </a:txBody>
                  <a:tcPr marL="109728" marR="109728" marT="36576" marB="36576" anchor="ctr">
                    <a:solidFill>
                      <a:srgbClr val="0E1117"/>
                    </a:solidFill>
                  </a:tcPr>
                </a:tc>
              </a:tr>
            </a:tbl>
          </a:graphicData>
        </a:graphic>
      </p:graphicFrame>
      <p:sp>
        <p:nvSpPr>
          <p:cNvPr id="13" name="TextBox 12"/>
          <p:cNvSpPr txBox="1"/>
          <p:nvPr/>
        </p:nvSpPr>
        <p:spPr>
          <a:xfrm>
            <a:off x="11612880" y="6492240"/>
            <a:ext cx="457200" cy="274320"/>
          </a:xfrm>
          <a:prstGeom prst="rect">
            <a:avLst/>
          </a:prstGeom>
          <a:noFill/>
        </p:spPr>
        <p:txBody>
          <a:bodyPr wrap="square" anchor="t" lIns="0" rIns="0" tIns="0" bIns="0">
            <a:spAutoFit/>
          </a:bodyPr>
          <a:lstStyle/>
          <a:p>
            <a:pPr algn="r">
              <a:lnSpc>
                <a:spcPct val="100000"/>
              </a:lnSpc>
              <a:spcAft>
                <a:spcPts val="0"/>
              </a:spcAft>
            </a:pPr>
            <a:r>
              <a:rPr sz="1100" b="0" i="0">
                <a:solidFill>
                  <a:srgbClr val="777E8C"/>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457200"/>
            <a:ext cx="54864" cy="384048"/>
          </a:xfrm>
          <a:prstGeom prst="rect">
            <a:avLst/>
          </a:prstGeom>
          <a:solidFill>
            <a:srgbClr val="E8C9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384048"/>
            <a:ext cx="9601200" cy="502920"/>
          </a:xfrm>
          <a:prstGeom prst="rect">
            <a:avLst/>
          </a:prstGeom>
          <a:noFill/>
        </p:spPr>
        <p:txBody>
          <a:bodyPr wrap="square" anchor="t" lIns="0" rIns="0" tIns="0" bIns="0">
            <a:spAutoFit/>
          </a:bodyPr>
          <a:lstStyle/>
          <a:p>
            <a:pPr algn="l">
              <a:lnSpc>
                <a:spcPct val="100000"/>
              </a:lnSpc>
              <a:spcAft>
                <a:spcPts val="0"/>
              </a:spcAft>
            </a:pPr>
            <a:r>
              <a:rPr sz="2700" b="1" i="0">
                <a:solidFill>
                  <a:srgbClr val="FFFFFF"/>
                </a:solidFill>
                <a:latin typeface="Calibri"/>
              </a:rPr>
              <a:t>Problem Statement</a:t>
            </a:r>
          </a:p>
        </p:txBody>
      </p:sp>
      <p:sp>
        <p:nvSpPr>
          <p:cNvPr id="5" name="TextBox 4"/>
          <p:cNvSpPr txBox="1"/>
          <p:nvPr/>
        </p:nvSpPr>
        <p:spPr>
          <a:xfrm>
            <a:off x="685800" y="868680"/>
            <a:ext cx="10515600" cy="365760"/>
          </a:xfrm>
          <a:prstGeom prst="rect">
            <a:avLst/>
          </a:prstGeom>
          <a:noFill/>
        </p:spPr>
        <p:txBody>
          <a:bodyPr wrap="square" anchor="t" lIns="0" rIns="0" tIns="0" bIns="0">
            <a:spAutoFit/>
          </a:bodyPr>
          <a:lstStyle/>
          <a:p>
            <a:pPr algn="l">
              <a:lnSpc>
                <a:spcPct val="100000"/>
              </a:lnSpc>
              <a:spcAft>
                <a:spcPts val="0"/>
              </a:spcAft>
            </a:pPr>
            <a:r>
              <a:rPr sz="1350" b="0" i="0">
                <a:solidFill>
                  <a:srgbClr val="A9AFBC"/>
                </a:solidFill>
                <a:latin typeface="Calibri"/>
              </a:rPr>
              <a:t>From a vague question to a testable target</a:t>
            </a:r>
          </a:p>
        </p:txBody>
      </p:sp>
      <p:sp>
        <p:nvSpPr>
          <p:cNvPr id="6" name="Rectangle 5"/>
          <p:cNvSpPr/>
          <p:nvPr/>
        </p:nvSpPr>
        <p:spPr>
          <a:xfrm>
            <a:off x="502920" y="1463040"/>
            <a:ext cx="10881360" cy="1417320"/>
          </a:xfrm>
          <a:prstGeom prst="rect">
            <a:avLst/>
          </a:prstGeom>
          <a:solidFill>
            <a:srgbClr val="1417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463040"/>
            <a:ext cx="45720" cy="1417320"/>
          </a:xfrm>
          <a:prstGeom prst="rect">
            <a:avLst/>
          </a:prstGeom>
          <a:solidFill>
            <a:srgbClr val="5B7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591056"/>
            <a:ext cx="10332720" cy="274320"/>
          </a:xfrm>
          <a:prstGeom prst="rect">
            <a:avLst/>
          </a:prstGeom>
          <a:noFill/>
        </p:spPr>
        <p:txBody>
          <a:bodyPr wrap="square" anchor="t" lIns="0" rIns="0" tIns="0" bIns="0">
            <a:spAutoFit/>
          </a:bodyPr>
          <a:lstStyle/>
          <a:p>
            <a:pPr algn="l">
              <a:lnSpc>
                <a:spcPct val="100000"/>
              </a:lnSpc>
              <a:spcAft>
                <a:spcPts val="0"/>
              </a:spcAft>
            </a:pPr>
            <a:r>
              <a:rPr sz="1250" b="1" i="0">
                <a:solidFill>
                  <a:srgbClr val="5B7FA8"/>
                </a:solidFill>
                <a:latin typeface="Calibri"/>
              </a:rPr>
              <a:t>THE AIM</a:t>
            </a:r>
          </a:p>
        </p:txBody>
      </p:sp>
      <p:sp>
        <p:nvSpPr>
          <p:cNvPr id="9" name="TextBox 8"/>
          <p:cNvSpPr txBox="1"/>
          <p:nvPr/>
        </p:nvSpPr>
        <p:spPr>
          <a:xfrm>
            <a:off x="777240" y="1883664"/>
            <a:ext cx="10332720" cy="868680"/>
          </a:xfrm>
          <a:prstGeom prst="rect">
            <a:avLst/>
          </a:prstGeom>
          <a:noFill/>
        </p:spPr>
        <p:txBody>
          <a:bodyPr wrap="square" anchor="t" lIns="0" rIns="0" tIns="0" bIns="0">
            <a:spAutoFit/>
          </a:bodyPr>
          <a:lstStyle/>
          <a:p>
            <a:pPr algn="l">
              <a:lnSpc>
                <a:spcPct val="115000"/>
              </a:lnSpc>
              <a:spcAft>
                <a:spcPts val="0"/>
              </a:spcAft>
            </a:pPr>
            <a:r>
              <a:rPr sz="1300" b="0" i="0">
                <a:solidFill>
                  <a:srgbClr val="A9AFBC"/>
                </a:solidFill>
                <a:latin typeface="Calibri"/>
              </a:rPr>
              <a:t>Predict Bitcoin's 7-day realized volatility - the rolling standard deviation of hourly returns over a 168-hour window - 168 hours ahead of the features used to predict it. This gives traders and risk desks a continuous, hour-by-hour-updating estimate of next week's volatility, usable directly in position-sizing and margin decisions.</a:t>
            </a:r>
          </a:p>
        </p:txBody>
      </p:sp>
      <p:sp>
        <p:nvSpPr>
          <p:cNvPr id="10" name="TextBox 9"/>
          <p:cNvSpPr txBox="1"/>
          <p:nvPr/>
        </p:nvSpPr>
        <p:spPr>
          <a:xfrm>
            <a:off x="502920" y="3154680"/>
            <a:ext cx="5212080" cy="320040"/>
          </a:xfrm>
          <a:prstGeom prst="rect">
            <a:avLst/>
          </a:prstGeom>
          <a:noFill/>
        </p:spPr>
        <p:txBody>
          <a:bodyPr wrap="square" anchor="t" lIns="0" rIns="0" tIns="0" bIns="0">
            <a:spAutoFit/>
          </a:bodyPr>
          <a:lstStyle/>
          <a:p>
            <a:pPr algn="l">
              <a:lnSpc>
                <a:spcPct val="100000"/>
              </a:lnSpc>
              <a:spcAft>
                <a:spcPts val="0"/>
              </a:spcAft>
            </a:pPr>
            <a:r>
              <a:rPr sz="1400" b="1" i="0">
                <a:solidFill>
                  <a:srgbClr val="FFFFFF"/>
                </a:solidFill>
                <a:latin typeface="Calibri"/>
              </a:rPr>
              <a:t>Target Definition</a:t>
            </a:r>
          </a:p>
        </p:txBody>
      </p:sp>
      <p:sp>
        <p:nvSpPr>
          <p:cNvPr id="11" name="TextBox 10"/>
          <p:cNvSpPr txBox="1"/>
          <p:nvPr/>
        </p:nvSpPr>
        <p:spPr>
          <a:xfrm>
            <a:off x="502920" y="3566160"/>
            <a:ext cx="5120640" cy="365760"/>
          </a:xfrm>
          <a:prstGeom prst="rect">
            <a:avLst/>
          </a:prstGeom>
          <a:noFill/>
        </p:spPr>
        <p:txBody>
          <a:bodyPr wrap="square" anchor="t" lIns="0" rIns="0" tIns="0" bIns="0">
            <a:spAutoFit/>
          </a:bodyPr>
          <a:lstStyle/>
          <a:p>
            <a:pPr algn="l">
              <a:lnSpc>
                <a:spcPct val="105000"/>
              </a:lnSpc>
            </a:pPr>
            <a:r>
              <a:rPr sz="1300" b="0">
                <a:solidFill>
                  <a:srgbClr val="A9AFBC"/>
                </a:solidFill>
                <a:latin typeface="Calibri"/>
              </a:rPr>
              <a:t>Target</a:t>
            </a:r>
          </a:p>
        </p:txBody>
      </p:sp>
      <p:sp>
        <p:nvSpPr>
          <p:cNvPr id="12" name="TextBox 11"/>
          <p:cNvSpPr txBox="1"/>
          <p:nvPr/>
        </p:nvSpPr>
        <p:spPr>
          <a:xfrm>
            <a:off x="502920" y="3566160"/>
            <a:ext cx="5120640" cy="365760"/>
          </a:xfrm>
          <a:prstGeom prst="rect">
            <a:avLst/>
          </a:prstGeom>
          <a:noFill/>
        </p:spPr>
        <p:txBody>
          <a:bodyPr wrap="square" anchor="t" lIns="0" rIns="0" tIns="0" bIns="0">
            <a:spAutoFit/>
          </a:bodyPr>
          <a:lstStyle/>
          <a:p>
            <a:pPr algn="r">
              <a:lnSpc>
                <a:spcPct val="100000"/>
              </a:lnSpc>
              <a:spcAft>
                <a:spcPts val="0"/>
              </a:spcAft>
            </a:pPr>
            <a:r>
              <a:rPr sz="1250" b="1" i="0">
                <a:solidFill>
                  <a:srgbClr val="FFFFFF"/>
                </a:solidFill>
                <a:latin typeface="Calibri"/>
              </a:rPr>
              <a:t>volatility_7d, 168h ahead of the features</a:t>
            </a:r>
          </a:p>
        </p:txBody>
      </p:sp>
      <p:sp>
        <p:nvSpPr>
          <p:cNvPr id="13" name="Rectangle 12"/>
          <p:cNvSpPr/>
          <p:nvPr/>
        </p:nvSpPr>
        <p:spPr>
          <a:xfrm>
            <a:off x="502920" y="3931920"/>
            <a:ext cx="5120640" cy="9525"/>
          </a:xfrm>
          <a:prstGeom prst="rect">
            <a:avLst/>
          </a:prstGeom>
          <a:solidFill>
            <a:srgbClr val="2A2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2920" y="4050791"/>
            <a:ext cx="5120640" cy="365760"/>
          </a:xfrm>
          <a:prstGeom prst="rect">
            <a:avLst/>
          </a:prstGeom>
          <a:noFill/>
        </p:spPr>
        <p:txBody>
          <a:bodyPr wrap="square" anchor="t" lIns="0" rIns="0" tIns="0" bIns="0">
            <a:spAutoFit/>
          </a:bodyPr>
          <a:lstStyle/>
          <a:p>
            <a:pPr algn="l">
              <a:lnSpc>
                <a:spcPct val="105000"/>
              </a:lnSpc>
            </a:pPr>
            <a:r>
              <a:rPr sz="1300" b="0">
                <a:solidFill>
                  <a:srgbClr val="A9AFBC"/>
                </a:solidFill>
                <a:latin typeface="Calibri"/>
              </a:rPr>
              <a:t>Horizon</a:t>
            </a:r>
          </a:p>
        </p:txBody>
      </p:sp>
      <p:sp>
        <p:nvSpPr>
          <p:cNvPr id="15" name="TextBox 14"/>
          <p:cNvSpPr txBox="1"/>
          <p:nvPr/>
        </p:nvSpPr>
        <p:spPr>
          <a:xfrm>
            <a:off x="502920" y="4050791"/>
            <a:ext cx="5120640" cy="365760"/>
          </a:xfrm>
          <a:prstGeom prst="rect">
            <a:avLst/>
          </a:prstGeom>
          <a:noFill/>
        </p:spPr>
        <p:txBody>
          <a:bodyPr wrap="square" anchor="t" lIns="0" rIns="0" tIns="0" bIns="0">
            <a:spAutoFit/>
          </a:bodyPr>
          <a:lstStyle/>
          <a:p>
            <a:pPr algn="r">
              <a:lnSpc>
                <a:spcPct val="100000"/>
              </a:lnSpc>
              <a:spcAft>
                <a:spcPts val="0"/>
              </a:spcAft>
            </a:pPr>
            <a:r>
              <a:rPr sz="1250" b="1" i="0">
                <a:solidFill>
                  <a:srgbClr val="FFFFFF"/>
                </a:solidFill>
                <a:latin typeface="Calibri"/>
              </a:rPr>
              <a:t>168 hours (7 days) - never the next hour</a:t>
            </a:r>
          </a:p>
        </p:txBody>
      </p:sp>
      <p:sp>
        <p:nvSpPr>
          <p:cNvPr id="16" name="Rectangle 15"/>
          <p:cNvSpPr/>
          <p:nvPr/>
        </p:nvSpPr>
        <p:spPr>
          <a:xfrm>
            <a:off x="502920" y="4416552"/>
            <a:ext cx="5120640" cy="9525"/>
          </a:xfrm>
          <a:prstGeom prst="rect">
            <a:avLst/>
          </a:prstGeom>
          <a:solidFill>
            <a:srgbClr val="2A2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2920" y="4535424"/>
            <a:ext cx="5120640" cy="365760"/>
          </a:xfrm>
          <a:prstGeom prst="rect">
            <a:avLst/>
          </a:prstGeom>
          <a:noFill/>
        </p:spPr>
        <p:txBody>
          <a:bodyPr wrap="square" anchor="t" lIns="0" rIns="0" tIns="0" bIns="0">
            <a:spAutoFit/>
          </a:bodyPr>
          <a:lstStyle/>
          <a:p>
            <a:pPr algn="l">
              <a:lnSpc>
                <a:spcPct val="105000"/>
              </a:lnSpc>
            </a:pPr>
            <a:r>
              <a:rPr sz="1300" b="0">
                <a:solidFill>
                  <a:srgbClr val="A9AFBC"/>
                </a:solidFill>
                <a:latin typeface="Calibri"/>
              </a:rPr>
              <a:t>Features</a:t>
            </a:r>
          </a:p>
        </p:txBody>
      </p:sp>
      <p:sp>
        <p:nvSpPr>
          <p:cNvPr id="18" name="TextBox 17"/>
          <p:cNvSpPr txBox="1"/>
          <p:nvPr/>
        </p:nvSpPr>
        <p:spPr>
          <a:xfrm>
            <a:off x="502920" y="4535424"/>
            <a:ext cx="5120640" cy="365760"/>
          </a:xfrm>
          <a:prstGeom prst="rect">
            <a:avLst/>
          </a:prstGeom>
          <a:noFill/>
        </p:spPr>
        <p:txBody>
          <a:bodyPr wrap="square" anchor="t" lIns="0" rIns="0" tIns="0" bIns="0">
            <a:spAutoFit/>
          </a:bodyPr>
          <a:lstStyle/>
          <a:p>
            <a:pPr algn="r">
              <a:lnSpc>
                <a:spcPct val="100000"/>
              </a:lnSpc>
              <a:spcAft>
                <a:spcPts val="0"/>
              </a:spcAft>
            </a:pPr>
            <a:r>
              <a:rPr sz="1250" b="1" i="0">
                <a:solidFill>
                  <a:srgbClr val="FFFFFF"/>
                </a:solidFill>
                <a:latin typeface="Calibri"/>
              </a:rPr>
              <a:t>Lagged price/volume history + technical indicators</a:t>
            </a:r>
          </a:p>
        </p:txBody>
      </p:sp>
      <p:sp>
        <p:nvSpPr>
          <p:cNvPr id="19" name="Rectangle 18"/>
          <p:cNvSpPr/>
          <p:nvPr/>
        </p:nvSpPr>
        <p:spPr>
          <a:xfrm>
            <a:off x="502920" y="4901184"/>
            <a:ext cx="5120640" cy="9525"/>
          </a:xfrm>
          <a:prstGeom prst="rect">
            <a:avLst/>
          </a:prstGeom>
          <a:solidFill>
            <a:srgbClr val="2A2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2920" y="5020056"/>
            <a:ext cx="5120640" cy="365760"/>
          </a:xfrm>
          <a:prstGeom prst="rect">
            <a:avLst/>
          </a:prstGeom>
          <a:noFill/>
        </p:spPr>
        <p:txBody>
          <a:bodyPr wrap="square" anchor="t" lIns="0" rIns="0" tIns="0" bIns="0">
            <a:spAutoFit/>
          </a:bodyPr>
          <a:lstStyle/>
          <a:p>
            <a:pPr algn="l">
              <a:lnSpc>
                <a:spcPct val="105000"/>
              </a:lnSpc>
            </a:pPr>
            <a:r>
              <a:rPr sz="1300" b="0">
                <a:solidFill>
                  <a:srgbClr val="A9AFBC"/>
                </a:solidFill>
                <a:latin typeface="Calibri"/>
              </a:rPr>
              <a:t>Success bar</a:t>
            </a:r>
          </a:p>
        </p:txBody>
      </p:sp>
      <p:sp>
        <p:nvSpPr>
          <p:cNvPr id="21" name="TextBox 20"/>
          <p:cNvSpPr txBox="1"/>
          <p:nvPr/>
        </p:nvSpPr>
        <p:spPr>
          <a:xfrm>
            <a:off x="502920" y="5020056"/>
            <a:ext cx="5120640" cy="365760"/>
          </a:xfrm>
          <a:prstGeom prst="rect">
            <a:avLst/>
          </a:prstGeom>
          <a:noFill/>
        </p:spPr>
        <p:txBody>
          <a:bodyPr wrap="square" anchor="t" lIns="0" rIns="0" tIns="0" bIns="0">
            <a:spAutoFit/>
          </a:bodyPr>
          <a:lstStyle/>
          <a:p>
            <a:pPr algn="r">
              <a:lnSpc>
                <a:spcPct val="100000"/>
              </a:lnSpc>
              <a:spcAft>
                <a:spcPts val="0"/>
              </a:spcAft>
            </a:pPr>
            <a:r>
              <a:rPr sz="1250" b="1" i="0">
                <a:solidFill>
                  <a:srgbClr val="FFFFFF"/>
                </a:solidFill>
                <a:latin typeface="Calibri"/>
              </a:rPr>
              <a:t>Beat naive persistence and Holt-Winters baselines</a:t>
            </a:r>
          </a:p>
        </p:txBody>
      </p:sp>
      <p:sp>
        <p:nvSpPr>
          <p:cNvPr id="22" name="Rectangle 21"/>
          <p:cNvSpPr/>
          <p:nvPr/>
        </p:nvSpPr>
        <p:spPr>
          <a:xfrm>
            <a:off x="502920" y="5385816"/>
            <a:ext cx="5120640" cy="9525"/>
          </a:xfrm>
          <a:prstGeom prst="rect">
            <a:avLst/>
          </a:prstGeom>
          <a:solidFill>
            <a:srgbClr val="2A2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035040" y="3154680"/>
            <a:ext cx="5349240" cy="2331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09360" y="3383280"/>
            <a:ext cx="4846320" cy="365760"/>
          </a:xfrm>
          <a:prstGeom prst="rect">
            <a:avLst/>
          </a:prstGeom>
          <a:noFill/>
        </p:spPr>
        <p:txBody>
          <a:bodyPr wrap="square" anchor="t" lIns="0" rIns="0" tIns="0" bIns="0">
            <a:spAutoFit/>
          </a:bodyPr>
          <a:lstStyle/>
          <a:p>
            <a:pPr algn="l">
              <a:lnSpc>
                <a:spcPct val="100000"/>
              </a:lnSpc>
              <a:spcAft>
                <a:spcPts val="0"/>
              </a:spcAft>
            </a:pPr>
            <a:r>
              <a:rPr sz="1500" b="1" i="0">
                <a:solidFill>
                  <a:srgbClr val="E8C99B"/>
                </a:solidFill>
                <a:latin typeface="Calibri"/>
              </a:rPr>
              <a:t>PROBLEM TYPE: REGRESSION</a:t>
            </a:r>
          </a:p>
        </p:txBody>
      </p:sp>
      <p:sp>
        <p:nvSpPr>
          <p:cNvPr id="25" name="TextBox 24"/>
          <p:cNvSpPr txBox="1"/>
          <p:nvPr/>
        </p:nvSpPr>
        <p:spPr>
          <a:xfrm>
            <a:off x="6309360" y="3886200"/>
            <a:ext cx="4846320" cy="1463040"/>
          </a:xfrm>
          <a:prstGeom prst="rect">
            <a:avLst/>
          </a:prstGeom>
          <a:noFill/>
        </p:spPr>
        <p:txBody>
          <a:bodyPr wrap="square" anchor="t" lIns="0" rIns="0" tIns="0" bIns="0">
            <a:spAutoFit/>
          </a:bodyPr>
          <a:lstStyle/>
          <a:p>
            <a:pPr algn="l">
              <a:lnSpc>
                <a:spcPct val="125000"/>
              </a:lnSpc>
              <a:spcAft>
                <a:spcPts val="0"/>
              </a:spcAft>
            </a:pPr>
            <a:r>
              <a:rPr sz="1300" b="0" i="0">
                <a:solidFill>
                  <a:srgbClr val="A9AFBC"/>
                </a:solidFill>
                <a:latin typeface="Calibri"/>
              </a:rPr>
              <a:t>Downstream consumers of a volatility number - Black-Scholes sigma, Value-at-Risk, position-sizing formulas - need an actual continuous estimate, not a high/low category. That rules out classification from the outset.</a:t>
            </a:r>
          </a:p>
        </p:txBody>
      </p:sp>
      <p:sp>
        <p:nvSpPr>
          <p:cNvPr id="26" name="TextBox 25"/>
          <p:cNvSpPr txBox="1"/>
          <p:nvPr/>
        </p:nvSpPr>
        <p:spPr>
          <a:xfrm>
            <a:off x="11612880" y="6492240"/>
            <a:ext cx="457200" cy="274320"/>
          </a:xfrm>
          <a:prstGeom prst="rect">
            <a:avLst/>
          </a:prstGeom>
          <a:noFill/>
        </p:spPr>
        <p:txBody>
          <a:bodyPr wrap="square" anchor="t" lIns="0" rIns="0" tIns="0" bIns="0">
            <a:spAutoFit/>
          </a:bodyPr>
          <a:lstStyle/>
          <a:p>
            <a:pPr algn="r">
              <a:lnSpc>
                <a:spcPct val="100000"/>
              </a:lnSpc>
              <a:spcAft>
                <a:spcPts val="0"/>
              </a:spcAft>
            </a:pPr>
            <a:r>
              <a:rPr sz="1100" b="0" i="0">
                <a:solidFill>
                  <a:srgbClr val="777E8C"/>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457200"/>
            <a:ext cx="54864" cy="384048"/>
          </a:xfrm>
          <a:prstGeom prst="rect">
            <a:avLst/>
          </a:prstGeom>
          <a:solidFill>
            <a:srgbClr val="E8C9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384048"/>
            <a:ext cx="9601200" cy="502920"/>
          </a:xfrm>
          <a:prstGeom prst="rect">
            <a:avLst/>
          </a:prstGeom>
          <a:noFill/>
        </p:spPr>
        <p:txBody>
          <a:bodyPr wrap="square" anchor="t" lIns="0" rIns="0" tIns="0" bIns="0">
            <a:spAutoFit/>
          </a:bodyPr>
          <a:lstStyle/>
          <a:p>
            <a:pPr algn="l">
              <a:lnSpc>
                <a:spcPct val="100000"/>
              </a:lnSpc>
              <a:spcAft>
                <a:spcPts val="0"/>
              </a:spcAft>
            </a:pPr>
            <a:r>
              <a:rPr sz="2700" b="1" i="0">
                <a:solidFill>
                  <a:srgbClr val="FFFFFF"/>
                </a:solidFill>
                <a:latin typeface="Calibri"/>
              </a:rPr>
              <a:t>Objective: 7-Day Volatility Forecasting</a:t>
            </a:r>
          </a:p>
        </p:txBody>
      </p:sp>
      <p:sp>
        <p:nvSpPr>
          <p:cNvPr id="5" name="Rectangle 4"/>
          <p:cNvSpPr/>
          <p:nvPr/>
        </p:nvSpPr>
        <p:spPr>
          <a:xfrm>
            <a:off x="502920" y="1371600"/>
            <a:ext cx="10881360" cy="1051560"/>
          </a:xfrm>
          <a:prstGeom prst="rect">
            <a:avLst/>
          </a:prstGeom>
          <a:solidFill>
            <a:srgbClr val="1417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371600"/>
            <a:ext cx="45720" cy="1051560"/>
          </a:xfrm>
          <a:prstGeom prst="rect">
            <a:avLst/>
          </a:prstGeom>
          <a:solidFill>
            <a:srgbClr val="E8C9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499616"/>
            <a:ext cx="10332720" cy="274320"/>
          </a:xfrm>
          <a:prstGeom prst="rect">
            <a:avLst/>
          </a:prstGeom>
          <a:noFill/>
        </p:spPr>
        <p:txBody>
          <a:bodyPr wrap="square" anchor="t" lIns="0" rIns="0" tIns="0" bIns="0">
            <a:spAutoFit/>
          </a:bodyPr>
          <a:lstStyle/>
          <a:p>
            <a:pPr algn="l">
              <a:lnSpc>
                <a:spcPct val="100000"/>
              </a:lnSpc>
              <a:spcAft>
                <a:spcPts val="0"/>
              </a:spcAft>
            </a:pPr>
            <a:r>
              <a:rPr sz="1250" b="1" i="0">
                <a:solidFill>
                  <a:srgbClr val="E8C99B"/>
                </a:solidFill>
                <a:latin typeface="Calibri"/>
              </a:rPr>
              <a:t>GOAL</a:t>
            </a:r>
          </a:p>
        </p:txBody>
      </p:sp>
      <p:sp>
        <p:nvSpPr>
          <p:cNvPr id="8" name="TextBox 7"/>
          <p:cNvSpPr txBox="1"/>
          <p:nvPr/>
        </p:nvSpPr>
        <p:spPr>
          <a:xfrm>
            <a:off x="777240" y="1792224"/>
            <a:ext cx="10332720" cy="502920"/>
          </a:xfrm>
          <a:prstGeom prst="rect">
            <a:avLst/>
          </a:prstGeom>
          <a:noFill/>
        </p:spPr>
        <p:txBody>
          <a:bodyPr wrap="square" anchor="t" lIns="0" rIns="0" tIns="0" bIns="0">
            <a:spAutoFit/>
          </a:bodyPr>
          <a:lstStyle/>
          <a:p>
            <a:pPr algn="l">
              <a:lnSpc>
                <a:spcPct val="115000"/>
              </a:lnSpc>
              <a:spcAft>
                <a:spcPts val="0"/>
              </a:spcAft>
            </a:pPr>
            <a:r>
              <a:rPr sz="1300" b="0" i="0">
                <a:solidFill>
                  <a:srgbClr val="A9AFBC"/>
                </a:solidFill>
                <a:latin typeface="Calibri"/>
              </a:rPr>
              <a:t>Forecast Bitcoin's 7-day realized volatility from hourly price data. The key objective is not to claim a perfect crystal ball, but to show how EDA and feature engineering set realistic expectations, justify modeling choices, and clearly explain what this workflow can and cannot deliver.</a:t>
            </a:r>
          </a:p>
        </p:txBody>
      </p:sp>
      <p:sp>
        <p:nvSpPr>
          <p:cNvPr id="9" name="TextBox 8"/>
          <p:cNvSpPr txBox="1"/>
          <p:nvPr/>
        </p:nvSpPr>
        <p:spPr>
          <a:xfrm>
            <a:off x="502920" y="2788920"/>
            <a:ext cx="5486400" cy="320040"/>
          </a:xfrm>
          <a:prstGeom prst="rect">
            <a:avLst/>
          </a:prstGeom>
          <a:noFill/>
        </p:spPr>
        <p:txBody>
          <a:bodyPr wrap="square" anchor="t" lIns="0" rIns="0" tIns="0" bIns="0">
            <a:spAutoFit/>
          </a:bodyPr>
          <a:lstStyle/>
          <a:p>
            <a:pPr algn="l">
              <a:lnSpc>
                <a:spcPct val="100000"/>
              </a:lnSpc>
              <a:spcAft>
                <a:spcPts val="0"/>
              </a:spcAft>
            </a:pPr>
            <a:r>
              <a:rPr sz="1400" b="1" i="0">
                <a:solidFill>
                  <a:srgbClr val="FFFFFF"/>
                </a:solidFill>
                <a:latin typeface="Calibri"/>
              </a:rPr>
              <a:t>Workflow Stages</a:t>
            </a:r>
          </a:p>
        </p:txBody>
      </p:sp>
      <p:sp>
        <p:nvSpPr>
          <p:cNvPr id="10" name="TextBox 9"/>
          <p:cNvSpPr txBox="1"/>
          <p:nvPr/>
        </p:nvSpPr>
        <p:spPr>
          <a:xfrm>
            <a:off x="502920" y="3246120"/>
            <a:ext cx="10515600" cy="365760"/>
          </a:xfrm>
          <a:prstGeom prst="rect">
            <a:avLst/>
          </a:prstGeom>
          <a:noFill/>
        </p:spPr>
        <p:txBody>
          <a:bodyPr wrap="square" anchor="t" lIns="0" rIns="0" tIns="0" bIns="0">
            <a:spAutoFit/>
          </a:bodyPr>
          <a:lstStyle/>
          <a:p>
            <a:pPr algn="l">
              <a:lnSpc>
                <a:spcPct val="105000"/>
              </a:lnSpc>
            </a:pPr>
            <a:r>
              <a:rPr sz="1450" b="1">
                <a:solidFill>
                  <a:srgbClr val="E8C99B"/>
                </a:solidFill>
                <a:latin typeface="Calibri"/>
              </a:rPr>
              <a:t>1. EDA Insights: </a:t>
            </a:r>
            <a:r>
              <a:rPr sz="1450" b="0">
                <a:solidFill>
                  <a:srgbClr val="A9AFBC"/>
                </a:solidFill>
                <a:latin typeface="Calibri"/>
              </a:rPr>
              <a:t>What patterns does volatility actually follow?</a:t>
            </a:r>
          </a:p>
        </p:txBody>
      </p:sp>
      <p:sp>
        <p:nvSpPr>
          <p:cNvPr id="11" name="TextBox 10"/>
          <p:cNvSpPr txBox="1"/>
          <p:nvPr/>
        </p:nvSpPr>
        <p:spPr>
          <a:xfrm>
            <a:off x="502920" y="3703320"/>
            <a:ext cx="10515600" cy="365760"/>
          </a:xfrm>
          <a:prstGeom prst="rect">
            <a:avLst/>
          </a:prstGeom>
          <a:noFill/>
        </p:spPr>
        <p:txBody>
          <a:bodyPr wrap="square" anchor="t" lIns="0" rIns="0" tIns="0" bIns="0">
            <a:spAutoFit/>
          </a:bodyPr>
          <a:lstStyle/>
          <a:p>
            <a:pPr algn="l">
              <a:lnSpc>
                <a:spcPct val="105000"/>
              </a:lnSpc>
            </a:pPr>
            <a:r>
              <a:rPr sz="1450" b="1">
                <a:solidFill>
                  <a:srgbClr val="E8C99B"/>
                </a:solidFill>
                <a:latin typeface="Calibri"/>
              </a:rPr>
              <a:t>2. Feature Engineering: </a:t>
            </a:r>
            <a:r>
              <a:rPr sz="1450" b="0">
                <a:solidFill>
                  <a:srgbClr val="A9AFBC"/>
                </a:solidFill>
                <a:latin typeface="Calibri"/>
              </a:rPr>
              <a:t>Which signals carry real, non-redundant information?</a:t>
            </a:r>
          </a:p>
        </p:txBody>
      </p:sp>
      <p:sp>
        <p:nvSpPr>
          <p:cNvPr id="12" name="TextBox 11"/>
          <p:cNvSpPr txBox="1"/>
          <p:nvPr/>
        </p:nvSpPr>
        <p:spPr>
          <a:xfrm>
            <a:off x="502920" y="4160520"/>
            <a:ext cx="10515600" cy="365760"/>
          </a:xfrm>
          <a:prstGeom prst="rect">
            <a:avLst/>
          </a:prstGeom>
          <a:noFill/>
        </p:spPr>
        <p:txBody>
          <a:bodyPr wrap="square" anchor="t" lIns="0" rIns="0" tIns="0" bIns="0">
            <a:spAutoFit/>
          </a:bodyPr>
          <a:lstStyle/>
          <a:p>
            <a:pPr algn="l">
              <a:lnSpc>
                <a:spcPct val="105000"/>
              </a:lnSpc>
            </a:pPr>
            <a:r>
              <a:rPr sz="1450" b="1">
                <a:solidFill>
                  <a:srgbClr val="E8C99B"/>
                </a:solidFill>
                <a:latin typeface="Calibri"/>
              </a:rPr>
              <a:t>3. Modeling &amp; Results: </a:t>
            </a:r>
            <a:r>
              <a:rPr sz="1450" b="0">
                <a:solidFill>
                  <a:srgbClr val="A9AFBC"/>
                </a:solidFill>
                <a:latin typeface="Calibri"/>
              </a:rPr>
              <a:t>Can that signal be turned into a working forecast?</a:t>
            </a:r>
          </a:p>
        </p:txBody>
      </p:sp>
      <p:sp>
        <p:nvSpPr>
          <p:cNvPr id="13" name="TextBox 12"/>
          <p:cNvSpPr txBox="1"/>
          <p:nvPr/>
        </p:nvSpPr>
        <p:spPr>
          <a:xfrm>
            <a:off x="502920" y="4617720"/>
            <a:ext cx="10515600" cy="365760"/>
          </a:xfrm>
          <a:prstGeom prst="rect">
            <a:avLst/>
          </a:prstGeom>
          <a:noFill/>
        </p:spPr>
        <p:txBody>
          <a:bodyPr wrap="square" anchor="t" lIns="0" rIns="0" tIns="0" bIns="0">
            <a:spAutoFit/>
          </a:bodyPr>
          <a:lstStyle/>
          <a:p>
            <a:pPr algn="l">
              <a:lnSpc>
                <a:spcPct val="105000"/>
              </a:lnSpc>
            </a:pPr>
            <a:r>
              <a:rPr sz="1450" b="1">
                <a:solidFill>
                  <a:srgbClr val="E8C99B"/>
                </a:solidFill>
                <a:latin typeface="Calibri"/>
              </a:rPr>
              <a:t>4. Limitations &amp; Recommendations: </a:t>
            </a:r>
            <a:r>
              <a:rPr sz="1450" b="0">
                <a:solidFill>
                  <a:srgbClr val="A9AFBC"/>
                </a:solidFill>
                <a:latin typeface="Calibri"/>
              </a:rPr>
              <a:t>What would genuinely move the needle further?</a:t>
            </a:r>
          </a:p>
        </p:txBody>
      </p:sp>
      <p:sp>
        <p:nvSpPr>
          <p:cNvPr id="14" name="TextBox 13"/>
          <p:cNvSpPr txBox="1"/>
          <p:nvPr/>
        </p:nvSpPr>
        <p:spPr>
          <a:xfrm>
            <a:off x="11612880" y="6492240"/>
            <a:ext cx="457200" cy="274320"/>
          </a:xfrm>
          <a:prstGeom prst="rect">
            <a:avLst/>
          </a:prstGeom>
          <a:noFill/>
        </p:spPr>
        <p:txBody>
          <a:bodyPr wrap="square" anchor="t" lIns="0" rIns="0" tIns="0" bIns="0">
            <a:spAutoFit/>
          </a:bodyPr>
          <a:lstStyle/>
          <a:p>
            <a:pPr algn="r">
              <a:lnSpc>
                <a:spcPct val="100000"/>
              </a:lnSpc>
              <a:spcAft>
                <a:spcPts val="0"/>
              </a:spcAft>
            </a:pPr>
            <a:r>
              <a:rPr sz="1100" b="0" i="0">
                <a:solidFill>
                  <a:srgbClr val="777E8C"/>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457200"/>
            <a:ext cx="54864" cy="384048"/>
          </a:xfrm>
          <a:prstGeom prst="rect">
            <a:avLst/>
          </a:prstGeom>
          <a:solidFill>
            <a:srgbClr val="E8C9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384048"/>
            <a:ext cx="9601200" cy="502920"/>
          </a:xfrm>
          <a:prstGeom prst="rect">
            <a:avLst/>
          </a:prstGeom>
          <a:noFill/>
        </p:spPr>
        <p:txBody>
          <a:bodyPr wrap="square" anchor="t" lIns="0" rIns="0" tIns="0" bIns="0">
            <a:spAutoFit/>
          </a:bodyPr>
          <a:lstStyle/>
          <a:p>
            <a:pPr algn="l">
              <a:lnSpc>
                <a:spcPct val="100000"/>
              </a:lnSpc>
              <a:spcAft>
                <a:spcPts val="0"/>
              </a:spcAft>
            </a:pPr>
            <a:r>
              <a:rPr sz="2700" b="1" i="0">
                <a:solidFill>
                  <a:srgbClr val="FFFFFF"/>
                </a:solidFill>
                <a:latin typeface="Calibri"/>
              </a:rPr>
              <a:t>Data Overview &amp; Feature Dictionary</a:t>
            </a:r>
          </a:p>
        </p:txBody>
      </p:sp>
      <p:sp>
        <p:nvSpPr>
          <p:cNvPr id="5" name="TextBox 4"/>
          <p:cNvSpPr txBox="1"/>
          <p:nvPr/>
        </p:nvSpPr>
        <p:spPr>
          <a:xfrm>
            <a:off x="502920" y="1417320"/>
            <a:ext cx="3566160" cy="457200"/>
          </a:xfrm>
          <a:prstGeom prst="rect">
            <a:avLst/>
          </a:prstGeom>
          <a:noFill/>
        </p:spPr>
        <p:txBody>
          <a:bodyPr wrap="square" anchor="t" lIns="0" rIns="0" tIns="0" bIns="0">
            <a:spAutoFit/>
          </a:bodyPr>
          <a:lstStyle/>
          <a:p>
            <a:pPr algn="l">
              <a:lnSpc>
                <a:spcPct val="105000"/>
              </a:lnSpc>
            </a:pPr>
            <a:r>
              <a:rPr sz="1250" b="1">
                <a:solidFill>
                  <a:srgbClr val="E8C99B"/>
                </a:solidFill>
                <a:latin typeface="Calibri"/>
              </a:rPr>
              <a:t>DATASET:  </a:t>
            </a:r>
            <a:r>
              <a:rPr sz="1250" b="0">
                <a:solidFill>
                  <a:srgbClr val="A9AFBC"/>
                </a:solidFill>
                <a:latin typeface="Calibri"/>
              </a:rPr>
              <a:t>73,000+ hourly BTC/USDT records</a:t>
            </a:r>
          </a:p>
        </p:txBody>
      </p:sp>
      <p:sp>
        <p:nvSpPr>
          <p:cNvPr id="6" name="TextBox 5"/>
          <p:cNvSpPr txBox="1"/>
          <p:nvPr/>
        </p:nvSpPr>
        <p:spPr>
          <a:xfrm>
            <a:off x="4206240" y="1417320"/>
            <a:ext cx="3566160" cy="457200"/>
          </a:xfrm>
          <a:prstGeom prst="rect">
            <a:avLst/>
          </a:prstGeom>
          <a:noFill/>
        </p:spPr>
        <p:txBody>
          <a:bodyPr wrap="square" anchor="t" lIns="0" rIns="0" tIns="0" bIns="0">
            <a:spAutoFit/>
          </a:bodyPr>
          <a:lstStyle/>
          <a:p>
            <a:pPr algn="l">
              <a:lnSpc>
                <a:spcPct val="105000"/>
              </a:lnSpc>
            </a:pPr>
            <a:r>
              <a:rPr sz="1250" b="1">
                <a:solidFill>
                  <a:srgbClr val="E8C99B"/>
                </a:solidFill>
                <a:latin typeface="Calibri"/>
              </a:rPr>
              <a:t>FEATURES:  </a:t>
            </a:r>
            <a:r>
              <a:rPr sz="1250" b="0">
                <a:solidFill>
                  <a:srgbClr val="A9AFBC"/>
                </a:solidFill>
                <a:latin typeface="Calibri"/>
              </a:rPr>
              <a:t>Price, volume, and engineered volatility regressors</a:t>
            </a:r>
          </a:p>
        </p:txBody>
      </p:sp>
      <p:sp>
        <p:nvSpPr>
          <p:cNvPr id="7" name="TextBox 6"/>
          <p:cNvSpPr txBox="1"/>
          <p:nvPr/>
        </p:nvSpPr>
        <p:spPr>
          <a:xfrm>
            <a:off x="7909559" y="1417320"/>
            <a:ext cx="3566160" cy="457200"/>
          </a:xfrm>
          <a:prstGeom prst="rect">
            <a:avLst/>
          </a:prstGeom>
          <a:noFill/>
        </p:spPr>
        <p:txBody>
          <a:bodyPr wrap="square" anchor="t" lIns="0" rIns="0" tIns="0" bIns="0">
            <a:spAutoFit/>
          </a:bodyPr>
          <a:lstStyle/>
          <a:p>
            <a:pPr algn="l">
              <a:lnSpc>
                <a:spcPct val="105000"/>
              </a:lnSpc>
            </a:pPr>
            <a:r>
              <a:rPr sz="1250" b="1">
                <a:solidFill>
                  <a:srgbClr val="E8C99B"/>
                </a:solidFill>
                <a:latin typeface="Calibri"/>
              </a:rPr>
              <a:t>TARGET:  </a:t>
            </a:r>
            <a:r>
              <a:rPr sz="1250" b="0">
                <a:solidFill>
                  <a:srgbClr val="A9AFBC"/>
                </a:solidFill>
                <a:latin typeface="Calibri"/>
              </a:rPr>
              <a:t>7-day realized volatility, 168 hours ahead</a:t>
            </a:r>
          </a:p>
        </p:txBody>
      </p:sp>
      <p:graphicFrame>
        <p:nvGraphicFramePr>
          <p:cNvPr id="8" name="Table 7"/>
          <p:cNvGraphicFramePr>
            <a:graphicFrameLocks noGrp="1"/>
          </p:cNvGraphicFramePr>
          <p:nvPr/>
        </p:nvGraphicFramePr>
        <p:xfrm>
          <a:off x="502920" y="2057400"/>
          <a:ext cx="11155680" cy="4096512"/>
        </p:xfrm>
        <a:graphic>
          <a:graphicData uri="http://schemas.openxmlformats.org/drawingml/2006/table">
            <a:tbl>
              <a:tblPr firstRow="0" bandRow="0">
                <a:tableStyleId>{5C22544A-7EE6-4342-B048-85BDC9FD1C3A}</a:tableStyleId>
              </a:tblPr>
              <a:tblGrid>
                <a:gridCol w="4023360"/>
                <a:gridCol w="5852160"/>
                <a:gridCol w="1280160"/>
              </a:tblGrid>
              <a:tr h="512064">
                <a:tc>
                  <a:txBody>
                    <a:bodyPr wrap="square"/>
                    <a:lstStyle/>
                    <a:p>
                      <a:r>
                        <a:rPr sz="1350" b="1">
                          <a:solidFill>
                            <a:srgbClr val="FFFFFF"/>
                          </a:solidFill>
                          <a:latin typeface="Calibri"/>
                        </a:rPr>
                        <a:t>Feature</a:t>
                      </a:r>
                    </a:p>
                  </a:txBody>
                  <a:tcPr marL="109728" marR="109728" marT="36576" marB="36576" anchor="ctr">
                    <a:solidFill>
                      <a:srgbClr val="000000"/>
                    </a:solidFill>
                  </a:tcPr>
                </a:tc>
                <a:tc>
                  <a:txBody>
                    <a:bodyPr wrap="square"/>
                    <a:lstStyle/>
                    <a:p>
                      <a:r>
                        <a:rPr sz="1350" b="1">
                          <a:solidFill>
                            <a:srgbClr val="FFFFFF"/>
                          </a:solidFill>
                          <a:latin typeface="Calibri"/>
                        </a:rPr>
                        <a:t>Description</a:t>
                      </a:r>
                    </a:p>
                  </a:txBody>
                  <a:tcPr marL="109728" marR="109728" marT="36576" marB="36576" anchor="ctr">
                    <a:solidFill>
                      <a:srgbClr val="000000"/>
                    </a:solidFill>
                  </a:tcPr>
                </a:tc>
                <a:tc>
                  <a:txBody>
                    <a:bodyPr wrap="square"/>
                    <a:lstStyle/>
                    <a:p>
                      <a:r>
                        <a:rPr sz="1350" b="1">
                          <a:solidFill>
                            <a:srgbClr val="FFFFFF"/>
                          </a:solidFill>
                          <a:latin typeface="Calibri"/>
                        </a:rPr>
                        <a:t>Type</a:t>
                      </a:r>
                    </a:p>
                  </a:txBody>
                  <a:tcPr marL="109728" marR="109728" marT="36576" marB="36576" anchor="ctr">
                    <a:solidFill>
                      <a:srgbClr val="000000"/>
                    </a:solidFill>
                  </a:tcPr>
                </a:tc>
              </a:tr>
              <a:tr h="512064">
                <a:tc>
                  <a:txBody>
                    <a:bodyPr wrap="square"/>
                    <a:lstStyle/>
                    <a:p>
                      <a:r>
                        <a:rPr sz="1250" b="0">
                          <a:solidFill>
                            <a:srgbClr val="A9AFBC"/>
                          </a:solidFill>
                          <a:latin typeface="Calibri"/>
                        </a:rPr>
                        <a:t>RV_day / RV_week / RV_month</a:t>
                      </a:r>
                    </a:p>
                  </a:txBody>
                  <a:tcPr marL="109728" marR="109728" marT="36576" marB="36576" anchor="ctr">
                    <a:solidFill>
                      <a:srgbClr val="12151C"/>
                    </a:solidFill>
                  </a:tcPr>
                </a:tc>
                <a:tc>
                  <a:txBody>
                    <a:bodyPr wrap="square"/>
                    <a:lstStyle/>
                    <a:p>
                      <a:r>
                        <a:rPr sz="1250" b="0">
                          <a:solidFill>
                            <a:srgbClr val="A9AFBC"/>
                          </a:solidFill>
                          <a:latin typeface="Calibri"/>
                        </a:rPr>
                        <a:t>Volatility over the past day / week / month (HAR horizons)</a:t>
                      </a:r>
                    </a:p>
                  </a:txBody>
                  <a:tcPr marL="109728" marR="109728" marT="36576" marB="36576" anchor="ctr">
                    <a:solidFill>
                      <a:srgbClr val="12151C"/>
                    </a:solidFill>
                  </a:tcPr>
                </a:tc>
                <a:tc>
                  <a:txBody>
                    <a:bodyPr wrap="square"/>
                    <a:lstStyle/>
                    <a:p>
                      <a:r>
                        <a:rPr sz="1250" b="0">
                          <a:solidFill>
                            <a:srgbClr val="A9AFBC"/>
                          </a:solidFill>
                          <a:latin typeface="Calibri"/>
                        </a:rPr>
                        <a:t>Numeric</a:t>
                      </a:r>
                    </a:p>
                  </a:txBody>
                  <a:tcPr marL="109728" marR="109728" marT="36576" marB="36576" anchor="ctr">
                    <a:solidFill>
                      <a:srgbClr val="12151C"/>
                    </a:solidFill>
                  </a:tcPr>
                </a:tc>
              </a:tr>
              <a:tr h="512064">
                <a:tc>
                  <a:txBody>
                    <a:bodyPr wrap="square"/>
                    <a:lstStyle/>
                    <a:p>
                      <a:r>
                        <a:rPr sz="1250" b="0">
                          <a:solidFill>
                            <a:srgbClr val="A9AFBC"/>
                          </a:solidFill>
                          <a:latin typeface="Calibri"/>
                        </a:rPr>
                        <a:t>ATR_X</a:t>
                      </a:r>
                    </a:p>
                  </a:txBody>
                  <a:tcPr marL="109728" marR="109728" marT="36576" marB="36576" anchor="ctr">
                    <a:solidFill>
                      <a:srgbClr val="0E1117"/>
                    </a:solidFill>
                  </a:tcPr>
                </a:tc>
                <a:tc>
                  <a:txBody>
                    <a:bodyPr wrap="square"/>
                    <a:lstStyle/>
                    <a:p>
                      <a:r>
                        <a:rPr sz="1250" b="0">
                          <a:solidFill>
                            <a:srgbClr val="A9AFBC"/>
                          </a:solidFill>
                          <a:latin typeface="Calibri"/>
                        </a:rPr>
                        <a:t>Average true range, as a % of price</a:t>
                      </a:r>
                    </a:p>
                  </a:txBody>
                  <a:tcPr marL="109728" marR="109728" marT="36576" marB="36576" anchor="ctr">
                    <a:solidFill>
                      <a:srgbClr val="0E1117"/>
                    </a:solidFill>
                  </a:tcPr>
                </a:tc>
                <a:tc>
                  <a:txBody>
                    <a:bodyPr wrap="square"/>
                    <a:lstStyle/>
                    <a:p>
                      <a:r>
                        <a:rPr sz="1250" b="0">
                          <a:solidFill>
                            <a:srgbClr val="A9AFBC"/>
                          </a:solidFill>
                          <a:latin typeface="Calibri"/>
                        </a:rPr>
                        <a:t>Numeric</a:t>
                      </a:r>
                    </a:p>
                  </a:txBody>
                  <a:tcPr marL="109728" marR="109728" marT="36576" marB="36576" anchor="ctr">
                    <a:solidFill>
                      <a:srgbClr val="0E1117"/>
                    </a:solidFill>
                  </a:tcPr>
                </a:tc>
              </a:tr>
              <a:tr h="512064">
                <a:tc>
                  <a:txBody>
                    <a:bodyPr wrap="square"/>
                    <a:lstStyle/>
                    <a:p>
                      <a:r>
                        <a:rPr sz="1250" b="0">
                          <a:solidFill>
                            <a:srgbClr val="A9AFBC"/>
                          </a:solidFill>
                          <a:latin typeface="Calibri"/>
                        </a:rPr>
                        <a:t>EWMA_X</a:t>
                      </a:r>
                    </a:p>
                  </a:txBody>
                  <a:tcPr marL="109728" marR="109728" marT="36576" marB="36576" anchor="ctr">
                    <a:solidFill>
                      <a:srgbClr val="12151C"/>
                    </a:solidFill>
                  </a:tcPr>
                </a:tc>
                <a:tc>
                  <a:txBody>
                    <a:bodyPr wrap="square"/>
                    <a:lstStyle/>
                    <a:p>
                      <a:r>
                        <a:rPr sz="1250" b="0">
                          <a:solidFill>
                            <a:srgbClr val="A9AFBC"/>
                          </a:solidFill>
                          <a:latin typeface="Calibri"/>
                        </a:rPr>
                        <a:t>EWMA-smoothed volatility (lambda = 0.995)</a:t>
                      </a:r>
                    </a:p>
                  </a:txBody>
                  <a:tcPr marL="109728" marR="109728" marT="36576" marB="36576" anchor="ctr">
                    <a:solidFill>
                      <a:srgbClr val="12151C"/>
                    </a:solidFill>
                  </a:tcPr>
                </a:tc>
                <a:tc>
                  <a:txBody>
                    <a:bodyPr wrap="square"/>
                    <a:lstStyle/>
                    <a:p>
                      <a:r>
                        <a:rPr sz="1250" b="0">
                          <a:solidFill>
                            <a:srgbClr val="A9AFBC"/>
                          </a:solidFill>
                          <a:latin typeface="Calibri"/>
                        </a:rPr>
                        <a:t>Numeric</a:t>
                      </a:r>
                    </a:p>
                  </a:txBody>
                  <a:tcPr marL="109728" marR="109728" marT="36576" marB="36576" anchor="ctr">
                    <a:solidFill>
                      <a:srgbClr val="12151C"/>
                    </a:solidFill>
                  </a:tcPr>
                </a:tc>
              </a:tr>
              <a:tr h="512064">
                <a:tc>
                  <a:txBody>
                    <a:bodyPr wrap="square"/>
                    <a:lstStyle/>
                    <a:p>
                      <a:r>
                        <a:rPr sz="1250" b="0">
                          <a:solidFill>
                            <a:srgbClr val="A9AFBC"/>
                          </a:solidFill>
                          <a:latin typeface="Calibri"/>
                        </a:rPr>
                        <a:t>SKEW_X</a:t>
                      </a:r>
                    </a:p>
                  </a:txBody>
                  <a:tcPr marL="109728" marR="109728" marT="36576" marB="36576" anchor="ctr">
                    <a:solidFill>
                      <a:srgbClr val="0E1117"/>
                    </a:solidFill>
                  </a:tcPr>
                </a:tc>
                <a:tc>
                  <a:txBody>
                    <a:bodyPr wrap="square"/>
                    <a:lstStyle/>
                    <a:p>
                      <a:r>
                        <a:rPr sz="1250" b="0">
                          <a:solidFill>
                            <a:srgbClr val="A9AFBC"/>
                          </a:solidFill>
                          <a:latin typeface="Calibri"/>
                        </a:rPr>
                        <a:t>Realized skewness of hourly returns</a:t>
                      </a:r>
                    </a:p>
                  </a:txBody>
                  <a:tcPr marL="109728" marR="109728" marT="36576" marB="36576" anchor="ctr">
                    <a:solidFill>
                      <a:srgbClr val="0E1117"/>
                    </a:solidFill>
                  </a:tcPr>
                </a:tc>
                <a:tc>
                  <a:txBody>
                    <a:bodyPr wrap="square"/>
                    <a:lstStyle/>
                    <a:p>
                      <a:r>
                        <a:rPr sz="1250" b="0">
                          <a:solidFill>
                            <a:srgbClr val="A9AFBC"/>
                          </a:solidFill>
                          <a:latin typeface="Calibri"/>
                        </a:rPr>
                        <a:t>Numeric</a:t>
                      </a:r>
                    </a:p>
                  </a:txBody>
                  <a:tcPr marL="109728" marR="109728" marT="36576" marB="36576" anchor="ctr">
                    <a:solidFill>
                      <a:srgbClr val="0E1117"/>
                    </a:solidFill>
                  </a:tcPr>
                </a:tc>
              </a:tr>
              <a:tr h="512064">
                <a:tc>
                  <a:txBody>
                    <a:bodyPr wrap="square"/>
                    <a:lstStyle/>
                    <a:p>
                      <a:r>
                        <a:rPr sz="1250" b="0">
                          <a:solidFill>
                            <a:srgbClr val="A9AFBC"/>
                          </a:solidFill>
                          <a:latin typeface="Calibri"/>
                        </a:rPr>
                        <a:t>hourly_return</a:t>
                      </a:r>
                    </a:p>
                  </a:txBody>
                  <a:tcPr marL="109728" marR="109728" marT="36576" marB="36576" anchor="ctr">
                    <a:solidFill>
                      <a:srgbClr val="12151C"/>
                    </a:solidFill>
                  </a:tcPr>
                </a:tc>
                <a:tc>
                  <a:txBody>
                    <a:bodyPr wrap="square"/>
                    <a:lstStyle/>
                    <a:p>
                      <a:r>
                        <a:rPr sz="1250" b="0">
                          <a:solidFill>
                            <a:srgbClr val="A9AFBC"/>
                          </a:solidFill>
                          <a:latin typeface="Calibri"/>
                        </a:rPr>
                        <a:t>Hour-over-hour price return</a:t>
                      </a:r>
                    </a:p>
                  </a:txBody>
                  <a:tcPr marL="109728" marR="109728" marT="36576" marB="36576" anchor="ctr">
                    <a:solidFill>
                      <a:srgbClr val="12151C"/>
                    </a:solidFill>
                  </a:tcPr>
                </a:tc>
                <a:tc>
                  <a:txBody>
                    <a:bodyPr wrap="square"/>
                    <a:lstStyle/>
                    <a:p>
                      <a:r>
                        <a:rPr sz="1250" b="0">
                          <a:solidFill>
                            <a:srgbClr val="A9AFBC"/>
                          </a:solidFill>
                          <a:latin typeface="Calibri"/>
                        </a:rPr>
                        <a:t>Numeric</a:t>
                      </a:r>
                    </a:p>
                  </a:txBody>
                  <a:tcPr marL="109728" marR="109728" marT="36576" marB="36576" anchor="ctr">
                    <a:solidFill>
                      <a:srgbClr val="12151C"/>
                    </a:solidFill>
                  </a:tcPr>
                </a:tc>
              </a:tr>
              <a:tr h="512064">
                <a:tc>
                  <a:txBody>
                    <a:bodyPr wrap="square"/>
                    <a:lstStyle/>
                    <a:p>
                      <a:r>
                        <a:rPr sz="1250" b="0">
                          <a:solidFill>
                            <a:srgbClr val="A9AFBC"/>
                          </a:solidFill>
                          <a:latin typeface="Calibri"/>
                        </a:rPr>
                        <a:t>rsi_14 / macd_hist / bb_width</a:t>
                      </a:r>
                    </a:p>
                  </a:txBody>
                  <a:tcPr marL="109728" marR="109728" marT="36576" marB="36576" anchor="ctr">
                    <a:solidFill>
                      <a:srgbClr val="0E1117"/>
                    </a:solidFill>
                  </a:tcPr>
                </a:tc>
                <a:tc>
                  <a:txBody>
                    <a:bodyPr wrap="square"/>
                    <a:lstStyle/>
                    <a:p>
                      <a:r>
                        <a:rPr sz="1250" b="0">
                          <a:solidFill>
                            <a:srgbClr val="A9AFBC"/>
                          </a:solidFill>
                          <a:latin typeface="Calibri"/>
                        </a:rPr>
                        <a:t>Momentum and dispersion indicators</a:t>
                      </a:r>
                    </a:p>
                  </a:txBody>
                  <a:tcPr marL="109728" marR="109728" marT="36576" marB="36576" anchor="ctr">
                    <a:solidFill>
                      <a:srgbClr val="0E1117"/>
                    </a:solidFill>
                  </a:tcPr>
                </a:tc>
                <a:tc>
                  <a:txBody>
                    <a:bodyPr wrap="square"/>
                    <a:lstStyle/>
                    <a:p>
                      <a:r>
                        <a:rPr sz="1250" b="0">
                          <a:solidFill>
                            <a:srgbClr val="A9AFBC"/>
                          </a:solidFill>
                          <a:latin typeface="Calibri"/>
                        </a:rPr>
                        <a:t>Numeric</a:t>
                      </a:r>
                    </a:p>
                  </a:txBody>
                  <a:tcPr marL="109728" marR="109728" marT="36576" marB="36576" anchor="ctr">
                    <a:solidFill>
                      <a:srgbClr val="0E1117"/>
                    </a:solidFill>
                  </a:tcPr>
                </a:tc>
              </a:tr>
              <a:tr h="512064">
                <a:tc>
                  <a:txBody>
                    <a:bodyPr wrap="square"/>
                    <a:lstStyle/>
                    <a:p>
                      <a:r>
                        <a:rPr sz="1250" b="0">
                          <a:solidFill>
                            <a:srgbClr val="A9AFBC"/>
                          </a:solidFill>
                          <a:latin typeface="Calibri"/>
                        </a:rPr>
                        <a:t>volatility_7d (target)</a:t>
                      </a:r>
                    </a:p>
                  </a:txBody>
                  <a:tcPr marL="109728" marR="109728" marT="36576" marB="36576" anchor="ctr">
                    <a:solidFill>
                      <a:srgbClr val="12151C"/>
                    </a:solidFill>
                  </a:tcPr>
                </a:tc>
                <a:tc>
                  <a:txBody>
                    <a:bodyPr wrap="square"/>
                    <a:lstStyle/>
                    <a:p>
                      <a:r>
                        <a:rPr sz="1250" b="0">
                          <a:solidFill>
                            <a:srgbClr val="A9AFBC"/>
                          </a:solidFill>
                          <a:latin typeface="Calibri"/>
                        </a:rPr>
                        <a:t>7-day realized volatility, 168h ahead of the features</a:t>
                      </a:r>
                    </a:p>
                  </a:txBody>
                  <a:tcPr marL="109728" marR="109728" marT="36576" marB="36576" anchor="ctr">
                    <a:solidFill>
                      <a:srgbClr val="12151C"/>
                    </a:solidFill>
                  </a:tcPr>
                </a:tc>
                <a:tc>
                  <a:txBody>
                    <a:bodyPr wrap="square"/>
                    <a:lstStyle/>
                    <a:p>
                      <a:r>
                        <a:rPr sz="1250" b="0">
                          <a:solidFill>
                            <a:srgbClr val="A9AFBC"/>
                          </a:solidFill>
                          <a:latin typeface="Calibri"/>
                        </a:rPr>
                        <a:t>Target</a:t>
                      </a:r>
                    </a:p>
                  </a:txBody>
                  <a:tcPr marL="109728" marR="109728" marT="36576" marB="36576" anchor="ctr">
                    <a:solidFill>
                      <a:srgbClr val="12151C"/>
                    </a:solidFill>
                  </a:tcPr>
                </a:tc>
              </a:tr>
            </a:tbl>
          </a:graphicData>
        </a:graphic>
      </p:graphicFrame>
      <p:sp>
        <p:nvSpPr>
          <p:cNvPr id="9" name="TextBox 8"/>
          <p:cNvSpPr txBox="1"/>
          <p:nvPr/>
        </p:nvSpPr>
        <p:spPr>
          <a:xfrm>
            <a:off x="11612880" y="6492240"/>
            <a:ext cx="457200" cy="274320"/>
          </a:xfrm>
          <a:prstGeom prst="rect">
            <a:avLst/>
          </a:prstGeom>
          <a:noFill/>
        </p:spPr>
        <p:txBody>
          <a:bodyPr wrap="square" anchor="t" lIns="0" rIns="0" tIns="0" bIns="0">
            <a:spAutoFit/>
          </a:bodyPr>
          <a:lstStyle/>
          <a:p>
            <a:pPr algn="r">
              <a:lnSpc>
                <a:spcPct val="100000"/>
              </a:lnSpc>
              <a:spcAft>
                <a:spcPts val="0"/>
              </a:spcAft>
            </a:pPr>
            <a:r>
              <a:rPr sz="1100" b="0" i="0">
                <a:solidFill>
                  <a:srgbClr val="777E8C"/>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457200"/>
            <a:ext cx="54864" cy="384048"/>
          </a:xfrm>
          <a:prstGeom prst="rect">
            <a:avLst/>
          </a:prstGeom>
          <a:solidFill>
            <a:srgbClr val="E8C9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384048"/>
            <a:ext cx="9601200" cy="502920"/>
          </a:xfrm>
          <a:prstGeom prst="rect">
            <a:avLst/>
          </a:prstGeom>
          <a:noFill/>
        </p:spPr>
        <p:txBody>
          <a:bodyPr wrap="square" anchor="t" lIns="0" rIns="0" tIns="0" bIns="0">
            <a:spAutoFit/>
          </a:bodyPr>
          <a:lstStyle/>
          <a:p>
            <a:pPr algn="l">
              <a:lnSpc>
                <a:spcPct val="100000"/>
              </a:lnSpc>
              <a:spcAft>
                <a:spcPts val="0"/>
              </a:spcAft>
            </a:pPr>
            <a:r>
              <a:rPr sz="2700" b="1" i="0">
                <a:solidFill>
                  <a:srgbClr val="FFFFFF"/>
                </a:solidFill>
                <a:latin typeface="Calibri"/>
              </a:rPr>
              <a:t>Dataset &amp; Data Cleaning</a:t>
            </a:r>
          </a:p>
        </p:txBody>
      </p:sp>
      <p:sp>
        <p:nvSpPr>
          <p:cNvPr id="5" name="TextBox 4"/>
          <p:cNvSpPr txBox="1"/>
          <p:nvPr/>
        </p:nvSpPr>
        <p:spPr>
          <a:xfrm>
            <a:off x="502920" y="1417320"/>
            <a:ext cx="5029200" cy="320040"/>
          </a:xfrm>
          <a:prstGeom prst="rect">
            <a:avLst/>
          </a:prstGeom>
          <a:noFill/>
        </p:spPr>
        <p:txBody>
          <a:bodyPr wrap="square" anchor="t" lIns="0" rIns="0" tIns="0" bIns="0">
            <a:spAutoFit/>
          </a:bodyPr>
          <a:lstStyle/>
          <a:p>
            <a:pPr algn="l">
              <a:lnSpc>
                <a:spcPct val="100000"/>
              </a:lnSpc>
              <a:spcAft>
                <a:spcPts val="0"/>
              </a:spcAft>
            </a:pPr>
            <a:r>
              <a:rPr sz="1400" b="1" i="0">
                <a:solidFill>
                  <a:srgbClr val="FFFFFF"/>
                </a:solidFill>
                <a:latin typeface="Calibri"/>
              </a:rPr>
              <a:t>Data Cleaning Steps</a:t>
            </a:r>
          </a:p>
        </p:txBody>
      </p:sp>
      <p:sp>
        <p:nvSpPr>
          <p:cNvPr id="6" name="Rectangle 5"/>
          <p:cNvSpPr/>
          <p:nvPr/>
        </p:nvSpPr>
        <p:spPr>
          <a:xfrm>
            <a:off x="502920" y="1828800"/>
            <a:ext cx="5257800" cy="658368"/>
          </a:xfrm>
          <a:prstGeom prst="rect">
            <a:avLst/>
          </a:prstGeom>
          <a:solidFill>
            <a:srgbClr val="12151C"/>
          </a:solidFill>
          <a:ln w="9525">
            <a:solidFill>
              <a:srgbClr val="2A2F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2029968"/>
            <a:ext cx="274320" cy="274320"/>
          </a:xfrm>
          <a:prstGeom prst="rect">
            <a:avLst/>
          </a:prstGeom>
          <a:solidFill>
            <a:srgbClr val="5B7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2002536"/>
            <a:ext cx="274320" cy="310896"/>
          </a:xfrm>
          <a:prstGeom prst="rect">
            <a:avLst/>
          </a:prstGeom>
          <a:noFill/>
        </p:spPr>
        <p:txBody>
          <a:bodyPr wrap="square" anchor="ctr" lIns="0" rIns="0" tIns="0" bIns="0">
            <a:spAutoFit/>
          </a:bodyPr>
          <a:lstStyle/>
          <a:p>
            <a:pPr algn="ctr">
              <a:lnSpc>
                <a:spcPct val="100000"/>
              </a:lnSpc>
              <a:spcAft>
                <a:spcPts val="0"/>
              </a:spcAft>
            </a:pPr>
            <a:r>
              <a:rPr sz="1300" b="1" i="0">
                <a:solidFill>
                  <a:srgbClr val="FFFFFF"/>
                </a:solidFill>
                <a:latin typeface="Calibri"/>
              </a:rPr>
              <a:t>1</a:t>
            </a:r>
          </a:p>
        </p:txBody>
      </p:sp>
      <p:sp>
        <p:nvSpPr>
          <p:cNvPr id="9" name="TextBox 8"/>
          <p:cNvSpPr txBox="1"/>
          <p:nvPr/>
        </p:nvSpPr>
        <p:spPr>
          <a:xfrm>
            <a:off x="1097280" y="1828800"/>
            <a:ext cx="4526280" cy="658368"/>
          </a:xfrm>
          <a:prstGeom prst="rect">
            <a:avLst/>
          </a:prstGeom>
          <a:noFill/>
        </p:spPr>
        <p:txBody>
          <a:bodyPr wrap="square" anchor="ctr" lIns="0" rIns="0" tIns="0" bIns="0">
            <a:spAutoFit/>
          </a:bodyPr>
          <a:lstStyle/>
          <a:p>
            <a:pPr algn="l">
              <a:lnSpc>
                <a:spcPct val="105000"/>
              </a:lnSpc>
              <a:spcAft>
                <a:spcPts val="0"/>
              </a:spcAft>
            </a:pPr>
            <a:r>
              <a:rPr sz="1250" b="0" i="0">
                <a:solidFill>
                  <a:srgbClr val="A9AFBC"/>
                </a:solidFill>
                <a:latin typeface="Calibri"/>
              </a:rPr>
              <a:t>Removed non-trading gaps and invalid candles (28 timestamp gaps identified)</a:t>
            </a:r>
          </a:p>
        </p:txBody>
      </p:sp>
      <p:sp>
        <p:nvSpPr>
          <p:cNvPr id="10" name="Rectangle 9"/>
          <p:cNvSpPr/>
          <p:nvPr/>
        </p:nvSpPr>
        <p:spPr>
          <a:xfrm>
            <a:off x="502920" y="2606040"/>
            <a:ext cx="5257800" cy="658368"/>
          </a:xfrm>
          <a:prstGeom prst="rect">
            <a:avLst/>
          </a:prstGeom>
          <a:solidFill>
            <a:srgbClr val="12151C"/>
          </a:solidFill>
          <a:ln w="9525">
            <a:solidFill>
              <a:srgbClr val="2A2F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58368" y="2807208"/>
            <a:ext cx="274320" cy="274320"/>
          </a:xfrm>
          <a:prstGeom prst="rect">
            <a:avLst/>
          </a:prstGeom>
          <a:solidFill>
            <a:srgbClr val="5B7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 y="2779776"/>
            <a:ext cx="274320" cy="310896"/>
          </a:xfrm>
          <a:prstGeom prst="rect">
            <a:avLst/>
          </a:prstGeom>
          <a:noFill/>
        </p:spPr>
        <p:txBody>
          <a:bodyPr wrap="square" anchor="ctr" lIns="0" rIns="0" tIns="0" bIns="0">
            <a:spAutoFit/>
          </a:bodyPr>
          <a:lstStyle/>
          <a:p>
            <a:pPr algn="ctr">
              <a:lnSpc>
                <a:spcPct val="100000"/>
              </a:lnSpc>
              <a:spcAft>
                <a:spcPts val="0"/>
              </a:spcAft>
            </a:pPr>
            <a:r>
              <a:rPr sz="1300" b="1" i="0">
                <a:solidFill>
                  <a:srgbClr val="FFFFFF"/>
                </a:solidFill>
                <a:latin typeface="Calibri"/>
              </a:rPr>
              <a:t>2</a:t>
            </a:r>
          </a:p>
        </p:txBody>
      </p:sp>
      <p:sp>
        <p:nvSpPr>
          <p:cNvPr id="13" name="TextBox 12"/>
          <p:cNvSpPr txBox="1"/>
          <p:nvPr/>
        </p:nvSpPr>
        <p:spPr>
          <a:xfrm>
            <a:off x="1097280" y="2606040"/>
            <a:ext cx="4526280" cy="658368"/>
          </a:xfrm>
          <a:prstGeom prst="rect">
            <a:avLst/>
          </a:prstGeom>
          <a:noFill/>
        </p:spPr>
        <p:txBody>
          <a:bodyPr wrap="square" anchor="ctr" lIns="0" rIns="0" tIns="0" bIns="0">
            <a:spAutoFit/>
          </a:bodyPr>
          <a:lstStyle/>
          <a:p>
            <a:pPr algn="l">
              <a:lnSpc>
                <a:spcPct val="105000"/>
              </a:lnSpc>
              <a:spcAft>
                <a:spcPts val="0"/>
              </a:spcAft>
            </a:pPr>
            <a:r>
              <a:rPr sz="1250" b="0" i="0">
                <a:solidFill>
                  <a:srgbClr val="A9AFBC"/>
                </a:solidFill>
                <a:latin typeface="Calibri"/>
              </a:rPr>
              <a:t>Guarded zero-volume candles before rolling calculations</a:t>
            </a:r>
          </a:p>
        </p:txBody>
      </p:sp>
      <p:sp>
        <p:nvSpPr>
          <p:cNvPr id="14" name="Rectangle 13"/>
          <p:cNvSpPr/>
          <p:nvPr/>
        </p:nvSpPr>
        <p:spPr>
          <a:xfrm>
            <a:off x="502920" y="3383280"/>
            <a:ext cx="5257800" cy="658368"/>
          </a:xfrm>
          <a:prstGeom prst="rect">
            <a:avLst/>
          </a:prstGeom>
          <a:solidFill>
            <a:srgbClr val="12151C"/>
          </a:solidFill>
          <a:ln w="9525">
            <a:solidFill>
              <a:srgbClr val="2A2F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58368" y="3584448"/>
            <a:ext cx="274320" cy="274320"/>
          </a:xfrm>
          <a:prstGeom prst="rect">
            <a:avLst/>
          </a:prstGeom>
          <a:solidFill>
            <a:srgbClr val="5B7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8368" y="3557016"/>
            <a:ext cx="274320" cy="310896"/>
          </a:xfrm>
          <a:prstGeom prst="rect">
            <a:avLst/>
          </a:prstGeom>
          <a:noFill/>
        </p:spPr>
        <p:txBody>
          <a:bodyPr wrap="square" anchor="ctr" lIns="0" rIns="0" tIns="0" bIns="0">
            <a:spAutoFit/>
          </a:bodyPr>
          <a:lstStyle/>
          <a:p>
            <a:pPr algn="ctr">
              <a:lnSpc>
                <a:spcPct val="100000"/>
              </a:lnSpc>
              <a:spcAft>
                <a:spcPts val="0"/>
              </a:spcAft>
            </a:pPr>
            <a:r>
              <a:rPr sz="1300" b="1" i="0">
                <a:solidFill>
                  <a:srgbClr val="FFFFFF"/>
                </a:solidFill>
                <a:latin typeface="Calibri"/>
              </a:rPr>
              <a:t>3</a:t>
            </a:r>
          </a:p>
        </p:txBody>
      </p:sp>
      <p:sp>
        <p:nvSpPr>
          <p:cNvPr id="17" name="TextBox 16"/>
          <p:cNvSpPr txBox="1"/>
          <p:nvPr/>
        </p:nvSpPr>
        <p:spPr>
          <a:xfrm>
            <a:off x="1097280" y="3383280"/>
            <a:ext cx="4526280" cy="658368"/>
          </a:xfrm>
          <a:prstGeom prst="rect">
            <a:avLst/>
          </a:prstGeom>
          <a:noFill/>
        </p:spPr>
        <p:txBody>
          <a:bodyPr wrap="square" anchor="ctr" lIns="0" rIns="0" tIns="0" bIns="0">
            <a:spAutoFit/>
          </a:bodyPr>
          <a:lstStyle/>
          <a:p>
            <a:pPr algn="l">
              <a:lnSpc>
                <a:spcPct val="105000"/>
              </a:lnSpc>
              <a:spcAft>
                <a:spcPts val="0"/>
              </a:spcAft>
            </a:pPr>
            <a:r>
              <a:rPr sz="1250" b="0" i="0">
                <a:solidFill>
                  <a:srgbClr val="A9AFBC"/>
                </a:solidFill>
                <a:latin typeface="Calibri"/>
              </a:rPr>
              <a:t>Standardized hourly timestamp frequency across the full history</a:t>
            </a:r>
          </a:p>
        </p:txBody>
      </p:sp>
      <p:sp>
        <p:nvSpPr>
          <p:cNvPr id="18" name="Rectangle 17"/>
          <p:cNvSpPr/>
          <p:nvPr/>
        </p:nvSpPr>
        <p:spPr>
          <a:xfrm>
            <a:off x="502920" y="4160520"/>
            <a:ext cx="5257800" cy="658368"/>
          </a:xfrm>
          <a:prstGeom prst="rect">
            <a:avLst/>
          </a:prstGeom>
          <a:solidFill>
            <a:srgbClr val="12151C"/>
          </a:solidFill>
          <a:ln w="9525">
            <a:solidFill>
              <a:srgbClr val="2A2F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58368" y="4361688"/>
            <a:ext cx="274320" cy="274320"/>
          </a:xfrm>
          <a:prstGeom prst="rect">
            <a:avLst/>
          </a:prstGeom>
          <a:solidFill>
            <a:srgbClr val="5B7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 y="4334256"/>
            <a:ext cx="274320" cy="310896"/>
          </a:xfrm>
          <a:prstGeom prst="rect">
            <a:avLst/>
          </a:prstGeom>
          <a:noFill/>
        </p:spPr>
        <p:txBody>
          <a:bodyPr wrap="square" anchor="ctr" lIns="0" rIns="0" tIns="0" bIns="0">
            <a:spAutoFit/>
          </a:bodyPr>
          <a:lstStyle/>
          <a:p>
            <a:pPr algn="ctr">
              <a:lnSpc>
                <a:spcPct val="100000"/>
              </a:lnSpc>
              <a:spcAft>
                <a:spcPts val="0"/>
              </a:spcAft>
            </a:pPr>
            <a:r>
              <a:rPr sz="1300" b="1" i="0">
                <a:solidFill>
                  <a:srgbClr val="FFFFFF"/>
                </a:solidFill>
                <a:latin typeface="Calibri"/>
              </a:rPr>
              <a:t>4</a:t>
            </a:r>
          </a:p>
        </p:txBody>
      </p:sp>
      <p:sp>
        <p:nvSpPr>
          <p:cNvPr id="21" name="TextBox 20"/>
          <p:cNvSpPr txBox="1"/>
          <p:nvPr/>
        </p:nvSpPr>
        <p:spPr>
          <a:xfrm>
            <a:off x="1097280" y="4160520"/>
            <a:ext cx="4526280" cy="658368"/>
          </a:xfrm>
          <a:prstGeom prst="rect">
            <a:avLst/>
          </a:prstGeom>
          <a:noFill/>
        </p:spPr>
        <p:txBody>
          <a:bodyPr wrap="square" anchor="ctr" lIns="0" rIns="0" tIns="0" bIns="0">
            <a:spAutoFit/>
          </a:bodyPr>
          <a:lstStyle/>
          <a:p>
            <a:pPr algn="l">
              <a:lnSpc>
                <a:spcPct val="105000"/>
              </a:lnSpc>
              <a:spcAft>
                <a:spcPts val="0"/>
              </a:spcAft>
            </a:pPr>
            <a:r>
              <a:rPr sz="1250" b="0" i="0">
                <a:solidFill>
                  <a:srgbClr val="A9AFBC"/>
                </a:solidFill>
                <a:latin typeface="Calibri"/>
              </a:rPr>
              <a:t>Dropped rolling-window warm-up rows (first ~30 days of history)</a:t>
            </a:r>
          </a:p>
        </p:txBody>
      </p:sp>
      <p:pic>
        <p:nvPicPr>
          <p:cNvPr id="22" name="Picture 21" descr="vol_hist.png"/>
          <p:cNvPicPr>
            <a:picLocks noChangeAspect="1"/>
          </p:cNvPicPr>
          <p:nvPr/>
        </p:nvPicPr>
        <p:blipFill>
          <a:blip r:embed="rId2"/>
          <a:stretch>
            <a:fillRect/>
          </a:stretch>
        </p:blipFill>
        <p:spPr>
          <a:xfrm>
            <a:off x="6035040" y="1417320"/>
            <a:ext cx="5577840" cy="3749039"/>
          </a:xfrm>
          <a:prstGeom prst="rect">
            <a:avLst/>
          </a:prstGeom>
        </p:spPr>
      </p:pic>
      <p:sp>
        <p:nvSpPr>
          <p:cNvPr id="23" name="TextBox 22"/>
          <p:cNvSpPr txBox="1"/>
          <p:nvPr/>
        </p:nvSpPr>
        <p:spPr>
          <a:xfrm>
            <a:off x="6035040" y="5257800"/>
            <a:ext cx="3657600" cy="320040"/>
          </a:xfrm>
          <a:prstGeom prst="rect">
            <a:avLst/>
          </a:prstGeom>
          <a:noFill/>
        </p:spPr>
        <p:txBody>
          <a:bodyPr wrap="square" anchor="t" lIns="0" rIns="0" tIns="0" bIns="0">
            <a:spAutoFit/>
          </a:bodyPr>
          <a:lstStyle/>
          <a:p>
            <a:pPr algn="l">
              <a:lnSpc>
                <a:spcPct val="100000"/>
              </a:lnSpc>
              <a:spcAft>
                <a:spcPts val="0"/>
              </a:spcAft>
            </a:pPr>
            <a:r>
              <a:rPr sz="1400" b="1" i="0">
                <a:solidFill>
                  <a:srgbClr val="FFFFFF"/>
                </a:solidFill>
                <a:latin typeface="Calibri"/>
              </a:rPr>
              <a:t>Regime Mapping</a:t>
            </a:r>
          </a:p>
        </p:txBody>
      </p:sp>
      <p:graphicFrame>
        <p:nvGraphicFramePr>
          <p:cNvPr id="24" name="Table 23"/>
          <p:cNvGraphicFramePr>
            <a:graphicFrameLocks noGrp="1"/>
          </p:cNvGraphicFramePr>
          <p:nvPr/>
        </p:nvGraphicFramePr>
        <p:xfrm>
          <a:off x="6035040" y="5623560"/>
          <a:ext cx="5577840" cy="1170432"/>
        </p:xfrm>
        <a:graphic>
          <a:graphicData uri="http://schemas.openxmlformats.org/drawingml/2006/table">
            <a:tbl>
              <a:tblPr firstRow="0" bandRow="0">
                <a:tableStyleId>{5C22544A-7EE6-4342-B048-85BDC9FD1C3A}</a:tableStyleId>
              </a:tblPr>
              <a:tblGrid>
                <a:gridCol w="1188720"/>
                <a:gridCol w="2377440"/>
                <a:gridCol w="2011680"/>
              </a:tblGrid>
              <a:tr h="292608">
                <a:tc>
                  <a:txBody>
                    <a:bodyPr wrap="square"/>
                    <a:lstStyle/>
                    <a:p>
                      <a:r>
                        <a:rPr sz="1250" b="1">
                          <a:solidFill>
                            <a:srgbClr val="FFFFFF"/>
                          </a:solidFill>
                          <a:latin typeface="Calibri"/>
                        </a:rPr>
                        <a:t>Level</a:t>
                      </a:r>
                    </a:p>
                  </a:txBody>
                  <a:tcPr marL="109728" marR="109728" marT="36576" marB="36576" anchor="ctr">
                    <a:solidFill>
                      <a:srgbClr val="000000"/>
                    </a:solidFill>
                  </a:tcPr>
                </a:tc>
                <a:tc>
                  <a:txBody>
                    <a:bodyPr wrap="square"/>
                    <a:lstStyle/>
                    <a:p>
                      <a:r>
                        <a:rPr sz="1250" b="1">
                          <a:solidFill>
                            <a:srgbClr val="FFFFFF"/>
                          </a:solidFill>
                          <a:latin typeface="Calibri"/>
                        </a:rPr>
                        <a:t>Regime</a:t>
                      </a:r>
                    </a:p>
                  </a:txBody>
                  <a:tcPr marL="109728" marR="109728" marT="36576" marB="36576" anchor="ctr">
                    <a:solidFill>
                      <a:srgbClr val="000000"/>
                    </a:solidFill>
                  </a:tcPr>
                </a:tc>
                <a:tc>
                  <a:txBody>
                    <a:bodyPr wrap="square"/>
                    <a:lstStyle/>
                    <a:p>
                      <a:r>
                        <a:rPr sz="1250" b="1">
                          <a:solidFill>
                            <a:srgbClr val="FFFFFF"/>
                          </a:solidFill>
                          <a:latin typeface="Calibri"/>
                        </a:rPr>
                        <a:t>Tertile</a:t>
                      </a:r>
                    </a:p>
                  </a:txBody>
                  <a:tcPr marL="109728" marR="109728" marT="36576" marB="36576" anchor="ctr">
                    <a:solidFill>
                      <a:srgbClr val="000000"/>
                    </a:solidFill>
                  </a:tcPr>
                </a:tc>
              </a:tr>
              <a:tr h="292608">
                <a:tc>
                  <a:txBody>
                    <a:bodyPr wrap="square"/>
                    <a:lstStyle/>
                    <a:p>
                      <a:r>
                        <a:rPr sz="1150" b="0">
                          <a:solidFill>
                            <a:srgbClr val="A9AFBC"/>
                          </a:solidFill>
                          <a:latin typeface="Calibri"/>
                        </a:rPr>
                        <a:t>0</a:t>
                      </a:r>
                    </a:p>
                  </a:txBody>
                  <a:tcPr marL="109728" marR="109728" marT="36576" marB="36576" anchor="ctr">
                    <a:solidFill>
                      <a:srgbClr val="12151C"/>
                    </a:solidFill>
                  </a:tcPr>
                </a:tc>
                <a:tc>
                  <a:txBody>
                    <a:bodyPr wrap="square"/>
                    <a:lstStyle/>
                    <a:p>
                      <a:r>
                        <a:rPr sz="1150" b="0">
                          <a:solidFill>
                            <a:srgbClr val="A9AFBC"/>
                          </a:solidFill>
                          <a:latin typeface="Calibri"/>
                        </a:rPr>
                        <a:t>Low</a:t>
                      </a:r>
                    </a:p>
                  </a:txBody>
                  <a:tcPr marL="109728" marR="109728" marT="36576" marB="36576" anchor="ctr">
                    <a:solidFill>
                      <a:srgbClr val="12151C"/>
                    </a:solidFill>
                  </a:tcPr>
                </a:tc>
                <a:tc>
                  <a:txBody>
                    <a:bodyPr wrap="square"/>
                    <a:lstStyle/>
                    <a:p>
                      <a:r>
                        <a:rPr sz="1150" b="0">
                          <a:solidFill>
                            <a:srgbClr val="A9AFBC"/>
                          </a:solidFill>
                          <a:latin typeface="Calibri"/>
                        </a:rPr>
                        <a:t>&lt;= 0.0047</a:t>
                      </a:r>
                    </a:p>
                  </a:txBody>
                  <a:tcPr marL="109728" marR="109728" marT="36576" marB="36576" anchor="ctr">
                    <a:solidFill>
                      <a:srgbClr val="12151C"/>
                    </a:solidFill>
                  </a:tcPr>
                </a:tc>
              </a:tr>
              <a:tr h="292608">
                <a:tc>
                  <a:txBody>
                    <a:bodyPr wrap="square"/>
                    <a:lstStyle/>
                    <a:p>
                      <a:r>
                        <a:rPr sz="1150" b="0">
                          <a:solidFill>
                            <a:srgbClr val="A9AFBC"/>
                          </a:solidFill>
                          <a:latin typeface="Calibri"/>
                        </a:rPr>
                        <a:t>1</a:t>
                      </a:r>
                    </a:p>
                  </a:txBody>
                  <a:tcPr marL="109728" marR="109728" marT="36576" marB="36576" anchor="ctr">
                    <a:solidFill>
                      <a:srgbClr val="0E1117"/>
                    </a:solidFill>
                  </a:tcPr>
                </a:tc>
                <a:tc>
                  <a:txBody>
                    <a:bodyPr wrap="square"/>
                    <a:lstStyle/>
                    <a:p>
                      <a:r>
                        <a:rPr sz="1150" b="0">
                          <a:solidFill>
                            <a:srgbClr val="A9AFBC"/>
                          </a:solidFill>
                          <a:latin typeface="Calibri"/>
                        </a:rPr>
                        <a:t>Moderate</a:t>
                      </a:r>
                    </a:p>
                  </a:txBody>
                  <a:tcPr marL="109728" marR="109728" marT="36576" marB="36576" anchor="ctr">
                    <a:solidFill>
                      <a:srgbClr val="0E1117"/>
                    </a:solidFill>
                  </a:tcPr>
                </a:tc>
                <a:tc>
                  <a:txBody>
                    <a:bodyPr wrap="square"/>
                    <a:lstStyle/>
                    <a:p>
                      <a:r>
                        <a:rPr sz="1150" b="0">
                          <a:solidFill>
                            <a:srgbClr val="A9AFBC"/>
                          </a:solidFill>
                          <a:latin typeface="Calibri"/>
                        </a:rPr>
                        <a:t>0.0047 - 0.0070</a:t>
                      </a:r>
                    </a:p>
                  </a:txBody>
                  <a:tcPr marL="109728" marR="109728" marT="36576" marB="36576" anchor="ctr">
                    <a:solidFill>
                      <a:srgbClr val="0E1117"/>
                    </a:solidFill>
                  </a:tcPr>
                </a:tc>
              </a:tr>
              <a:tr h="292608">
                <a:tc>
                  <a:txBody>
                    <a:bodyPr wrap="square"/>
                    <a:lstStyle/>
                    <a:p>
                      <a:r>
                        <a:rPr sz="1150" b="0">
                          <a:solidFill>
                            <a:srgbClr val="A9AFBC"/>
                          </a:solidFill>
                          <a:latin typeface="Calibri"/>
                        </a:rPr>
                        <a:t>2</a:t>
                      </a:r>
                    </a:p>
                  </a:txBody>
                  <a:tcPr marL="109728" marR="109728" marT="36576" marB="36576" anchor="ctr">
                    <a:solidFill>
                      <a:srgbClr val="12151C"/>
                    </a:solidFill>
                  </a:tcPr>
                </a:tc>
                <a:tc>
                  <a:txBody>
                    <a:bodyPr wrap="square"/>
                    <a:lstStyle/>
                    <a:p>
                      <a:r>
                        <a:rPr sz="1150" b="0">
                          <a:solidFill>
                            <a:srgbClr val="A9AFBC"/>
                          </a:solidFill>
                          <a:latin typeface="Calibri"/>
                        </a:rPr>
                        <a:t>High</a:t>
                      </a:r>
                    </a:p>
                  </a:txBody>
                  <a:tcPr marL="109728" marR="109728" marT="36576" marB="36576" anchor="ctr">
                    <a:solidFill>
                      <a:srgbClr val="12151C"/>
                    </a:solidFill>
                  </a:tcPr>
                </a:tc>
                <a:tc>
                  <a:txBody>
                    <a:bodyPr wrap="square"/>
                    <a:lstStyle/>
                    <a:p>
                      <a:r>
                        <a:rPr sz="1150" b="0">
                          <a:solidFill>
                            <a:srgbClr val="A9AFBC"/>
                          </a:solidFill>
                          <a:latin typeface="Calibri"/>
                        </a:rPr>
                        <a:t>&gt; 0.0070</a:t>
                      </a:r>
                    </a:p>
                  </a:txBody>
                  <a:tcPr marL="109728" marR="109728" marT="36576" marB="36576" anchor="ctr">
                    <a:solidFill>
                      <a:srgbClr val="12151C"/>
                    </a:solidFill>
                  </a:tcPr>
                </a:tc>
              </a:tr>
            </a:tbl>
          </a:graphicData>
        </a:graphic>
      </p:graphicFrame>
      <p:sp>
        <p:nvSpPr>
          <p:cNvPr id="25" name="TextBox 24"/>
          <p:cNvSpPr txBox="1"/>
          <p:nvPr/>
        </p:nvSpPr>
        <p:spPr>
          <a:xfrm>
            <a:off x="11612880" y="6492240"/>
            <a:ext cx="457200" cy="274320"/>
          </a:xfrm>
          <a:prstGeom prst="rect">
            <a:avLst/>
          </a:prstGeom>
          <a:noFill/>
        </p:spPr>
        <p:txBody>
          <a:bodyPr wrap="square" anchor="t" lIns="0" rIns="0" tIns="0" bIns="0">
            <a:spAutoFit/>
          </a:bodyPr>
          <a:lstStyle/>
          <a:p>
            <a:pPr algn="r">
              <a:lnSpc>
                <a:spcPct val="100000"/>
              </a:lnSpc>
              <a:spcAft>
                <a:spcPts val="0"/>
              </a:spcAft>
            </a:pPr>
            <a:r>
              <a:rPr sz="1100" b="0" i="0">
                <a:solidFill>
                  <a:srgbClr val="777E8C"/>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457200"/>
            <a:ext cx="54864" cy="384048"/>
          </a:xfrm>
          <a:prstGeom prst="rect">
            <a:avLst/>
          </a:prstGeom>
          <a:solidFill>
            <a:srgbClr val="E8C9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384048"/>
            <a:ext cx="9601200" cy="502920"/>
          </a:xfrm>
          <a:prstGeom prst="rect">
            <a:avLst/>
          </a:prstGeom>
          <a:noFill/>
        </p:spPr>
        <p:txBody>
          <a:bodyPr wrap="square" anchor="t" lIns="0" rIns="0" tIns="0" bIns="0">
            <a:spAutoFit/>
          </a:bodyPr>
          <a:lstStyle/>
          <a:p>
            <a:pPr algn="l">
              <a:lnSpc>
                <a:spcPct val="100000"/>
              </a:lnSpc>
              <a:spcAft>
                <a:spcPts val="0"/>
              </a:spcAft>
            </a:pPr>
            <a:r>
              <a:rPr sz="2700" b="1" i="0">
                <a:solidFill>
                  <a:srgbClr val="FFFFFF"/>
                </a:solidFill>
                <a:latin typeface="Calibri"/>
              </a:rPr>
              <a:t>Feature Engineering</a:t>
            </a:r>
          </a:p>
        </p:txBody>
      </p:sp>
      <p:sp>
        <p:nvSpPr>
          <p:cNvPr id="5" name="Rectangle 4"/>
          <p:cNvSpPr/>
          <p:nvPr/>
        </p:nvSpPr>
        <p:spPr>
          <a:xfrm>
            <a:off x="502920" y="1508760"/>
            <a:ext cx="5394960" cy="1828800"/>
          </a:xfrm>
          <a:prstGeom prst="rect">
            <a:avLst/>
          </a:prstGeom>
          <a:solidFill>
            <a:srgbClr val="12151C"/>
          </a:solidFill>
          <a:ln w="9525">
            <a:solidFill>
              <a:srgbClr val="2A2F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709928"/>
            <a:ext cx="914400" cy="274320"/>
          </a:xfrm>
          <a:prstGeom prst="rect">
            <a:avLst/>
          </a:prstGeom>
          <a:noFill/>
        </p:spPr>
        <p:txBody>
          <a:bodyPr wrap="square" anchor="t" lIns="0" rIns="0" tIns="0" bIns="0">
            <a:spAutoFit/>
          </a:bodyPr>
          <a:lstStyle/>
          <a:p>
            <a:pPr algn="l">
              <a:lnSpc>
                <a:spcPct val="100000"/>
              </a:lnSpc>
              <a:spcAft>
                <a:spcPts val="0"/>
              </a:spcAft>
            </a:pPr>
            <a:r>
              <a:rPr sz="1200" b="1" i="0">
                <a:solidFill>
                  <a:srgbClr val="E8C99B"/>
                </a:solidFill>
                <a:latin typeface="Calibri"/>
              </a:rPr>
              <a:t>01</a:t>
            </a:r>
          </a:p>
        </p:txBody>
      </p:sp>
      <p:sp>
        <p:nvSpPr>
          <p:cNvPr id="7" name="TextBox 6"/>
          <p:cNvSpPr txBox="1"/>
          <p:nvPr/>
        </p:nvSpPr>
        <p:spPr>
          <a:xfrm>
            <a:off x="795528" y="2011680"/>
            <a:ext cx="4754880" cy="365760"/>
          </a:xfrm>
          <a:prstGeom prst="rect">
            <a:avLst/>
          </a:prstGeom>
          <a:noFill/>
        </p:spPr>
        <p:txBody>
          <a:bodyPr wrap="square" anchor="t" lIns="0" rIns="0" tIns="0" bIns="0">
            <a:spAutoFit/>
          </a:bodyPr>
          <a:lstStyle/>
          <a:p>
            <a:pPr algn="l">
              <a:lnSpc>
                <a:spcPct val="100000"/>
              </a:lnSpc>
              <a:spcAft>
                <a:spcPts val="0"/>
              </a:spcAft>
            </a:pPr>
            <a:r>
              <a:rPr sz="1700" b="1" i="0">
                <a:solidFill>
                  <a:srgbClr val="FFFFFF"/>
                </a:solidFill>
                <a:latin typeface="Calibri"/>
              </a:rPr>
              <a:t>HAR Horizons</a:t>
            </a:r>
          </a:p>
        </p:txBody>
      </p:sp>
      <p:sp>
        <p:nvSpPr>
          <p:cNvPr id="8" name="TextBox 7"/>
          <p:cNvSpPr txBox="1"/>
          <p:nvPr/>
        </p:nvSpPr>
        <p:spPr>
          <a:xfrm>
            <a:off x="795528" y="2441448"/>
            <a:ext cx="4846320" cy="822960"/>
          </a:xfrm>
          <a:prstGeom prst="rect">
            <a:avLst/>
          </a:prstGeom>
          <a:noFill/>
        </p:spPr>
        <p:txBody>
          <a:bodyPr wrap="square" anchor="t" lIns="0" rIns="0" tIns="0" bIns="0">
            <a:spAutoFit/>
          </a:bodyPr>
          <a:lstStyle/>
          <a:p>
            <a:pPr algn="l">
              <a:lnSpc>
                <a:spcPct val="115000"/>
              </a:lnSpc>
              <a:spcAft>
                <a:spcPts val="0"/>
              </a:spcAft>
            </a:pPr>
            <a:r>
              <a:rPr sz="1200" b="0" i="0">
                <a:solidFill>
                  <a:srgbClr val="A9AFBC"/>
                </a:solidFill>
                <a:latin typeface="Calibri"/>
              </a:rPr>
              <a:t>Aggregated volatility at day / week / month windows to capture the long-memory pattern realized-volatility literature expects (Corsi, 2009).</a:t>
            </a:r>
          </a:p>
        </p:txBody>
      </p:sp>
      <p:sp>
        <p:nvSpPr>
          <p:cNvPr id="9" name="Rectangle 8"/>
          <p:cNvSpPr/>
          <p:nvPr/>
        </p:nvSpPr>
        <p:spPr>
          <a:xfrm>
            <a:off x="6172200" y="1508760"/>
            <a:ext cx="5394960" cy="1828800"/>
          </a:xfrm>
          <a:prstGeom prst="rect">
            <a:avLst/>
          </a:prstGeom>
          <a:solidFill>
            <a:srgbClr val="12151C"/>
          </a:solidFill>
          <a:ln w="9525">
            <a:solidFill>
              <a:srgbClr val="2A2F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64808" y="1709928"/>
            <a:ext cx="914400" cy="274320"/>
          </a:xfrm>
          <a:prstGeom prst="rect">
            <a:avLst/>
          </a:prstGeom>
          <a:noFill/>
        </p:spPr>
        <p:txBody>
          <a:bodyPr wrap="square" anchor="t" lIns="0" rIns="0" tIns="0" bIns="0">
            <a:spAutoFit/>
          </a:bodyPr>
          <a:lstStyle/>
          <a:p>
            <a:pPr algn="l">
              <a:lnSpc>
                <a:spcPct val="100000"/>
              </a:lnSpc>
              <a:spcAft>
                <a:spcPts val="0"/>
              </a:spcAft>
            </a:pPr>
            <a:r>
              <a:rPr sz="1200" b="1" i="0">
                <a:solidFill>
                  <a:srgbClr val="E8C99B"/>
                </a:solidFill>
                <a:latin typeface="Calibri"/>
              </a:rPr>
              <a:t>02</a:t>
            </a:r>
          </a:p>
        </p:txBody>
      </p:sp>
      <p:sp>
        <p:nvSpPr>
          <p:cNvPr id="11" name="TextBox 10"/>
          <p:cNvSpPr txBox="1"/>
          <p:nvPr/>
        </p:nvSpPr>
        <p:spPr>
          <a:xfrm>
            <a:off x="6464808" y="2011680"/>
            <a:ext cx="4754880" cy="365760"/>
          </a:xfrm>
          <a:prstGeom prst="rect">
            <a:avLst/>
          </a:prstGeom>
          <a:noFill/>
        </p:spPr>
        <p:txBody>
          <a:bodyPr wrap="square" anchor="t" lIns="0" rIns="0" tIns="0" bIns="0">
            <a:spAutoFit/>
          </a:bodyPr>
          <a:lstStyle/>
          <a:p>
            <a:pPr algn="l">
              <a:lnSpc>
                <a:spcPct val="100000"/>
              </a:lnSpc>
              <a:spcAft>
                <a:spcPts val="0"/>
              </a:spcAft>
            </a:pPr>
            <a:r>
              <a:rPr sz="1700" b="1" i="0">
                <a:solidFill>
                  <a:srgbClr val="FFFFFF"/>
                </a:solidFill>
                <a:latin typeface="Calibri"/>
              </a:rPr>
              <a:t>ATR as % of Price</a:t>
            </a:r>
          </a:p>
        </p:txBody>
      </p:sp>
      <p:sp>
        <p:nvSpPr>
          <p:cNvPr id="12" name="TextBox 11"/>
          <p:cNvSpPr txBox="1"/>
          <p:nvPr/>
        </p:nvSpPr>
        <p:spPr>
          <a:xfrm>
            <a:off x="6464808" y="2441448"/>
            <a:ext cx="4846320" cy="822960"/>
          </a:xfrm>
          <a:prstGeom prst="rect">
            <a:avLst/>
          </a:prstGeom>
          <a:noFill/>
        </p:spPr>
        <p:txBody>
          <a:bodyPr wrap="square" anchor="t" lIns="0" rIns="0" tIns="0" bIns="0">
            <a:spAutoFit/>
          </a:bodyPr>
          <a:lstStyle/>
          <a:p>
            <a:pPr algn="l">
              <a:lnSpc>
                <a:spcPct val="115000"/>
              </a:lnSpc>
              <a:spcAft>
                <a:spcPts val="0"/>
              </a:spcAft>
            </a:pPr>
            <a:r>
              <a:rPr sz="1200" b="0" i="0">
                <a:solidFill>
                  <a:srgbClr val="A9AFBC"/>
                </a:solidFill>
                <a:latin typeface="Calibri"/>
              </a:rPr>
              <a:t>Fixed a real bug: raw dollar-terms ATR was a ~45,000x scale mismatch against every other regressor. Fixing it was the single biggest gain in the project.</a:t>
            </a:r>
          </a:p>
        </p:txBody>
      </p:sp>
      <p:sp>
        <p:nvSpPr>
          <p:cNvPr id="13" name="Rectangle 12"/>
          <p:cNvSpPr/>
          <p:nvPr/>
        </p:nvSpPr>
        <p:spPr>
          <a:xfrm>
            <a:off x="502920" y="3520440"/>
            <a:ext cx="5394960" cy="1828800"/>
          </a:xfrm>
          <a:prstGeom prst="rect">
            <a:avLst/>
          </a:prstGeom>
          <a:solidFill>
            <a:srgbClr val="12151C"/>
          </a:solidFill>
          <a:ln w="9525">
            <a:solidFill>
              <a:srgbClr val="2A2F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95528" y="3721608"/>
            <a:ext cx="914400" cy="274320"/>
          </a:xfrm>
          <a:prstGeom prst="rect">
            <a:avLst/>
          </a:prstGeom>
          <a:noFill/>
        </p:spPr>
        <p:txBody>
          <a:bodyPr wrap="square" anchor="t" lIns="0" rIns="0" tIns="0" bIns="0">
            <a:spAutoFit/>
          </a:bodyPr>
          <a:lstStyle/>
          <a:p>
            <a:pPr algn="l">
              <a:lnSpc>
                <a:spcPct val="100000"/>
              </a:lnSpc>
              <a:spcAft>
                <a:spcPts val="0"/>
              </a:spcAft>
            </a:pPr>
            <a:r>
              <a:rPr sz="1200" b="1" i="0">
                <a:solidFill>
                  <a:srgbClr val="E8C99B"/>
                </a:solidFill>
                <a:latin typeface="Calibri"/>
              </a:rPr>
              <a:t>03</a:t>
            </a:r>
          </a:p>
        </p:txBody>
      </p:sp>
      <p:sp>
        <p:nvSpPr>
          <p:cNvPr id="15" name="TextBox 14"/>
          <p:cNvSpPr txBox="1"/>
          <p:nvPr/>
        </p:nvSpPr>
        <p:spPr>
          <a:xfrm>
            <a:off x="795528" y="4023360"/>
            <a:ext cx="4754880" cy="365760"/>
          </a:xfrm>
          <a:prstGeom prst="rect">
            <a:avLst/>
          </a:prstGeom>
          <a:noFill/>
        </p:spPr>
        <p:txBody>
          <a:bodyPr wrap="square" anchor="t" lIns="0" rIns="0" tIns="0" bIns="0">
            <a:spAutoFit/>
          </a:bodyPr>
          <a:lstStyle/>
          <a:p>
            <a:pPr algn="l">
              <a:lnSpc>
                <a:spcPct val="100000"/>
              </a:lnSpc>
              <a:spcAft>
                <a:spcPts val="0"/>
              </a:spcAft>
            </a:pPr>
            <a:r>
              <a:rPr sz="1700" b="1" i="0">
                <a:solidFill>
                  <a:srgbClr val="FFFFFF"/>
                </a:solidFill>
                <a:latin typeface="Calibri"/>
              </a:rPr>
              <a:t>EWMA Smoothing</a:t>
            </a:r>
          </a:p>
        </p:txBody>
      </p:sp>
      <p:sp>
        <p:nvSpPr>
          <p:cNvPr id="16" name="TextBox 15"/>
          <p:cNvSpPr txBox="1"/>
          <p:nvPr/>
        </p:nvSpPr>
        <p:spPr>
          <a:xfrm>
            <a:off x="795528" y="4453128"/>
            <a:ext cx="4846320" cy="822960"/>
          </a:xfrm>
          <a:prstGeom prst="rect">
            <a:avLst/>
          </a:prstGeom>
          <a:noFill/>
        </p:spPr>
        <p:txBody>
          <a:bodyPr wrap="square" anchor="t" lIns="0" rIns="0" tIns="0" bIns="0">
            <a:spAutoFit/>
          </a:bodyPr>
          <a:lstStyle/>
          <a:p>
            <a:pPr algn="l">
              <a:lnSpc>
                <a:spcPct val="115000"/>
              </a:lnSpc>
              <a:spcAft>
                <a:spcPts val="0"/>
              </a:spcAft>
            </a:pPr>
            <a:r>
              <a:rPr sz="1200" b="0" i="0">
                <a:solidFill>
                  <a:srgbClr val="A9AFBC"/>
                </a:solidFill>
                <a:latin typeface="Calibri"/>
              </a:rPr>
              <a:t>Backtested the industry-standard exponential decay factor (lambda = 0.995) and added it as its own regressor, not just a separate model.</a:t>
            </a:r>
          </a:p>
        </p:txBody>
      </p:sp>
      <p:sp>
        <p:nvSpPr>
          <p:cNvPr id="17" name="Rectangle 16"/>
          <p:cNvSpPr/>
          <p:nvPr/>
        </p:nvSpPr>
        <p:spPr>
          <a:xfrm>
            <a:off x="6172200" y="3520440"/>
            <a:ext cx="5394960" cy="1828800"/>
          </a:xfrm>
          <a:prstGeom prst="rect">
            <a:avLst/>
          </a:prstGeom>
          <a:solidFill>
            <a:srgbClr val="12151C"/>
          </a:solidFill>
          <a:ln w="9525">
            <a:solidFill>
              <a:srgbClr val="2A2F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64808" y="3721608"/>
            <a:ext cx="914400" cy="274320"/>
          </a:xfrm>
          <a:prstGeom prst="rect">
            <a:avLst/>
          </a:prstGeom>
          <a:noFill/>
        </p:spPr>
        <p:txBody>
          <a:bodyPr wrap="square" anchor="t" lIns="0" rIns="0" tIns="0" bIns="0">
            <a:spAutoFit/>
          </a:bodyPr>
          <a:lstStyle/>
          <a:p>
            <a:pPr algn="l">
              <a:lnSpc>
                <a:spcPct val="100000"/>
              </a:lnSpc>
              <a:spcAft>
                <a:spcPts val="0"/>
              </a:spcAft>
            </a:pPr>
            <a:r>
              <a:rPr sz="1200" b="1" i="0">
                <a:solidFill>
                  <a:srgbClr val="E8C99B"/>
                </a:solidFill>
                <a:latin typeface="Calibri"/>
              </a:rPr>
              <a:t>04</a:t>
            </a:r>
          </a:p>
        </p:txBody>
      </p:sp>
      <p:sp>
        <p:nvSpPr>
          <p:cNvPr id="19" name="TextBox 18"/>
          <p:cNvSpPr txBox="1"/>
          <p:nvPr/>
        </p:nvSpPr>
        <p:spPr>
          <a:xfrm>
            <a:off x="6464808" y="4023360"/>
            <a:ext cx="4754880" cy="365760"/>
          </a:xfrm>
          <a:prstGeom prst="rect">
            <a:avLst/>
          </a:prstGeom>
          <a:noFill/>
        </p:spPr>
        <p:txBody>
          <a:bodyPr wrap="square" anchor="t" lIns="0" rIns="0" tIns="0" bIns="0">
            <a:spAutoFit/>
          </a:bodyPr>
          <a:lstStyle/>
          <a:p>
            <a:pPr algn="l">
              <a:lnSpc>
                <a:spcPct val="100000"/>
              </a:lnSpc>
              <a:spcAft>
                <a:spcPts val="0"/>
              </a:spcAft>
            </a:pPr>
            <a:r>
              <a:rPr sz="1700" b="1" i="0">
                <a:solidFill>
                  <a:srgbClr val="FFFFFF"/>
                </a:solidFill>
                <a:latin typeface="Calibri"/>
              </a:rPr>
              <a:t>Realized Skewness</a:t>
            </a:r>
          </a:p>
        </p:txBody>
      </p:sp>
      <p:sp>
        <p:nvSpPr>
          <p:cNvPr id="20" name="TextBox 19"/>
          <p:cNvSpPr txBox="1"/>
          <p:nvPr/>
        </p:nvSpPr>
        <p:spPr>
          <a:xfrm>
            <a:off x="6464808" y="4453128"/>
            <a:ext cx="4846320" cy="822960"/>
          </a:xfrm>
          <a:prstGeom prst="rect">
            <a:avLst/>
          </a:prstGeom>
          <a:noFill/>
        </p:spPr>
        <p:txBody>
          <a:bodyPr wrap="square" anchor="t" lIns="0" rIns="0" tIns="0" bIns="0">
            <a:spAutoFit/>
          </a:bodyPr>
          <a:lstStyle/>
          <a:p>
            <a:pPr algn="l">
              <a:lnSpc>
                <a:spcPct val="115000"/>
              </a:lnSpc>
              <a:spcAft>
                <a:spcPts val="0"/>
              </a:spcAft>
            </a:pPr>
            <a:r>
              <a:rPr sz="1200" b="0" i="0">
                <a:solidFill>
                  <a:srgbClr val="A9AFBC"/>
                </a:solidFill>
                <a:latin typeface="Calibri"/>
              </a:rPr>
              <a:t>Captures return-distribution shape, not just magnitude - a genuinely different signal from the volatility-level regressors above.</a:t>
            </a:r>
          </a:p>
        </p:txBody>
      </p:sp>
      <p:sp>
        <p:nvSpPr>
          <p:cNvPr id="21" name="TextBox 20"/>
          <p:cNvSpPr txBox="1"/>
          <p:nvPr/>
        </p:nvSpPr>
        <p:spPr>
          <a:xfrm>
            <a:off x="11612880" y="6492240"/>
            <a:ext cx="457200" cy="274320"/>
          </a:xfrm>
          <a:prstGeom prst="rect">
            <a:avLst/>
          </a:prstGeom>
          <a:noFill/>
        </p:spPr>
        <p:txBody>
          <a:bodyPr wrap="square" anchor="t" lIns="0" rIns="0" tIns="0" bIns="0">
            <a:spAutoFit/>
          </a:bodyPr>
          <a:lstStyle/>
          <a:p>
            <a:pPr algn="r">
              <a:lnSpc>
                <a:spcPct val="100000"/>
              </a:lnSpc>
              <a:spcAft>
                <a:spcPts val="0"/>
              </a:spcAft>
            </a:pPr>
            <a:r>
              <a:rPr sz="1100" b="0" i="0">
                <a:solidFill>
                  <a:srgbClr val="777E8C"/>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457200"/>
            <a:ext cx="54864" cy="384048"/>
          </a:xfrm>
          <a:prstGeom prst="rect">
            <a:avLst/>
          </a:prstGeom>
          <a:solidFill>
            <a:srgbClr val="E8C9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384048"/>
            <a:ext cx="9601200" cy="502920"/>
          </a:xfrm>
          <a:prstGeom prst="rect">
            <a:avLst/>
          </a:prstGeom>
          <a:noFill/>
        </p:spPr>
        <p:txBody>
          <a:bodyPr wrap="square" anchor="t" lIns="0" rIns="0" tIns="0" bIns="0">
            <a:spAutoFit/>
          </a:bodyPr>
          <a:lstStyle/>
          <a:p>
            <a:pPr algn="l">
              <a:lnSpc>
                <a:spcPct val="100000"/>
              </a:lnSpc>
              <a:spcAft>
                <a:spcPts val="0"/>
              </a:spcAft>
            </a:pPr>
            <a:r>
              <a:rPr sz="2700" b="1" i="0">
                <a:solidFill>
                  <a:srgbClr val="FFFFFF"/>
                </a:solidFill>
                <a:latin typeface="Calibri"/>
              </a:rPr>
              <a:t>EDA: Temporal Features</a:t>
            </a:r>
          </a:p>
        </p:txBody>
      </p:sp>
      <p:sp>
        <p:nvSpPr>
          <p:cNvPr id="5" name="TextBox 4"/>
          <p:cNvSpPr txBox="1"/>
          <p:nvPr/>
        </p:nvSpPr>
        <p:spPr>
          <a:xfrm>
            <a:off x="685800" y="868680"/>
            <a:ext cx="10515600" cy="365760"/>
          </a:xfrm>
          <a:prstGeom prst="rect">
            <a:avLst/>
          </a:prstGeom>
          <a:noFill/>
        </p:spPr>
        <p:txBody>
          <a:bodyPr wrap="square" anchor="t" lIns="0" rIns="0" tIns="0" bIns="0">
            <a:spAutoFit/>
          </a:bodyPr>
          <a:lstStyle/>
          <a:p>
            <a:pPr algn="l">
              <a:lnSpc>
                <a:spcPct val="100000"/>
              </a:lnSpc>
              <a:spcAft>
                <a:spcPts val="0"/>
              </a:spcAft>
            </a:pPr>
            <a:r>
              <a:rPr sz="1350" b="0" i="0">
                <a:solidFill>
                  <a:srgbClr val="A9AFBC"/>
                </a:solidFill>
                <a:latin typeface="Calibri"/>
              </a:rPr>
              <a:t>Does when something happens carry any signal about how severe it will be?</a:t>
            </a:r>
          </a:p>
        </p:txBody>
      </p:sp>
      <p:sp>
        <p:nvSpPr>
          <p:cNvPr id="6" name="TextBox 5"/>
          <p:cNvSpPr txBox="1"/>
          <p:nvPr/>
        </p:nvSpPr>
        <p:spPr>
          <a:xfrm>
            <a:off x="502920" y="1554480"/>
            <a:ext cx="5212080" cy="320040"/>
          </a:xfrm>
          <a:prstGeom prst="rect">
            <a:avLst/>
          </a:prstGeom>
          <a:noFill/>
        </p:spPr>
        <p:txBody>
          <a:bodyPr wrap="square" anchor="t" lIns="0" rIns="0" tIns="0" bIns="0">
            <a:spAutoFit/>
          </a:bodyPr>
          <a:lstStyle/>
          <a:p>
            <a:pPr algn="l">
              <a:lnSpc>
                <a:spcPct val="100000"/>
              </a:lnSpc>
              <a:spcAft>
                <a:spcPts val="0"/>
              </a:spcAft>
            </a:pPr>
            <a:r>
              <a:rPr sz="1400" b="1" i="0">
                <a:solidFill>
                  <a:srgbClr val="FFFFFF"/>
                </a:solidFill>
                <a:latin typeface="Calibri"/>
              </a:rPr>
              <a:t>Autocorrelation (Primary Signal)</a:t>
            </a:r>
          </a:p>
        </p:txBody>
      </p:sp>
      <p:sp>
        <p:nvSpPr>
          <p:cNvPr id="7" name="Rectangle 6"/>
          <p:cNvSpPr/>
          <p:nvPr/>
        </p:nvSpPr>
        <p:spPr>
          <a:xfrm>
            <a:off x="502920" y="1965960"/>
            <a:ext cx="5212080" cy="1920240"/>
          </a:xfrm>
          <a:prstGeom prst="rect">
            <a:avLst/>
          </a:prstGeom>
          <a:solidFill>
            <a:srgbClr val="1417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1965960"/>
            <a:ext cx="45720" cy="1920240"/>
          </a:xfrm>
          <a:prstGeom prst="rect">
            <a:avLst/>
          </a:prstGeom>
          <a:solidFill>
            <a:srgbClr val="E8C9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2093976"/>
            <a:ext cx="4663440" cy="274320"/>
          </a:xfrm>
          <a:prstGeom prst="rect">
            <a:avLst/>
          </a:prstGeom>
          <a:noFill/>
        </p:spPr>
        <p:txBody>
          <a:bodyPr wrap="square" anchor="t" lIns="0" rIns="0" tIns="0" bIns="0">
            <a:spAutoFit/>
          </a:bodyPr>
          <a:lstStyle/>
          <a:p>
            <a:pPr algn="l">
              <a:lnSpc>
                <a:spcPct val="100000"/>
              </a:lnSpc>
              <a:spcAft>
                <a:spcPts val="0"/>
              </a:spcAft>
            </a:pPr>
            <a:r>
              <a:rPr sz="1250" b="1" i="0">
                <a:solidFill>
                  <a:srgbClr val="E8C99B"/>
                </a:solidFill>
                <a:latin typeface="Calibri"/>
              </a:rPr>
              <a:t>ACF DECAYS SLOWLY</a:t>
            </a:r>
          </a:p>
        </p:txBody>
      </p:sp>
      <p:sp>
        <p:nvSpPr>
          <p:cNvPr id="10" name="TextBox 9"/>
          <p:cNvSpPr txBox="1"/>
          <p:nvPr/>
        </p:nvSpPr>
        <p:spPr>
          <a:xfrm>
            <a:off x="777240" y="2386584"/>
            <a:ext cx="4663440" cy="1371600"/>
          </a:xfrm>
          <a:prstGeom prst="rect">
            <a:avLst/>
          </a:prstGeom>
          <a:noFill/>
        </p:spPr>
        <p:txBody>
          <a:bodyPr wrap="square" anchor="t" lIns="0" rIns="0" tIns="0" bIns="0">
            <a:spAutoFit/>
          </a:bodyPr>
          <a:lstStyle/>
          <a:p>
            <a:pPr algn="l">
              <a:lnSpc>
                <a:spcPct val="115000"/>
              </a:lnSpc>
              <a:spcAft>
                <a:spcPts val="0"/>
              </a:spcAft>
            </a:pPr>
            <a:r>
              <a:rPr sz="1300" b="0" i="0">
                <a:solidFill>
                  <a:srgbClr val="A9AFBC"/>
                </a:solidFill>
                <a:latin typeface="Calibri"/>
              </a:rPr>
              <a:t>The target's autocorrelation function decays slowly across many lags rather than dropping to zero quickly - confirmation that volatility clustering is real and exploitable, not noise. This is the signal HAR-RV-X's three time horizons are built to capture.</a:t>
            </a:r>
          </a:p>
        </p:txBody>
      </p:sp>
      <p:sp>
        <p:nvSpPr>
          <p:cNvPr id="11" name="TextBox 10"/>
          <p:cNvSpPr txBox="1"/>
          <p:nvPr/>
        </p:nvSpPr>
        <p:spPr>
          <a:xfrm>
            <a:off x="6035040" y="1554480"/>
            <a:ext cx="5212080" cy="320040"/>
          </a:xfrm>
          <a:prstGeom prst="rect">
            <a:avLst/>
          </a:prstGeom>
          <a:noFill/>
        </p:spPr>
        <p:txBody>
          <a:bodyPr wrap="square" anchor="t" lIns="0" rIns="0" tIns="0" bIns="0">
            <a:spAutoFit/>
          </a:bodyPr>
          <a:lstStyle/>
          <a:p>
            <a:pPr algn="l">
              <a:lnSpc>
                <a:spcPct val="100000"/>
              </a:lnSpc>
              <a:spcAft>
                <a:spcPts val="0"/>
              </a:spcAft>
            </a:pPr>
            <a:r>
              <a:rPr sz="1400" b="1" i="0">
                <a:solidFill>
                  <a:srgbClr val="FFFFFF"/>
                </a:solidFill>
                <a:latin typeface="Calibri"/>
              </a:rPr>
              <a:t>Hour-of-Day / Day-of-Week</a:t>
            </a:r>
          </a:p>
        </p:txBody>
      </p:sp>
      <p:graphicFrame>
        <p:nvGraphicFramePr>
          <p:cNvPr id="12" name="Table 11"/>
          <p:cNvGraphicFramePr>
            <a:graphicFrameLocks noGrp="1"/>
          </p:cNvGraphicFramePr>
          <p:nvPr/>
        </p:nvGraphicFramePr>
        <p:xfrm>
          <a:off x="6035040" y="1965960"/>
          <a:ext cx="5212080" cy="1463040"/>
        </p:xfrm>
        <a:graphic>
          <a:graphicData uri="http://schemas.openxmlformats.org/drawingml/2006/table">
            <a:tbl>
              <a:tblPr firstRow="0" bandRow="0">
                <a:tableStyleId>{5C22544A-7EE6-4342-B048-85BDC9FD1C3A}</a:tableStyleId>
              </a:tblPr>
              <a:tblGrid>
                <a:gridCol w="3108960"/>
                <a:gridCol w="2103120"/>
              </a:tblGrid>
              <a:tr h="365760">
                <a:tc>
                  <a:txBody>
                    <a:bodyPr wrap="square"/>
                    <a:lstStyle/>
                    <a:p>
                      <a:r>
                        <a:rPr sz="1350" b="1">
                          <a:solidFill>
                            <a:srgbClr val="FFFFFF"/>
                          </a:solidFill>
                          <a:latin typeface="Calibri"/>
                        </a:rPr>
                        <a:t>Test</a:t>
                      </a:r>
                    </a:p>
                  </a:txBody>
                  <a:tcPr marL="109728" marR="109728" marT="36576" marB="36576" anchor="ctr">
                    <a:solidFill>
                      <a:srgbClr val="000000"/>
                    </a:solidFill>
                  </a:tcPr>
                </a:tc>
                <a:tc>
                  <a:txBody>
                    <a:bodyPr wrap="square"/>
                    <a:lstStyle/>
                    <a:p>
                      <a:r>
                        <a:rPr sz="1350" b="1">
                          <a:solidFill>
                            <a:srgbClr val="FFFFFF"/>
                          </a:solidFill>
                          <a:latin typeface="Calibri"/>
                        </a:rPr>
                        <a:t>Result</a:t>
                      </a:r>
                    </a:p>
                  </a:txBody>
                  <a:tcPr marL="109728" marR="109728" marT="36576" marB="36576" anchor="ctr">
                    <a:solidFill>
                      <a:srgbClr val="000000"/>
                    </a:solidFill>
                  </a:tcPr>
                </a:tc>
              </a:tr>
              <a:tr h="365760">
                <a:tc>
                  <a:txBody>
                    <a:bodyPr wrap="square"/>
                    <a:lstStyle/>
                    <a:p>
                      <a:r>
                        <a:rPr sz="1250" b="0">
                          <a:solidFill>
                            <a:srgbClr val="A9AFBC"/>
                          </a:solidFill>
                          <a:latin typeface="Calibri"/>
                        </a:rPr>
                        <a:t>Chi-square statistic</a:t>
                      </a:r>
                    </a:p>
                  </a:txBody>
                  <a:tcPr marL="109728" marR="109728" marT="36576" marB="36576" anchor="ctr">
                    <a:solidFill>
                      <a:srgbClr val="12151C"/>
                    </a:solidFill>
                  </a:tcPr>
                </a:tc>
                <a:tc>
                  <a:txBody>
                    <a:bodyPr wrap="square"/>
                    <a:lstStyle/>
                    <a:p>
                      <a:r>
                        <a:rPr sz="1250" b="0">
                          <a:solidFill>
                            <a:srgbClr val="A9AFBC"/>
                          </a:solidFill>
                          <a:latin typeface="Calibri"/>
                        </a:rPr>
                        <a:t>2.68</a:t>
                      </a:r>
                    </a:p>
                  </a:txBody>
                  <a:tcPr marL="109728" marR="109728" marT="36576" marB="36576" anchor="ctr">
                    <a:solidFill>
                      <a:srgbClr val="12151C"/>
                    </a:solidFill>
                  </a:tcPr>
                </a:tc>
              </a:tr>
              <a:tr h="365760">
                <a:tc>
                  <a:txBody>
                    <a:bodyPr wrap="square"/>
                    <a:lstStyle/>
                    <a:p>
                      <a:r>
                        <a:rPr sz="1250" b="0">
                          <a:solidFill>
                            <a:srgbClr val="A9AFBC"/>
                          </a:solidFill>
                          <a:latin typeface="Calibri"/>
                        </a:rPr>
                        <a:t>Degrees of freedom</a:t>
                      </a:r>
                    </a:p>
                  </a:txBody>
                  <a:tcPr marL="109728" marR="109728" marT="36576" marB="36576" anchor="ctr">
                    <a:solidFill>
                      <a:srgbClr val="0E1117"/>
                    </a:solidFill>
                  </a:tcPr>
                </a:tc>
                <a:tc>
                  <a:txBody>
                    <a:bodyPr wrap="square"/>
                    <a:lstStyle/>
                    <a:p>
                      <a:r>
                        <a:rPr sz="1250" b="0">
                          <a:solidFill>
                            <a:srgbClr val="A9AFBC"/>
                          </a:solidFill>
                          <a:latin typeface="Calibri"/>
                        </a:rPr>
                        <a:t>46</a:t>
                      </a:r>
                    </a:p>
                  </a:txBody>
                  <a:tcPr marL="109728" marR="109728" marT="36576" marB="36576" anchor="ctr">
                    <a:solidFill>
                      <a:srgbClr val="0E1117"/>
                    </a:solidFill>
                  </a:tcPr>
                </a:tc>
              </a:tr>
              <a:tr h="365760">
                <a:tc>
                  <a:txBody>
                    <a:bodyPr wrap="square"/>
                    <a:lstStyle/>
                    <a:p>
                      <a:r>
                        <a:rPr sz="1250" b="0">
                          <a:solidFill>
                            <a:srgbClr val="A9AFBC"/>
                          </a:solidFill>
                          <a:latin typeface="Calibri"/>
                        </a:rPr>
                        <a:t>p-value</a:t>
                      </a:r>
                    </a:p>
                  </a:txBody>
                  <a:tcPr marL="109728" marR="109728" marT="36576" marB="36576" anchor="ctr">
                    <a:solidFill>
                      <a:srgbClr val="12151C"/>
                    </a:solidFill>
                  </a:tcPr>
                </a:tc>
                <a:tc>
                  <a:txBody>
                    <a:bodyPr wrap="square"/>
                    <a:lstStyle/>
                    <a:p>
                      <a:r>
                        <a:rPr sz="1250" b="0">
                          <a:solidFill>
                            <a:srgbClr val="A9AFBC"/>
                          </a:solidFill>
                          <a:latin typeface="Calibri"/>
                        </a:rPr>
                        <a:t>1.000000</a:t>
                      </a:r>
                    </a:p>
                  </a:txBody>
                  <a:tcPr marL="109728" marR="109728" marT="36576" marB="36576" anchor="ctr">
                    <a:solidFill>
                      <a:srgbClr val="12151C"/>
                    </a:solidFill>
                  </a:tcPr>
                </a:tc>
              </a:tr>
            </a:tbl>
          </a:graphicData>
        </a:graphic>
      </p:graphicFrame>
      <p:sp>
        <p:nvSpPr>
          <p:cNvPr id="13" name="Rectangle 12"/>
          <p:cNvSpPr/>
          <p:nvPr/>
        </p:nvSpPr>
        <p:spPr>
          <a:xfrm>
            <a:off x="6035040" y="3520440"/>
            <a:ext cx="5212080" cy="1417320"/>
          </a:xfrm>
          <a:prstGeom prst="rect">
            <a:avLst/>
          </a:prstGeom>
          <a:solidFill>
            <a:srgbClr val="1417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035040" y="3520440"/>
            <a:ext cx="45720" cy="1417320"/>
          </a:xfrm>
          <a:prstGeom prst="rect">
            <a:avLst/>
          </a:prstGeom>
          <a:solidFill>
            <a:srgbClr val="C46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09360" y="3648456"/>
            <a:ext cx="4663440" cy="274320"/>
          </a:xfrm>
          <a:prstGeom prst="rect">
            <a:avLst/>
          </a:prstGeom>
          <a:noFill/>
        </p:spPr>
        <p:txBody>
          <a:bodyPr wrap="square" anchor="t" lIns="0" rIns="0" tIns="0" bIns="0">
            <a:spAutoFit/>
          </a:bodyPr>
          <a:lstStyle/>
          <a:p>
            <a:pPr algn="l">
              <a:lnSpc>
                <a:spcPct val="100000"/>
              </a:lnSpc>
              <a:spcAft>
                <a:spcPts val="0"/>
              </a:spcAft>
            </a:pPr>
            <a:r>
              <a:rPr sz="1250" b="1" i="0">
                <a:solidFill>
                  <a:srgbClr val="C4645A"/>
                </a:solidFill>
                <a:latin typeface="Calibri"/>
              </a:rPr>
              <a:t>LIMITED / NO SIGNAL</a:t>
            </a:r>
          </a:p>
        </p:txBody>
      </p:sp>
      <p:sp>
        <p:nvSpPr>
          <p:cNvPr id="16" name="TextBox 15"/>
          <p:cNvSpPr txBox="1"/>
          <p:nvPr/>
        </p:nvSpPr>
        <p:spPr>
          <a:xfrm>
            <a:off x="6309360" y="3941064"/>
            <a:ext cx="4663440" cy="868680"/>
          </a:xfrm>
          <a:prstGeom prst="rect">
            <a:avLst/>
          </a:prstGeom>
          <a:noFill/>
        </p:spPr>
        <p:txBody>
          <a:bodyPr wrap="square" anchor="t" lIns="0" rIns="0" tIns="0" bIns="0">
            <a:spAutoFit/>
          </a:bodyPr>
          <a:lstStyle/>
          <a:p>
            <a:pPr algn="l">
              <a:lnSpc>
                <a:spcPct val="115000"/>
              </a:lnSpc>
              <a:spcAft>
                <a:spcPts val="0"/>
              </a:spcAft>
            </a:pPr>
            <a:r>
              <a:rPr sz="1300" b="0" i="0">
                <a:solidFill>
                  <a:srgbClr val="A9AFBC"/>
                </a:solidFill>
                <a:latin typeface="Calibri"/>
              </a:rPr>
              <a:t>No significant association between hour-of-day and volatility regime (p &gt;= 0.05). Holt-Winters' own seasonal parameter converges to ~0 independently - two different methods agreeing time-of-day isn't real signal here.</a:t>
            </a:r>
          </a:p>
        </p:txBody>
      </p:sp>
      <p:sp>
        <p:nvSpPr>
          <p:cNvPr id="17" name="Rectangle 16"/>
          <p:cNvSpPr/>
          <p:nvPr/>
        </p:nvSpPr>
        <p:spPr>
          <a:xfrm>
            <a:off x="502920" y="5074920"/>
            <a:ext cx="10744200" cy="960120"/>
          </a:xfrm>
          <a:prstGeom prst="rect">
            <a:avLst/>
          </a:prstGeom>
          <a:solidFill>
            <a:srgbClr val="1417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02920" y="5074920"/>
            <a:ext cx="45720" cy="960120"/>
          </a:xfrm>
          <a:prstGeom prst="rect">
            <a:avLst/>
          </a:prstGeom>
          <a:solidFill>
            <a:srgbClr val="5B7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7240" y="5202936"/>
            <a:ext cx="10195560" cy="274320"/>
          </a:xfrm>
          <a:prstGeom prst="rect">
            <a:avLst/>
          </a:prstGeom>
          <a:noFill/>
        </p:spPr>
        <p:txBody>
          <a:bodyPr wrap="square" anchor="t" lIns="0" rIns="0" tIns="0" bIns="0">
            <a:spAutoFit/>
          </a:bodyPr>
          <a:lstStyle/>
          <a:p>
            <a:pPr algn="l">
              <a:lnSpc>
                <a:spcPct val="100000"/>
              </a:lnSpc>
              <a:spcAft>
                <a:spcPts val="0"/>
              </a:spcAft>
            </a:pPr>
            <a:r>
              <a:rPr sz="1250" b="1" i="0">
                <a:solidFill>
                  <a:srgbClr val="5B7FA8"/>
                </a:solidFill>
                <a:latin typeface="Calibri"/>
              </a:rPr>
              <a:t>TAKEAWAY</a:t>
            </a:r>
          </a:p>
        </p:txBody>
      </p:sp>
      <p:sp>
        <p:nvSpPr>
          <p:cNvPr id="20" name="TextBox 19"/>
          <p:cNvSpPr txBox="1"/>
          <p:nvPr/>
        </p:nvSpPr>
        <p:spPr>
          <a:xfrm>
            <a:off x="777240" y="5495544"/>
            <a:ext cx="10195560" cy="411480"/>
          </a:xfrm>
          <a:prstGeom prst="rect">
            <a:avLst/>
          </a:prstGeom>
          <a:noFill/>
        </p:spPr>
        <p:txBody>
          <a:bodyPr wrap="square" anchor="t" lIns="0" rIns="0" tIns="0" bIns="0">
            <a:spAutoFit/>
          </a:bodyPr>
          <a:lstStyle/>
          <a:p>
            <a:pPr algn="l">
              <a:lnSpc>
                <a:spcPct val="115000"/>
              </a:lnSpc>
              <a:spcAft>
                <a:spcPts val="0"/>
              </a:spcAft>
            </a:pPr>
            <a:r>
              <a:rPr sz="1300" b="0" i="0">
                <a:solidFill>
                  <a:srgbClr val="A9AFBC"/>
                </a:solidFill>
                <a:latin typeface="Calibri"/>
              </a:rPr>
              <a:t>Volatility's own recent history carries real signal; the calendar (hour, day-of-week) does not. This is exactly why HAR-RV-X's regressors are all volatility measures, not time-of-day features.</a:t>
            </a:r>
          </a:p>
        </p:txBody>
      </p:sp>
      <p:sp>
        <p:nvSpPr>
          <p:cNvPr id="21" name="TextBox 20"/>
          <p:cNvSpPr txBox="1"/>
          <p:nvPr/>
        </p:nvSpPr>
        <p:spPr>
          <a:xfrm>
            <a:off x="11612880" y="6492240"/>
            <a:ext cx="457200" cy="274320"/>
          </a:xfrm>
          <a:prstGeom prst="rect">
            <a:avLst/>
          </a:prstGeom>
          <a:noFill/>
        </p:spPr>
        <p:txBody>
          <a:bodyPr wrap="square" anchor="t" lIns="0" rIns="0" tIns="0" bIns="0">
            <a:spAutoFit/>
          </a:bodyPr>
          <a:lstStyle/>
          <a:p>
            <a:pPr algn="r">
              <a:lnSpc>
                <a:spcPct val="100000"/>
              </a:lnSpc>
              <a:spcAft>
                <a:spcPts val="0"/>
              </a:spcAft>
            </a:pPr>
            <a:r>
              <a:rPr sz="1100" b="0" i="0">
                <a:solidFill>
                  <a:srgbClr val="777E8C"/>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457200"/>
            <a:ext cx="54864" cy="384048"/>
          </a:xfrm>
          <a:prstGeom prst="rect">
            <a:avLst/>
          </a:prstGeom>
          <a:solidFill>
            <a:srgbClr val="E8C9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384048"/>
            <a:ext cx="9601200" cy="502920"/>
          </a:xfrm>
          <a:prstGeom prst="rect">
            <a:avLst/>
          </a:prstGeom>
          <a:noFill/>
        </p:spPr>
        <p:txBody>
          <a:bodyPr wrap="square" anchor="t" lIns="0" rIns="0" tIns="0" bIns="0">
            <a:spAutoFit/>
          </a:bodyPr>
          <a:lstStyle/>
          <a:p>
            <a:pPr algn="l">
              <a:lnSpc>
                <a:spcPct val="100000"/>
              </a:lnSpc>
              <a:spcAft>
                <a:spcPts val="0"/>
              </a:spcAft>
            </a:pPr>
            <a:r>
              <a:rPr sz="2700" b="1" i="0">
                <a:solidFill>
                  <a:srgbClr val="FFFFFF"/>
                </a:solidFill>
                <a:latin typeface="Calibri"/>
              </a:rPr>
              <a:t>EDA: Range &amp; Dispersion Features</a:t>
            </a:r>
          </a:p>
        </p:txBody>
      </p:sp>
      <p:sp>
        <p:nvSpPr>
          <p:cNvPr id="5" name="TextBox 4"/>
          <p:cNvSpPr txBox="1"/>
          <p:nvPr/>
        </p:nvSpPr>
        <p:spPr>
          <a:xfrm>
            <a:off x="685800" y="868680"/>
            <a:ext cx="10515600" cy="365760"/>
          </a:xfrm>
          <a:prstGeom prst="rect">
            <a:avLst/>
          </a:prstGeom>
          <a:noFill/>
        </p:spPr>
        <p:txBody>
          <a:bodyPr wrap="square" anchor="t" lIns="0" rIns="0" tIns="0" bIns="0">
            <a:spAutoFit/>
          </a:bodyPr>
          <a:lstStyle/>
          <a:p>
            <a:pPr algn="l">
              <a:lnSpc>
                <a:spcPct val="100000"/>
              </a:lnSpc>
              <a:spcAft>
                <a:spcPts val="0"/>
              </a:spcAft>
            </a:pPr>
            <a:r>
              <a:rPr sz="1350" b="0" i="0">
                <a:solidFill>
                  <a:srgbClr val="A9AFBC"/>
                </a:solidFill>
                <a:latin typeface="Calibri"/>
              </a:rPr>
              <a:t>Range-based measures (ATR, Bollinger width) vs. the target.</a:t>
            </a:r>
          </a:p>
        </p:txBody>
      </p:sp>
      <p:sp>
        <p:nvSpPr>
          <p:cNvPr id="6" name="Rectangle 5"/>
          <p:cNvSpPr/>
          <p:nvPr/>
        </p:nvSpPr>
        <p:spPr>
          <a:xfrm>
            <a:off x="502920" y="1554480"/>
            <a:ext cx="41148" cy="777240"/>
          </a:xfrm>
          <a:prstGeom prst="rect">
            <a:avLst/>
          </a:prstGeom>
          <a:solidFill>
            <a:srgbClr val="E8C9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554480"/>
            <a:ext cx="5120640" cy="292608"/>
          </a:xfrm>
          <a:prstGeom prst="rect">
            <a:avLst/>
          </a:prstGeom>
          <a:noFill/>
        </p:spPr>
        <p:txBody>
          <a:bodyPr wrap="square" anchor="t" lIns="0" rIns="0" tIns="0" bIns="0">
            <a:spAutoFit/>
          </a:bodyPr>
          <a:lstStyle/>
          <a:p>
            <a:pPr algn="l">
              <a:lnSpc>
                <a:spcPct val="100000"/>
              </a:lnSpc>
              <a:spcAft>
                <a:spcPts val="0"/>
              </a:spcAft>
            </a:pPr>
            <a:r>
              <a:rPr sz="1350" b="1" i="0">
                <a:solidFill>
                  <a:srgbClr val="FFFFFF"/>
                </a:solidFill>
                <a:latin typeface="Calibri"/>
              </a:rPr>
              <a:t>Two Independent-Looking Measures</a:t>
            </a:r>
          </a:p>
        </p:txBody>
      </p:sp>
      <p:sp>
        <p:nvSpPr>
          <p:cNvPr id="8" name="TextBox 7"/>
          <p:cNvSpPr txBox="1"/>
          <p:nvPr/>
        </p:nvSpPr>
        <p:spPr>
          <a:xfrm>
            <a:off x="731520" y="1865376"/>
            <a:ext cx="5120640" cy="502920"/>
          </a:xfrm>
          <a:prstGeom prst="rect">
            <a:avLst/>
          </a:prstGeom>
          <a:noFill/>
        </p:spPr>
        <p:txBody>
          <a:bodyPr wrap="square" anchor="t" lIns="0" rIns="0" tIns="0" bIns="0">
            <a:spAutoFit/>
          </a:bodyPr>
          <a:lstStyle/>
          <a:p>
            <a:pPr algn="l">
              <a:lnSpc>
                <a:spcPct val="110000"/>
              </a:lnSpc>
              <a:spcAft>
                <a:spcPts val="0"/>
              </a:spcAft>
            </a:pPr>
            <a:r>
              <a:rPr sz="1150" b="0" i="0">
                <a:solidFill>
                  <a:srgbClr val="A9AFBC"/>
                </a:solidFill>
                <a:latin typeface="Calibri"/>
              </a:rPr>
              <a:t>ATR and Bollinger width are both built from intraday high/low ranges, not close-to-close returns - a genuinely different signal from simple returns.</a:t>
            </a:r>
          </a:p>
        </p:txBody>
      </p:sp>
      <p:sp>
        <p:nvSpPr>
          <p:cNvPr id="9" name="Rectangle 8"/>
          <p:cNvSpPr/>
          <p:nvPr/>
        </p:nvSpPr>
        <p:spPr>
          <a:xfrm>
            <a:off x="502920" y="2514600"/>
            <a:ext cx="41148" cy="777240"/>
          </a:xfrm>
          <a:prstGeom prst="rect">
            <a:avLst/>
          </a:prstGeom>
          <a:solidFill>
            <a:srgbClr val="E8C9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2514600"/>
            <a:ext cx="5120640" cy="292608"/>
          </a:xfrm>
          <a:prstGeom prst="rect">
            <a:avLst/>
          </a:prstGeom>
          <a:noFill/>
        </p:spPr>
        <p:txBody>
          <a:bodyPr wrap="square" anchor="t" lIns="0" rIns="0" tIns="0" bIns="0">
            <a:spAutoFit/>
          </a:bodyPr>
          <a:lstStyle/>
          <a:p>
            <a:pPr algn="l">
              <a:lnSpc>
                <a:spcPct val="100000"/>
              </a:lnSpc>
              <a:spcAft>
                <a:spcPts val="0"/>
              </a:spcAft>
            </a:pPr>
            <a:r>
              <a:rPr sz="1350" b="1" i="0">
                <a:solidFill>
                  <a:srgbClr val="FFFFFF"/>
                </a:solidFill>
                <a:latin typeface="Calibri"/>
              </a:rPr>
              <a:t>Correlation With Target</a:t>
            </a:r>
          </a:p>
        </p:txBody>
      </p:sp>
      <p:sp>
        <p:nvSpPr>
          <p:cNvPr id="11" name="TextBox 10"/>
          <p:cNvSpPr txBox="1"/>
          <p:nvPr/>
        </p:nvSpPr>
        <p:spPr>
          <a:xfrm>
            <a:off x="731520" y="2825496"/>
            <a:ext cx="5120640" cy="502920"/>
          </a:xfrm>
          <a:prstGeom prst="rect">
            <a:avLst/>
          </a:prstGeom>
          <a:noFill/>
        </p:spPr>
        <p:txBody>
          <a:bodyPr wrap="square" anchor="t" lIns="0" rIns="0" tIns="0" bIns="0">
            <a:spAutoFit/>
          </a:bodyPr>
          <a:lstStyle/>
          <a:p>
            <a:pPr algn="l">
              <a:lnSpc>
                <a:spcPct val="110000"/>
              </a:lnSpc>
              <a:spcAft>
                <a:spcPts val="0"/>
              </a:spcAft>
            </a:pPr>
            <a:r>
              <a:rPr sz="1150" b="0" i="0">
                <a:solidFill>
                  <a:srgbClr val="A9AFBC"/>
                </a:solidFill>
                <a:latin typeface="Calibri"/>
              </a:rPr>
              <a:t>bb_width correlates at +0.588; atr_14 at +0.142. Both real, but likely overlapping with each other, not two independent sources of signal.</a:t>
            </a:r>
          </a:p>
        </p:txBody>
      </p:sp>
      <p:sp>
        <p:nvSpPr>
          <p:cNvPr id="12" name="Rectangle 11"/>
          <p:cNvSpPr/>
          <p:nvPr/>
        </p:nvSpPr>
        <p:spPr>
          <a:xfrm>
            <a:off x="502920" y="3474720"/>
            <a:ext cx="41148" cy="777240"/>
          </a:xfrm>
          <a:prstGeom prst="rect">
            <a:avLst/>
          </a:prstGeom>
          <a:solidFill>
            <a:srgbClr val="E8C9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3474720"/>
            <a:ext cx="5120640" cy="292608"/>
          </a:xfrm>
          <a:prstGeom prst="rect">
            <a:avLst/>
          </a:prstGeom>
          <a:noFill/>
        </p:spPr>
        <p:txBody>
          <a:bodyPr wrap="square" anchor="t" lIns="0" rIns="0" tIns="0" bIns="0">
            <a:spAutoFit/>
          </a:bodyPr>
          <a:lstStyle/>
          <a:p>
            <a:pPr algn="l">
              <a:lnSpc>
                <a:spcPct val="100000"/>
              </a:lnSpc>
              <a:spcAft>
                <a:spcPts val="0"/>
              </a:spcAft>
            </a:pPr>
            <a:r>
              <a:rPr sz="1350" b="1" i="0">
                <a:solidFill>
                  <a:srgbClr val="FFFFFF"/>
                </a:solidFill>
                <a:latin typeface="Calibri"/>
              </a:rPr>
              <a:t>Redundancy, Not Independence</a:t>
            </a:r>
          </a:p>
        </p:txBody>
      </p:sp>
      <p:sp>
        <p:nvSpPr>
          <p:cNvPr id="14" name="TextBox 13"/>
          <p:cNvSpPr txBox="1"/>
          <p:nvPr/>
        </p:nvSpPr>
        <p:spPr>
          <a:xfrm>
            <a:off x="731520" y="3785615"/>
            <a:ext cx="5120640" cy="502920"/>
          </a:xfrm>
          <a:prstGeom prst="rect">
            <a:avLst/>
          </a:prstGeom>
          <a:noFill/>
        </p:spPr>
        <p:txBody>
          <a:bodyPr wrap="square" anchor="t" lIns="0" rIns="0" tIns="0" bIns="0">
            <a:spAutoFit/>
          </a:bodyPr>
          <a:lstStyle/>
          <a:p>
            <a:pPr algn="l">
              <a:lnSpc>
                <a:spcPct val="110000"/>
              </a:lnSpc>
              <a:spcAft>
                <a:spcPts val="0"/>
              </a:spcAft>
            </a:pPr>
            <a:r>
              <a:rPr sz="1150" b="0" i="0">
                <a:solidFill>
                  <a:srgbClr val="A9AFBC"/>
                </a:solidFill>
                <a:latin typeface="Calibri"/>
              </a:rPr>
              <a:t>Bollinger width is largely redundant with ATR - both are range-based dispersion measures built from the same underlying price action.</a:t>
            </a:r>
          </a:p>
        </p:txBody>
      </p:sp>
      <p:sp>
        <p:nvSpPr>
          <p:cNvPr id="15" name="Rectangle 14"/>
          <p:cNvSpPr/>
          <p:nvPr/>
        </p:nvSpPr>
        <p:spPr>
          <a:xfrm>
            <a:off x="502920" y="4709160"/>
            <a:ext cx="5577840" cy="1188720"/>
          </a:xfrm>
          <a:prstGeom prst="rect">
            <a:avLst/>
          </a:prstGeom>
          <a:solidFill>
            <a:srgbClr val="1417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02920" y="4709160"/>
            <a:ext cx="45720" cy="1188720"/>
          </a:xfrm>
          <a:prstGeom prst="rect">
            <a:avLst/>
          </a:prstGeom>
          <a:solidFill>
            <a:srgbClr val="E8C9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4837176"/>
            <a:ext cx="5029200" cy="274320"/>
          </a:xfrm>
          <a:prstGeom prst="rect">
            <a:avLst/>
          </a:prstGeom>
          <a:noFill/>
        </p:spPr>
        <p:txBody>
          <a:bodyPr wrap="square" anchor="t" lIns="0" rIns="0" tIns="0" bIns="0">
            <a:spAutoFit/>
          </a:bodyPr>
          <a:lstStyle/>
          <a:p>
            <a:pPr algn="l">
              <a:lnSpc>
                <a:spcPct val="100000"/>
              </a:lnSpc>
              <a:spcAft>
                <a:spcPts val="0"/>
              </a:spcAft>
            </a:pPr>
            <a:r>
              <a:rPr sz="1250" b="1" i="0">
                <a:solidFill>
                  <a:srgbClr val="E8C99B"/>
                </a:solidFill>
                <a:latin typeface="Calibri"/>
              </a:rPr>
              <a:t>EDA TAKEAWAY</a:t>
            </a:r>
          </a:p>
        </p:txBody>
      </p:sp>
      <p:sp>
        <p:nvSpPr>
          <p:cNvPr id="18" name="TextBox 17"/>
          <p:cNvSpPr txBox="1"/>
          <p:nvPr/>
        </p:nvSpPr>
        <p:spPr>
          <a:xfrm>
            <a:off x="777240" y="5129784"/>
            <a:ext cx="5029200" cy="640080"/>
          </a:xfrm>
          <a:prstGeom prst="rect">
            <a:avLst/>
          </a:prstGeom>
          <a:noFill/>
        </p:spPr>
        <p:txBody>
          <a:bodyPr wrap="square" anchor="t" lIns="0" rIns="0" tIns="0" bIns="0">
            <a:spAutoFit/>
          </a:bodyPr>
          <a:lstStyle/>
          <a:p>
            <a:pPr algn="l">
              <a:lnSpc>
                <a:spcPct val="115000"/>
              </a:lnSpc>
              <a:spcAft>
                <a:spcPts val="0"/>
              </a:spcAft>
            </a:pPr>
            <a:r>
              <a:rPr sz="1300" b="0" i="0">
                <a:solidFill>
                  <a:srgbClr val="A9AFBC"/>
                </a:solidFill>
                <a:latin typeface="Calibri"/>
              </a:rPr>
              <a:t>Range-based features carry the strongest raw correlation with the target of anything tested - but that signal is concentrated, not spread across many independent features.</a:t>
            </a:r>
          </a:p>
        </p:txBody>
      </p:sp>
      <p:graphicFrame>
        <p:nvGraphicFramePr>
          <p:cNvPr id="19" name="Table 18"/>
          <p:cNvGraphicFramePr>
            <a:graphicFrameLocks noGrp="1"/>
          </p:cNvGraphicFramePr>
          <p:nvPr/>
        </p:nvGraphicFramePr>
        <p:xfrm>
          <a:off x="6400800" y="1554480"/>
          <a:ext cx="4892040" cy="1152144"/>
        </p:xfrm>
        <a:graphic>
          <a:graphicData uri="http://schemas.openxmlformats.org/drawingml/2006/table">
            <a:tbl>
              <a:tblPr firstRow="0" bandRow="0">
                <a:tableStyleId>{5C22544A-7EE6-4342-B048-85BDC9FD1C3A}</a:tableStyleId>
              </a:tblPr>
              <a:tblGrid>
                <a:gridCol w="2606040"/>
                <a:gridCol w="2286000"/>
              </a:tblGrid>
              <a:tr h="384048">
                <a:tc>
                  <a:txBody>
                    <a:bodyPr wrap="square"/>
                    <a:lstStyle/>
                    <a:p>
                      <a:r>
                        <a:rPr sz="1400" b="1">
                          <a:solidFill>
                            <a:srgbClr val="FFFFFF"/>
                          </a:solidFill>
                          <a:latin typeface="Calibri"/>
                        </a:rPr>
                        <a:t>Feature</a:t>
                      </a:r>
                    </a:p>
                  </a:txBody>
                  <a:tcPr marL="109728" marR="109728" marT="36576" marB="36576" anchor="ctr">
                    <a:solidFill>
                      <a:srgbClr val="000000"/>
                    </a:solidFill>
                  </a:tcPr>
                </a:tc>
                <a:tc>
                  <a:txBody>
                    <a:bodyPr wrap="square"/>
                    <a:lstStyle/>
                    <a:p>
                      <a:r>
                        <a:rPr sz="1400" b="1">
                          <a:solidFill>
                            <a:srgbClr val="FFFFFF"/>
                          </a:solidFill>
                          <a:latin typeface="Calibri"/>
                        </a:rPr>
                        <a:t>Correlation with Target</a:t>
                      </a:r>
                    </a:p>
                  </a:txBody>
                  <a:tcPr marL="109728" marR="109728" marT="36576" marB="36576" anchor="ctr">
                    <a:solidFill>
                      <a:srgbClr val="000000"/>
                    </a:solidFill>
                  </a:tcPr>
                </a:tc>
              </a:tr>
              <a:tr h="384048">
                <a:tc>
                  <a:txBody>
                    <a:bodyPr wrap="square"/>
                    <a:lstStyle/>
                    <a:p>
                      <a:r>
                        <a:rPr sz="1300" b="0">
                          <a:solidFill>
                            <a:srgbClr val="A9AFBC"/>
                          </a:solidFill>
                          <a:latin typeface="Calibri"/>
                        </a:rPr>
                        <a:t>bb_width</a:t>
                      </a:r>
                    </a:p>
                  </a:txBody>
                  <a:tcPr marL="109728" marR="109728" marT="36576" marB="36576" anchor="ctr">
                    <a:solidFill>
                      <a:srgbClr val="12151C"/>
                    </a:solidFill>
                  </a:tcPr>
                </a:tc>
                <a:tc>
                  <a:txBody>
                    <a:bodyPr wrap="square"/>
                    <a:lstStyle/>
                    <a:p>
                      <a:r>
                        <a:rPr sz="1300" b="0">
                          <a:solidFill>
                            <a:srgbClr val="A9AFBC"/>
                          </a:solidFill>
                          <a:latin typeface="Calibri"/>
                        </a:rPr>
                        <a:t>+0.588</a:t>
                      </a:r>
                    </a:p>
                  </a:txBody>
                  <a:tcPr marL="109728" marR="109728" marT="36576" marB="36576" anchor="ctr">
                    <a:solidFill>
                      <a:srgbClr val="12151C"/>
                    </a:solidFill>
                  </a:tcPr>
                </a:tc>
              </a:tr>
              <a:tr h="384048">
                <a:tc>
                  <a:txBody>
                    <a:bodyPr wrap="square"/>
                    <a:lstStyle/>
                    <a:p>
                      <a:r>
                        <a:rPr sz="1300" b="0">
                          <a:solidFill>
                            <a:srgbClr val="A9AFBC"/>
                          </a:solidFill>
                          <a:latin typeface="Calibri"/>
                        </a:rPr>
                        <a:t>atr_14</a:t>
                      </a:r>
                    </a:p>
                  </a:txBody>
                  <a:tcPr marL="109728" marR="109728" marT="36576" marB="36576" anchor="ctr">
                    <a:solidFill>
                      <a:srgbClr val="0E1117"/>
                    </a:solidFill>
                  </a:tcPr>
                </a:tc>
                <a:tc>
                  <a:txBody>
                    <a:bodyPr wrap="square"/>
                    <a:lstStyle/>
                    <a:p>
                      <a:r>
                        <a:rPr sz="1300" b="0">
                          <a:solidFill>
                            <a:srgbClr val="A9AFBC"/>
                          </a:solidFill>
                          <a:latin typeface="Calibri"/>
                        </a:rPr>
                        <a:t>+0.142</a:t>
                      </a:r>
                    </a:p>
                  </a:txBody>
                  <a:tcPr marL="109728" marR="109728" marT="36576" marB="36576" anchor="ctr">
                    <a:solidFill>
                      <a:srgbClr val="0E1117"/>
                    </a:solidFill>
                  </a:tcPr>
                </a:tc>
              </a:tr>
            </a:tbl>
          </a:graphicData>
        </a:graphic>
      </p:graphicFrame>
      <p:sp>
        <p:nvSpPr>
          <p:cNvPr id="20" name="TextBox 19"/>
          <p:cNvSpPr txBox="1"/>
          <p:nvPr/>
        </p:nvSpPr>
        <p:spPr>
          <a:xfrm>
            <a:off x="6400800" y="3246120"/>
            <a:ext cx="4892040" cy="2286000"/>
          </a:xfrm>
          <a:prstGeom prst="rect">
            <a:avLst/>
          </a:prstGeom>
          <a:noFill/>
        </p:spPr>
        <p:txBody>
          <a:bodyPr wrap="square" anchor="t" lIns="0" rIns="0" tIns="0" bIns="0">
            <a:spAutoFit/>
          </a:bodyPr>
          <a:lstStyle/>
          <a:p>
            <a:pPr algn="l">
              <a:lnSpc>
                <a:spcPct val="125000"/>
              </a:lnSpc>
              <a:spcAft>
                <a:spcPts val="0"/>
              </a:spcAft>
            </a:pPr>
            <a:r>
              <a:rPr sz="1250" b="0" i="0">
                <a:solidFill>
                  <a:srgbClr val="A9AFBC"/>
                </a:solidFill>
                <a:latin typeface="Calibri"/>
              </a:rPr>
              <a:t>Both range measures show dependence with the target, but bb_width's strength is mostly explained by its overlap with atr_14, not by adding new information. This is confirmed directly in Feature Selection (next).</a:t>
            </a:r>
          </a:p>
        </p:txBody>
      </p:sp>
      <p:sp>
        <p:nvSpPr>
          <p:cNvPr id="21" name="TextBox 20"/>
          <p:cNvSpPr txBox="1"/>
          <p:nvPr/>
        </p:nvSpPr>
        <p:spPr>
          <a:xfrm>
            <a:off x="11612880" y="6492240"/>
            <a:ext cx="457200" cy="274320"/>
          </a:xfrm>
          <a:prstGeom prst="rect">
            <a:avLst/>
          </a:prstGeom>
          <a:noFill/>
        </p:spPr>
        <p:txBody>
          <a:bodyPr wrap="square" anchor="t" lIns="0" rIns="0" tIns="0" bIns="0">
            <a:spAutoFit/>
          </a:bodyPr>
          <a:lstStyle/>
          <a:p>
            <a:pPr algn="r">
              <a:lnSpc>
                <a:spcPct val="100000"/>
              </a:lnSpc>
              <a:spcAft>
                <a:spcPts val="0"/>
              </a:spcAft>
            </a:pPr>
            <a:r>
              <a:rPr sz="1100" b="0" i="0">
                <a:solidFill>
                  <a:srgbClr val="777E8C"/>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457200"/>
            <a:ext cx="54864" cy="384048"/>
          </a:xfrm>
          <a:prstGeom prst="rect">
            <a:avLst/>
          </a:prstGeom>
          <a:solidFill>
            <a:srgbClr val="E8C9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384048"/>
            <a:ext cx="9601200" cy="502920"/>
          </a:xfrm>
          <a:prstGeom prst="rect">
            <a:avLst/>
          </a:prstGeom>
          <a:noFill/>
        </p:spPr>
        <p:txBody>
          <a:bodyPr wrap="square" anchor="t" lIns="0" rIns="0" tIns="0" bIns="0">
            <a:spAutoFit/>
          </a:bodyPr>
          <a:lstStyle/>
          <a:p>
            <a:pPr algn="l">
              <a:lnSpc>
                <a:spcPct val="100000"/>
              </a:lnSpc>
              <a:spcAft>
                <a:spcPts val="0"/>
              </a:spcAft>
            </a:pPr>
            <a:r>
              <a:rPr sz="2700" b="1" i="0">
                <a:solidFill>
                  <a:srgbClr val="FFFFFF"/>
                </a:solidFill>
                <a:latin typeface="Calibri"/>
              </a:rPr>
              <a:t>EDA: Volatility Clustering</a:t>
            </a:r>
          </a:p>
        </p:txBody>
      </p:sp>
      <p:sp>
        <p:nvSpPr>
          <p:cNvPr id="5" name="TextBox 4"/>
          <p:cNvSpPr txBox="1"/>
          <p:nvPr/>
        </p:nvSpPr>
        <p:spPr>
          <a:xfrm>
            <a:off x="685800" y="868680"/>
            <a:ext cx="10515600" cy="365760"/>
          </a:xfrm>
          <a:prstGeom prst="rect">
            <a:avLst/>
          </a:prstGeom>
          <a:noFill/>
        </p:spPr>
        <p:txBody>
          <a:bodyPr wrap="square" anchor="t" lIns="0" rIns="0" tIns="0" bIns="0">
            <a:spAutoFit/>
          </a:bodyPr>
          <a:lstStyle/>
          <a:p>
            <a:pPr algn="l">
              <a:lnSpc>
                <a:spcPct val="100000"/>
              </a:lnSpc>
              <a:spcAft>
                <a:spcPts val="0"/>
              </a:spcAft>
            </a:pPr>
            <a:r>
              <a:rPr sz="1350" b="0" i="0">
                <a:solidFill>
                  <a:srgbClr val="A9AFBC"/>
                </a:solidFill>
                <a:latin typeface="Calibri"/>
              </a:rPr>
              <a:t>Do calm and turbulent periods actually separate cleanly?</a:t>
            </a:r>
          </a:p>
        </p:txBody>
      </p:sp>
      <p:sp>
        <p:nvSpPr>
          <p:cNvPr id="6" name="TextBox 5"/>
          <p:cNvSpPr txBox="1"/>
          <p:nvPr/>
        </p:nvSpPr>
        <p:spPr>
          <a:xfrm>
            <a:off x="502920" y="1600200"/>
            <a:ext cx="10607040" cy="822960"/>
          </a:xfrm>
          <a:prstGeom prst="rect">
            <a:avLst/>
          </a:prstGeom>
          <a:noFill/>
        </p:spPr>
        <p:txBody>
          <a:bodyPr wrap="square" anchor="t" lIns="0" rIns="0" tIns="0" bIns="0">
            <a:spAutoFit/>
          </a:bodyPr>
          <a:lstStyle/>
          <a:p>
            <a:pPr algn="ctr">
              <a:lnSpc>
                <a:spcPct val="130000"/>
              </a:lnSpc>
              <a:spcAft>
                <a:spcPts val="0"/>
              </a:spcAft>
            </a:pPr>
            <a:r>
              <a:rPr sz="1400" b="0" i="1">
                <a:solidFill>
                  <a:srgbClr val="A9AFBC"/>
                </a:solidFill>
                <a:latin typeface="Calibri"/>
              </a:rPr>
              <a:t>Certain stretches of history show clearly higher volatility than others, and the target's fat right tail (long calm stretches, sharp spikes) is visible directly in its own distribution (Slide 4). But the boundary between “calm” and “turbulent” is fuzzy, not sharp: regimes cluster in time, but overlap substantially at any given threshold.</a:t>
            </a:r>
          </a:p>
        </p:txBody>
      </p:sp>
      <p:pic>
        <p:nvPicPr>
          <p:cNvPr id="7" name="Picture 6" descr="vol_hist.png"/>
          <p:cNvPicPr>
            <a:picLocks noChangeAspect="1"/>
          </p:cNvPicPr>
          <p:nvPr/>
        </p:nvPicPr>
        <p:blipFill>
          <a:blip r:embed="rId2"/>
          <a:stretch>
            <a:fillRect/>
          </a:stretch>
        </p:blipFill>
        <p:spPr>
          <a:xfrm>
            <a:off x="3337560" y="2606040"/>
            <a:ext cx="5486400" cy="3063240"/>
          </a:xfrm>
          <a:prstGeom prst="rect">
            <a:avLst/>
          </a:prstGeom>
        </p:spPr>
      </p:pic>
      <p:sp>
        <p:nvSpPr>
          <p:cNvPr id="8" name="Rectangle 7"/>
          <p:cNvSpPr/>
          <p:nvPr/>
        </p:nvSpPr>
        <p:spPr>
          <a:xfrm>
            <a:off x="502920" y="5806440"/>
            <a:ext cx="11155680" cy="914400"/>
          </a:xfrm>
          <a:prstGeom prst="rect">
            <a:avLst/>
          </a:prstGeom>
          <a:solidFill>
            <a:srgbClr val="1417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5806440"/>
            <a:ext cx="45720" cy="914400"/>
          </a:xfrm>
          <a:prstGeom prst="rect">
            <a:avLst/>
          </a:prstGeom>
          <a:solidFill>
            <a:srgbClr val="5B7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5934456"/>
            <a:ext cx="10607040" cy="274320"/>
          </a:xfrm>
          <a:prstGeom prst="rect">
            <a:avLst/>
          </a:prstGeom>
          <a:noFill/>
        </p:spPr>
        <p:txBody>
          <a:bodyPr wrap="square" anchor="t" lIns="0" rIns="0" tIns="0" bIns="0">
            <a:spAutoFit/>
          </a:bodyPr>
          <a:lstStyle/>
          <a:p>
            <a:pPr algn="l">
              <a:lnSpc>
                <a:spcPct val="100000"/>
              </a:lnSpc>
              <a:spcAft>
                <a:spcPts val="0"/>
              </a:spcAft>
            </a:pPr>
            <a:r>
              <a:rPr sz="1250" b="1" i="0">
                <a:solidFill>
                  <a:srgbClr val="5B7FA8"/>
                </a:solidFill>
                <a:latin typeface="Calibri"/>
              </a:rPr>
              <a:t>TAKEAWAY</a:t>
            </a:r>
          </a:p>
        </p:txBody>
      </p:sp>
      <p:sp>
        <p:nvSpPr>
          <p:cNvPr id="11" name="TextBox 10"/>
          <p:cNvSpPr txBox="1"/>
          <p:nvPr/>
        </p:nvSpPr>
        <p:spPr>
          <a:xfrm>
            <a:off x="777240" y="6227064"/>
            <a:ext cx="10607040" cy="365760"/>
          </a:xfrm>
          <a:prstGeom prst="rect">
            <a:avLst/>
          </a:prstGeom>
          <a:noFill/>
        </p:spPr>
        <p:txBody>
          <a:bodyPr wrap="square" anchor="t" lIns="0" rIns="0" tIns="0" bIns="0">
            <a:spAutoFit/>
          </a:bodyPr>
          <a:lstStyle/>
          <a:p>
            <a:pPr algn="l">
              <a:lnSpc>
                <a:spcPct val="115000"/>
              </a:lnSpc>
              <a:spcAft>
                <a:spcPts val="0"/>
              </a:spcAft>
            </a:pPr>
            <a:r>
              <a:rPr sz="1300" b="0" i="0">
                <a:solidFill>
                  <a:srgbClr val="A9AFBC"/>
                </a:solidFill>
                <a:latin typeface="Calibri"/>
              </a:rPr>
              <a:t>Clustering is real and exploitable (HAR-RV-X leans on it directly), but it does not uniquely determine severity - a ceiling on achievable accuracy, not a guarantee of it.</a:t>
            </a:r>
          </a:p>
        </p:txBody>
      </p:sp>
      <p:sp>
        <p:nvSpPr>
          <p:cNvPr id="12" name="TextBox 11"/>
          <p:cNvSpPr txBox="1"/>
          <p:nvPr/>
        </p:nvSpPr>
        <p:spPr>
          <a:xfrm>
            <a:off x="11612880" y="6492240"/>
            <a:ext cx="457200" cy="274320"/>
          </a:xfrm>
          <a:prstGeom prst="rect">
            <a:avLst/>
          </a:prstGeom>
          <a:noFill/>
        </p:spPr>
        <p:txBody>
          <a:bodyPr wrap="square" anchor="t" lIns="0" rIns="0" tIns="0" bIns="0">
            <a:spAutoFit/>
          </a:bodyPr>
          <a:lstStyle/>
          <a:p>
            <a:pPr algn="r">
              <a:lnSpc>
                <a:spcPct val="100000"/>
              </a:lnSpc>
              <a:spcAft>
                <a:spcPts val="0"/>
              </a:spcAft>
            </a:pPr>
            <a:r>
              <a:rPr sz="1100" b="0" i="0">
                <a:solidFill>
                  <a:srgbClr val="777E8C"/>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457200"/>
            <a:ext cx="54864" cy="384048"/>
          </a:xfrm>
          <a:prstGeom prst="rect">
            <a:avLst/>
          </a:prstGeom>
          <a:solidFill>
            <a:srgbClr val="E8C9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384048"/>
            <a:ext cx="9601200" cy="502920"/>
          </a:xfrm>
          <a:prstGeom prst="rect">
            <a:avLst/>
          </a:prstGeom>
          <a:noFill/>
        </p:spPr>
        <p:txBody>
          <a:bodyPr wrap="square" anchor="t" lIns="0" rIns="0" tIns="0" bIns="0">
            <a:spAutoFit/>
          </a:bodyPr>
          <a:lstStyle/>
          <a:p>
            <a:pPr algn="l">
              <a:lnSpc>
                <a:spcPct val="100000"/>
              </a:lnSpc>
              <a:spcAft>
                <a:spcPts val="0"/>
              </a:spcAft>
            </a:pPr>
            <a:r>
              <a:rPr sz="2700" b="1" i="0">
                <a:solidFill>
                  <a:srgbClr val="FFFFFF"/>
                </a:solidFill>
                <a:latin typeface="Calibri"/>
              </a:rPr>
              <a:t>Feature Selection: Correlation &amp; Effect Sizes</a:t>
            </a:r>
          </a:p>
        </p:txBody>
      </p:sp>
      <p:sp>
        <p:nvSpPr>
          <p:cNvPr id="5" name="TextBox 4"/>
          <p:cNvSpPr txBox="1"/>
          <p:nvPr/>
        </p:nvSpPr>
        <p:spPr>
          <a:xfrm>
            <a:off x="502920" y="1417320"/>
            <a:ext cx="10789920" cy="548640"/>
          </a:xfrm>
          <a:prstGeom prst="rect">
            <a:avLst/>
          </a:prstGeom>
          <a:noFill/>
        </p:spPr>
        <p:txBody>
          <a:bodyPr wrap="square" anchor="t" lIns="0" rIns="0" tIns="0" bIns="0">
            <a:spAutoFit/>
          </a:bodyPr>
          <a:lstStyle/>
          <a:p>
            <a:pPr algn="l">
              <a:lnSpc>
                <a:spcPct val="105000"/>
              </a:lnSpc>
            </a:pPr>
            <a:r>
              <a:rPr sz="1300" b="1">
                <a:solidFill>
                  <a:srgbClr val="FFFFFF"/>
                </a:solidFill>
                <a:latin typeface="Calibri"/>
              </a:rPr>
              <a:t>Correlation Analysis:  </a:t>
            </a:r>
            <a:r>
              <a:rPr sz="1300" b="0">
                <a:solidFill>
                  <a:srgbClr val="A9AFBC"/>
                </a:solidFill>
                <a:latin typeface="Calibri"/>
              </a:rPr>
              <a:t>all continuous features tested against the target; Chi-Square confirms hour-of-day carries no signal (p = 1.000).</a:t>
            </a:r>
          </a:p>
        </p:txBody>
      </p:sp>
      <p:sp>
        <p:nvSpPr>
          <p:cNvPr id="6" name="TextBox 5"/>
          <p:cNvSpPr txBox="1"/>
          <p:nvPr/>
        </p:nvSpPr>
        <p:spPr>
          <a:xfrm>
            <a:off x="502920" y="2148840"/>
            <a:ext cx="5212080" cy="320040"/>
          </a:xfrm>
          <a:prstGeom prst="rect">
            <a:avLst/>
          </a:prstGeom>
          <a:noFill/>
        </p:spPr>
        <p:txBody>
          <a:bodyPr wrap="square" anchor="t" lIns="0" rIns="0" tIns="0" bIns="0">
            <a:spAutoFit/>
          </a:bodyPr>
          <a:lstStyle/>
          <a:p>
            <a:pPr algn="l">
              <a:lnSpc>
                <a:spcPct val="100000"/>
              </a:lnSpc>
              <a:spcAft>
                <a:spcPts val="0"/>
              </a:spcAft>
            </a:pPr>
            <a:r>
              <a:rPr sz="1400" b="1" i="0">
                <a:solidFill>
                  <a:srgbClr val="E8C99B"/>
                </a:solidFill>
                <a:latin typeface="Calibri"/>
              </a:rPr>
              <a:t>Retained (used by HAR-RV-X)</a:t>
            </a:r>
          </a:p>
        </p:txBody>
      </p:sp>
      <p:sp>
        <p:nvSpPr>
          <p:cNvPr id="7" name="Rectangle 6"/>
          <p:cNvSpPr/>
          <p:nvPr/>
        </p:nvSpPr>
        <p:spPr>
          <a:xfrm>
            <a:off x="502920" y="2560320"/>
            <a:ext cx="36576" cy="384048"/>
          </a:xfrm>
          <a:prstGeom prst="rect">
            <a:avLst/>
          </a:prstGeom>
          <a:solidFill>
            <a:srgbClr val="E8C9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3232" y="2560320"/>
            <a:ext cx="4937760" cy="384048"/>
          </a:xfrm>
          <a:prstGeom prst="rect">
            <a:avLst/>
          </a:prstGeom>
          <a:noFill/>
        </p:spPr>
        <p:txBody>
          <a:bodyPr wrap="square" anchor="t" lIns="0" rIns="0" tIns="0" bIns="0">
            <a:spAutoFit/>
          </a:bodyPr>
          <a:lstStyle/>
          <a:p>
            <a:pPr algn="l">
              <a:lnSpc>
                <a:spcPct val="105000"/>
              </a:lnSpc>
            </a:pPr>
            <a:r>
              <a:rPr sz="1300" b="1">
                <a:solidFill>
                  <a:srgbClr val="FFFFFF"/>
                </a:solidFill>
                <a:latin typeface="Calibri"/>
              </a:rPr>
              <a:t>RV_day / RV_week / RV_month</a:t>
            </a:r>
          </a:p>
        </p:txBody>
      </p:sp>
      <p:sp>
        <p:nvSpPr>
          <p:cNvPr id="9" name="TextBox 8"/>
          <p:cNvSpPr txBox="1"/>
          <p:nvPr/>
        </p:nvSpPr>
        <p:spPr>
          <a:xfrm>
            <a:off x="713232" y="2779776"/>
            <a:ext cx="4937760" cy="228600"/>
          </a:xfrm>
          <a:prstGeom prst="rect">
            <a:avLst/>
          </a:prstGeom>
          <a:noFill/>
        </p:spPr>
        <p:txBody>
          <a:bodyPr wrap="square" anchor="t" lIns="0" rIns="0" tIns="0" bIns="0">
            <a:spAutoFit/>
          </a:bodyPr>
          <a:lstStyle/>
          <a:p>
            <a:pPr algn="l">
              <a:lnSpc>
                <a:spcPct val="100000"/>
              </a:lnSpc>
              <a:spcAft>
                <a:spcPts val="0"/>
              </a:spcAft>
            </a:pPr>
            <a:r>
              <a:rPr sz="1050" b="0" i="0">
                <a:solidFill>
                  <a:srgbClr val="A9AFBC"/>
                </a:solidFill>
                <a:latin typeface="Calibri"/>
              </a:rPr>
              <a:t>Theoretically motivated (Corsi 2009)</a:t>
            </a:r>
          </a:p>
        </p:txBody>
      </p:sp>
      <p:sp>
        <p:nvSpPr>
          <p:cNvPr id="10" name="Rectangle 9"/>
          <p:cNvSpPr/>
          <p:nvPr/>
        </p:nvSpPr>
        <p:spPr>
          <a:xfrm>
            <a:off x="502920" y="3090672"/>
            <a:ext cx="36576" cy="384048"/>
          </a:xfrm>
          <a:prstGeom prst="rect">
            <a:avLst/>
          </a:prstGeom>
          <a:solidFill>
            <a:srgbClr val="E8C9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3232" y="3090672"/>
            <a:ext cx="4937760" cy="384048"/>
          </a:xfrm>
          <a:prstGeom prst="rect">
            <a:avLst/>
          </a:prstGeom>
          <a:noFill/>
        </p:spPr>
        <p:txBody>
          <a:bodyPr wrap="square" anchor="t" lIns="0" rIns="0" tIns="0" bIns="0">
            <a:spAutoFit/>
          </a:bodyPr>
          <a:lstStyle/>
          <a:p>
            <a:pPr algn="l">
              <a:lnSpc>
                <a:spcPct val="105000"/>
              </a:lnSpc>
            </a:pPr>
            <a:r>
              <a:rPr sz="1300" b="1">
                <a:solidFill>
                  <a:srgbClr val="FFFFFF"/>
                </a:solidFill>
                <a:latin typeface="Calibri"/>
              </a:rPr>
              <a:t>ATR_X</a:t>
            </a:r>
          </a:p>
        </p:txBody>
      </p:sp>
      <p:sp>
        <p:nvSpPr>
          <p:cNvPr id="12" name="TextBox 11"/>
          <p:cNvSpPr txBox="1"/>
          <p:nvPr/>
        </p:nvSpPr>
        <p:spPr>
          <a:xfrm>
            <a:off x="713232" y="3310128"/>
            <a:ext cx="4937760" cy="228600"/>
          </a:xfrm>
          <a:prstGeom prst="rect">
            <a:avLst/>
          </a:prstGeom>
          <a:noFill/>
        </p:spPr>
        <p:txBody>
          <a:bodyPr wrap="square" anchor="t" lIns="0" rIns="0" tIns="0" bIns="0">
            <a:spAutoFit/>
          </a:bodyPr>
          <a:lstStyle/>
          <a:p>
            <a:pPr algn="l">
              <a:lnSpc>
                <a:spcPct val="100000"/>
              </a:lnSpc>
              <a:spcAft>
                <a:spcPts val="0"/>
              </a:spcAft>
            </a:pPr>
            <a:r>
              <a:rPr sz="1050" b="0" i="0">
                <a:solidFill>
                  <a:srgbClr val="A9AFBC"/>
                </a:solidFill>
                <a:latin typeface="Calibri"/>
              </a:rPr>
              <a:t>r = 0.142, scale-fixed</a:t>
            </a:r>
          </a:p>
        </p:txBody>
      </p:sp>
      <p:sp>
        <p:nvSpPr>
          <p:cNvPr id="13" name="Rectangle 12"/>
          <p:cNvSpPr/>
          <p:nvPr/>
        </p:nvSpPr>
        <p:spPr>
          <a:xfrm>
            <a:off x="502920" y="3621024"/>
            <a:ext cx="36576" cy="384048"/>
          </a:xfrm>
          <a:prstGeom prst="rect">
            <a:avLst/>
          </a:prstGeom>
          <a:solidFill>
            <a:srgbClr val="E8C9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3232" y="3621024"/>
            <a:ext cx="4937760" cy="384048"/>
          </a:xfrm>
          <a:prstGeom prst="rect">
            <a:avLst/>
          </a:prstGeom>
          <a:noFill/>
        </p:spPr>
        <p:txBody>
          <a:bodyPr wrap="square" anchor="t" lIns="0" rIns="0" tIns="0" bIns="0">
            <a:spAutoFit/>
          </a:bodyPr>
          <a:lstStyle/>
          <a:p>
            <a:pPr algn="l">
              <a:lnSpc>
                <a:spcPct val="105000"/>
              </a:lnSpc>
            </a:pPr>
            <a:r>
              <a:rPr sz="1300" b="1">
                <a:solidFill>
                  <a:srgbClr val="FFFFFF"/>
                </a:solidFill>
                <a:latin typeface="Calibri"/>
              </a:rPr>
              <a:t>EWMA_X</a:t>
            </a:r>
          </a:p>
        </p:txBody>
      </p:sp>
      <p:sp>
        <p:nvSpPr>
          <p:cNvPr id="15" name="TextBox 14"/>
          <p:cNvSpPr txBox="1"/>
          <p:nvPr/>
        </p:nvSpPr>
        <p:spPr>
          <a:xfrm>
            <a:off x="713232" y="3840480"/>
            <a:ext cx="4937760" cy="228600"/>
          </a:xfrm>
          <a:prstGeom prst="rect">
            <a:avLst/>
          </a:prstGeom>
          <a:noFill/>
        </p:spPr>
        <p:txBody>
          <a:bodyPr wrap="square" anchor="t" lIns="0" rIns="0" tIns="0" bIns="0">
            <a:spAutoFit/>
          </a:bodyPr>
          <a:lstStyle/>
          <a:p>
            <a:pPr algn="l">
              <a:lnSpc>
                <a:spcPct val="100000"/>
              </a:lnSpc>
              <a:spcAft>
                <a:spcPts val="0"/>
              </a:spcAft>
            </a:pPr>
            <a:r>
              <a:rPr sz="1050" b="0" i="0">
                <a:solidFill>
                  <a:srgbClr val="A9AFBC"/>
                </a:solidFill>
                <a:latin typeface="Calibri"/>
              </a:rPr>
              <a:t>backtested smoothing</a:t>
            </a:r>
          </a:p>
        </p:txBody>
      </p:sp>
      <p:sp>
        <p:nvSpPr>
          <p:cNvPr id="16" name="Rectangle 15"/>
          <p:cNvSpPr/>
          <p:nvPr/>
        </p:nvSpPr>
        <p:spPr>
          <a:xfrm>
            <a:off x="502920" y="4151376"/>
            <a:ext cx="36576" cy="384048"/>
          </a:xfrm>
          <a:prstGeom prst="rect">
            <a:avLst/>
          </a:prstGeom>
          <a:solidFill>
            <a:srgbClr val="E8C9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13232" y="4151376"/>
            <a:ext cx="4937760" cy="384048"/>
          </a:xfrm>
          <a:prstGeom prst="rect">
            <a:avLst/>
          </a:prstGeom>
          <a:noFill/>
        </p:spPr>
        <p:txBody>
          <a:bodyPr wrap="square" anchor="t" lIns="0" rIns="0" tIns="0" bIns="0">
            <a:spAutoFit/>
          </a:bodyPr>
          <a:lstStyle/>
          <a:p>
            <a:pPr algn="l">
              <a:lnSpc>
                <a:spcPct val="105000"/>
              </a:lnSpc>
            </a:pPr>
            <a:r>
              <a:rPr sz="1300" b="1">
                <a:solidFill>
                  <a:srgbClr val="FFFFFF"/>
                </a:solidFill>
                <a:latin typeface="Calibri"/>
              </a:rPr>
              <a:t>SKEW_X</a:t>
            </a:r>
          </a:p>
        </p:txBody>
      </p:sp>
      <p:sp>
        <p:nvSpPr>
          <p:cNvPr id="18" name="TextBox 17"/>
          <p:cNvSpPr txBox="1"/>
          <p:nvPr/>
        </p:nvSpPr>
        <p:spPr>
          <a:xfrm>
            <a:off x="713232" y="4370832"/>
            <a:ext cx="4937760" cy="228600"/>
          </a:xfrm>
          <a:prstGeom prst="rect">
            <a:avLst/>
          </a:prstGeom>
          <a:noFill/>
        </p:spPr>
        <p:txBody>
          <a:bodyPr wrap="square" anchor="t" lIns="0" rIns="0" tIns="0" bIns="0">
            <a:spAutoFit/>
          </a:bodyPr>
          <a:lstStyle/>
          <a:p>
            <a:pPr algn="l">
              <a:lnSpc>
                <a:spcPct val="100000"/>
              </a:lnSpc>
              <a:spcAft>
                <a:spcPts val="0"/>
              </a:spcAft>
            </a:pPr>
            <a:r>
              <a:rPr sz="1050" b="0" i="0">
                <a:solidFill>
                  <a:srgbClr val="A9AFBC"/>
                </a:solidFill>
                <a:latin typeface="Calibri"/>
              </a:rPr>
              <a:t>distribution shape, not magnitude</a:t>
            </a:r>
          </a:p>
        </p:txBody>
      </p:sp>
      <p:sp>
        <p:nvSpPr>
          <p:cNvPr id="19" name="TextBox 18"/>
          <p:cNvSpPr txBox="1"/>
          <p:nvPr/>
        </p:nvSpPr>
        <p:spPr>
          <a:xfrm>
            <a:off x="6035040" y="2148840"/>
            <a:ext cx="5212080" cy="320040"/>
          </a:xfrm>
          <a:prstGeom prst="rect">
            <a:avLst/>
          </a:prstGeom>
          <a:noFill/>
        </p:spPr>
        <p:txBody>
          <a:bodyPr wrap="square" anchor="t" lIns="0" rIns="0" tIns="0" bIns="0">
            <a:spAutoFit/>
          </a:bodyPr>
          <a:lstStyle/>
          <a:p>
            <a:pPr algn="l">
              <a:lnSpc>
                <a:spcPct val="100000"/>
              </a:lnSpc>
              <a:spcAft>
                <a:spcPts val="0"/>
              </a:spcAft>
            </a:pPr>
            <a:r>
              <a:rPr sz="1400" b="1" i="0">
                <a:solidFill>
                  <a:srgbClr val="C4645A"/>
                </a:solidFill>
                <a:latin typeface="Calibri"/>
              </a:rPr>
              <a:t>Dropped (weak or redundant)</a:t>
            </a:r>
          </a:p>
        </p:txBody>
      </p:sp>
      <p:sp>
        <p:nvSpPr>
          <p:cNvPr id="20" name="Rectangle 19"/>
          <p:cNvSpPr/>
          <p:nvPr/>
        </p:nvSpPr>
        <p:spPr>
          <a:xfrm>
            <a:off x="6035040" y="2560320"/>
            <a:ext cx="36576" cy="384048"/>
          </a:xfrm>
          <a:prstGeom prst="rect">
            <a:avLst/>
          </a:prstGeom>
          <a:solidFill>
            <a:srgbClr val="C46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45352" y="2560320"/>
            <a:ext cx="4937760" cy="384048"/>
          </a:xfrm>
          <a:prstGeom prst="rect">
            <a:avLst/>
          </a:prstGeom>
          <a:noFill/>
        </p:spPr>
        <p:txBody>
          <a:bodyPr wrap="square" anchor="t" lIns="0" rIns="0" tIns="0" bIns="0">
            <a:spAutoFit/>
          </a:bodyPr>
          <a:lstStyle/>
          <a:p>
            <a:pPr algn="l">
              <a:lnSpc>
                <a:spcPct val="105000"/>
              </a:lnSpc>
            </a:pPr>
            <a:r>
              <a:rPr sz="1300" b="1">
                <a:solidFill>
                  <a:srgbClr val="FFFFFF"/>
                </a:solidFill>
                <a:latin typeface="Calibri"/>
              </a:rPr>
              <a:t>rsi_14</a:t>
            </a:r>
          </a:p>
        </p:txBody>
      </p:sp>
      <p:sp>
        <p:nvSpPr>
          <p:cNvPr id="22" name="TextBox 21"/>
          <p:cNvSpPr txBox="1"/>
          <p:nvPr/>
        </p:nvSpPr>
        <p:spPr>
          <a:xfrm>
            <a:off x="6245352" y="2779776"/>
            <a:ext cx="4937760" cy="228600"/>
          </a:xfrm>
          <a:prstGeom prst="rect">
            <a:avLst/>
          </a:prstGeom>
          <a:noFill/>
        </p:spPr>
        <p:txBody>
          <a:bodyPr wrap="square" anchor="t" lIns="0" rIns="0" tIns="0" bIns="0">
            <a:spAutoFit/>
          </a:bodyPr>
          <a:lstStyle/>
          <a:p>
            <a:pPr algn="l">
              <a:lnSpc>
                <a:spcPct val="100000"/>
              </a:lnSpc>
              <a:spcAft>
                <a:spcPts val="0"/>
              </a:spcAft>
            </a:pPr>
            <a:r>
              <a:rPr sz="1050" b="0" i="0">
                <a:solidFill>
                  <a:srgbClr val="A9AFBC"/>
                </a:solidFill>
                <a:latin typeface="Calibri"/>
              </a:rPr>
              <a:t>r = 0.004</a:t>
            </a:r>
          </a:p>
        </p:txBody>
      </p:sp>
      <p:sp>
        <p:nvSpPr>
          <p:cNvPr id="23" name="Rectangle 22"/>
          <p:cNvSpPr/>
          <p:nvPr/>
        </p:nvSpPr>
        <p:spPr>
          <a:xfrm>
            <a:off x="6035040" y="3090672"/>
            <a:ext cx="36576" cy="384048"/>
          </a:xfrm>
          <a:prstGeom prst="rect">
            <a:avLst/>
          </a:prstGeom>
          <a:solidFill>
            <a:srgbClr val="C46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245352" y="3090672"/>
            <a:ext cx="4937760" cy="384048"/>
          </a:xfrm>
          <a:prstGeom prst="rect">
            <a:avLst/>
          </a:prstGeom>
          <a:noFill/>
        </p:spPr>
        <p:txBody>
          <a:bodyPr wrap="square" anchor="t" lIns="0" rIns="0" tIns="0" bIns="0">
            <a:spAutoFit/>
          </a:bodyPr>
          <a:lstStyle/>
          <a:p>
            <a:pPr algn="l">
              <a:lnSpc>
                <a:spcPct val="105000"/>
              </a:lnSpc>
            </a:pPr>
            <a:r>
              <a:rPr sz="1300" b="1">
                <a:solidFill>
                  <a:srgbClr val="FFFFFF"/>
                </a:solidFill>
                <a:latin typeface="Calibri"/>
              </a:rPr>
              <a:t>macd_hist</a:t>
            </a:r>
          </a:p>
        </p:txBody>
      </p:sp>
      <p:sp>
        <p:nvSpPr>
          <p:cNvPr id="25" name="TextBox 24"/>
          <p:cNvSpPr txBox="1"/>
          <p:nvPr/>
        </p:nvSpPr>
        <p:spPr>
          <a:xfrm>
            <a:off x="6245352" y="3310128"/>
            <a:ext cx="4937760" cy="228600"/>
          </a:xfrm>
          <a:prstGeom prst="rect">
            <a:avLst/>
          </a:prstGeom>
          <a:noFill/>
        </p:spPr>
        <p:txBody>
          <a:bodyPr wrap="square" anchor="t" lIns="0" rIns="0" tIns="0" bIns="0">
            <a:spAutoFit/>
          </a:bodyPr>
          <a:lstStyle/>
          <a:p>
            <a:pPr algn="l">
              <a:lnSpc>
                <a:spcPct val="100000"/>
              </a:lnSpc>
              <a:spcAft>
                <a:spcPts val="0"/>
              </a:spcAft>
            </a:pPr>
            <a:r>
              <a:rPr sz="1050" b="0" i="0">
                <a:solidFill>
                  <a:srgbClr val="A9AFBC"/>
                </a:solidFill>
                <a:latin typeface="Calibri"/>
              </a:rPr>
              <a:t>r = 0.013</a:t>
            </a:r>
          </a:p>
        </p:txBody>
      </p:sp>
      <p:sp>
        <p:nvSpPr>
          <p:cNvPr id="26" name="Rectangle 25"/>
          <p:cNvSpPr/>
          <p:nvPr/>
        </p:nvSpPr>
        <p:spPr>
          <a:xfrm>
            <a:off x="6035040" y="3621024"/>
            <a:ext cx="36576" cy="384048"/>
          </a:xfrm>
          <a:prstGeom prst="rect">
            <a:avLst/>
          </a:prstGeom>
          <a:solidFill>
            <a:srgbClr val="C46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245352" y="3621024"/>
            <a:ext cx="4937760" cy="384048"/>
          </a:xfrm>
          <a:prstGeom prst="rect">
            <a:avLst/>
          </a:prstGeom>
          <a:noFill/>
        </p:spPr>
        <p:txBody>
          <a:bodyPr wrap="square" anchor="t" lIns="0" rIns="0" tIns="0" bIns="0">
            <a:spAutoFit/>
          </a:bodyPr>
          <a:lstStyle/>
          <a:p>
            <a:pPr algn="l">
              <a:lnSpc>
                <a:spcPct val="105000"/>
              </a:lnSpc>
            </a:pPr>
            <a:r>
              <a:rPr sz="1300" b="1">
                <a:solidFill>
                  <a:srgbClr val="FFFFFF"/>
                </a:solidFill>
                <a:latin typeface="Calibri"/>
              </a:rPr>
              <a:t>volume_chg</a:t>
            </a:r>
          </a:p>
        </p:txBody>
      </p:sp>
      <p:sp>
        <p:nvSpPr>
          <p:cNvPr id="28" name="TextBox 27"/>
          <p:cNvSpPr txBox="1"/>
          <p:nvPr/>
        </p:nvSpPr>
        <p:spPr>
          <a:xfrm>
            <a:off x="6245352" y="3840480"/>
            <a:ext cx="4937760" cy="228600"/>
          </a:xfrm>
          <a:prstGeom prst="rect">
            <a:avLst/>
          </a:prstGeom>
          <a:noFill/>
        </p:spPr>
        <p:txBody>
          <a:bodyPr wrap="square" anchor="t" lIns="0" rIns="0" tIns="0" bIns="0">
            <a:spAutoFit/>
          </a:bodyPr>
          <a:lstStyle/>
          <a:p>
            <a:pPr algn="l">
              <a:lnSpc>
                <a:spcPct val="100000"/>
              </a:lnSpc>
              <a:spcAft>
                <a:spcPts val="0"/>
              </a:spcAft>
            </a:pPr>
            <a:r>
              <a:rPr sz="1050" b="0" i="0">
                <a:solidFill>
                  <a:srgbClr val="A9AFBC"/>
                </a:solidFill>
                <a:latin typeface="Calibri"/>
              </a:rPr>
              <a:t>r = 0.002</a:t>
            </a:r>
          </a:p>
        </p:txBody>
      </p:sp>
      <p:sp>
        <p:nvSpPr>
          <p:cNvPr id="29" name="Rectangle 28"/>
          <p:cNvSpPr/>
          <p:nvPr/>
        </p:nvSpPr>
        <p:spPr>
          <a:xfrm>
            <a:off x="6035040" y="4151376"/>
            <a:ext cx="36576" cy="384048"/>
          </a:xfrm>
          <a:prstGeom prst="rect">
            <a:avLst/>
          </a:prstGeom>
          <a:solidFill>
            <a:srgbClr val="C46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245352" y="4151376"/>
            <a:ext cx="4937760" cy="384048"/>
          </a:xfrm>
          <a:prstGeom prst="rect">
            <a:avLst/>
          </a:prstGeom>
          <a:noFill/>
        </p:spPr>
        <p:txBody>
          <a:bodyPr wrap="square" anchor="t" lIns="0" rIns="0" tIns="0" bIns="0">
            <a:spAutoFit/>
          </a:bodyPr>
          <a:lstStyle/>
          <a:p>
            <a:pPr algn="l">
              <a:lnSpc>
                <a:spcPct val="105000"/>
              </a:lnSpc>
            </a:pPr>
            <a:r>
              <a:rPr sz="1300" b="1">
                <a:solidFill>
                  <a:srgbClr val="FFFFFF"/>
                </a:solidFill>
                <a:latin typeface="Calibri"/>
              </a:rPr>
              <a:t>Close / ma_7d (raw levels)</a:t>
            </a:r>
          </a:p>
        </p:txBody>
      </p:sp>
      <p:sp>
        <p:nvSpPr>
          <p:cNvPr id="31" name="TextBox 30"/>
          <p:cNvSpPr txBox="1"/>
          <p:nvPr/>
        </p:nvSpPr>
        <p:spPr>
          <a:xfrm>
            <a:off x="6245352" y="4370832"/>
            <a:ext cx="4937760" cy="228600"/>
          </a:xfrm>
          <a:prstGeom prst="rect">
            <a:avLst/>
          </a:prstGeom>
          <a:noFill/>
        </p:spPr>
        <p:txBody>
          <a:bodyPr wrap="square" anchor="t" lIns="0" rIns="0" tIns="0" bIns="0">
            <a:spAutoFit/>
          </a:bodyPr>
          <a:lstStyle/>
          <a:p>
            <a:pPr algn="l">
              <a:lnSpc>
                <a:spcPct val="100000"/>
              </a:lnSpc>
              <a:spcAft>
                <a:spcPts val="0"/>
              </a:spcAft>
            </a:pPr>
            <a:r>
              <a:rPr sz="1050" b="0" i="0">
                <a:solidFill>
                  <a:srgbClr val="A9AFBC"/>
                </a:solidFill>
                <a:latin typeface="Calibri"/>
              </a:rPr>
              <a:t>r = -0.26, non-stationary, spurious</a:t>
            </a:r>
          </a:p>
        </p:txBody>
      </p:sp>
      <p:sp>
        <p:nvSpPr>
          <p:cNvPr id="32" name="Rectangle 31"/>
          <p:cNvSpPr/>
          <p:nvPr/>
        </p:nvSpPr>
        <p:spPr>
          <a:xfrm>
            <a:off x="502920" y="5166360"/>
            <a:ext cx="10744200" cy="1051560"/>
          </a:xfrm>
          <a:prstGeom prst="rect">
            <a:avLst/>
          </a:prstGeom>
          <a:solidFill>
            <a:srgbClr val="1417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02920" y="5166360"/>
            <a:ext cx="45720" cy="1051560"/>
          </a:xfrm>
          <a:prstGeom prst="rect">
            <a:avLst/>
          </a:prstGeom>
          <a:solidFill>
            <a:srgbClr val="C46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77240" y="5294376"/>
            <a:ext cx="10195560" cy="274320"/>
          </a:xfrm>
          <a:prstGeom prst="rect">
            <a:avLst/>
          </a:prstGeom>
          <a:noFill/>
        </p:spPr>
        <p:txBody>
          <a:bodyPr wrap="square" anchor="t" lIns="0" rIns="0" tIns="0" bIns="0">
            <a:spAutoFit/>
          </a:bodyPr>
          <a:lstStyle/>
          <a:p>
            <a:pPr algn="l">
              <a:lnSpc>
                <a:spcPct val="100000"/>
              </a:lnSpc>
              <a:spcAft>
                <a:spcPts val="0"/>
              </a:spcAft>
            </a:pPr>
            <a:r>
              <a:rPr sz="1250" b="1" i="0">
                <a:solidFill>
                  <a:srgbClr val="C4645A"/>
                </a:solidFill>
                <a:latin typeface="Calibri"/>
              </a:rPr>
              <a:t>CRITICAL FINDING</a:t>
            </a:r>
          </a:p>
        </p:txBody>
      </p:sp>
      <p:sp>
        <p:nvSpPr>
          <p:cNvPr id="35" name="TextBox 34"/>
          <p:cNvSpPr txBox="1"/>
          <p:nvPr/>
        </p:nvSpPr>
        <p:spPr>
          <a:xfrm>
            <a:off x="777240" y="5586984"/>
            <a:ext cx="10195560" cy="502920"/>
          </a:xfrm>
          <a:prstGeom prst="rect">
            <a:avLst/>
          </a:prstGeom>
          <a:noFill/>
        </p:spPr>
        <p:txBody>
          <a:bodyPr wrap="square" anchor="t" lIns="0" rIns="0" tIns="0" bIns="0">
            <a:spAutoFit/>
          </a:bodyPr>
          <a:lstStyle/>
          <a:p>
            <a:pPr algn="l">
              <a:lnSpc>
                <a:spcPct val="115000"/>
              </a:lnSpc>
              <a:spcAft>
                <a:spcPts val="0"/>
              </a:spcAft>
            </a:pPr>
            <a:r>
              <a:rPr sz="1300" b="0" i="0">
                <a:solidFill>
                  <a:srgbClr val="A9AFBC"/>
                </a:solidFill>
                <a:latin typeface="Calibri"/>
              </a:rPr>
              <a:t>Even the strongest raw correlation (bb_width, +0.588) is largely redundant with ATR, not new information. This is why R2 tops out around 0.24, not 0.9 - a ceiling set by the data itself, not by model choice.</a:t>
            </a:r>
          </a:p>
        </p:txBody>
      </p:sp>
      <p:sp>
        <p:nvSpPr>
          <p:cNvPr id="36" name="TextBox 35"/>
          <p:cNvSpPr txBox="1"/>
          <p:nvPr/>
        </p:nvSpPr>
        <p:spPr>
          <a:xfrm>
            <a:off x="11612880" y="6492240"/>
            <a:ext cx="457200" cy="274320"/>
          </a:xfrm>
          <a:prstGeom prst="rect">
            <a:avLst/>
          </a:prstGeom>
          <a:noFill/>
        </p:spPr>
        <p:txBody>
          <a:bodyPr wrap="square" anchor="t" lIns="0" rIns="0" tIns="0" bIns="0">
            <a:spAutoFit/>
          </a:bodyPr>
          <a:lstStyle/>
          <a:p>
            <a:pPr algn="r">
              <a:lnSpc>
                <a:spcPct val="100000"/>
              </a:lnSpc>
              <a:spcAft>
                <a:spcPts val="0"/>
              </a:spcAft>
            </a:pPr>
            <a:r>
              <a:rPr sz="1100" b="0" i="0">
                <a:solidFill>
                  <a:srgbClr val="777E8C"/>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457200"/>
            <a:ext cx="54864" cy="384048"/>
          </a:xfrm>
          <a:prstGeom prst="rect">
            <a:avLst/>
          </a:prstGeom>
          <a:solidFill>
            <a:srgbClr val="E8C9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384048"/>
            <a:ext cx="9601200" cy="502920"/>
          </a:xfrm>
          <a:prstGeom prst="rect">
            <a:avLst/>
          </a:prstGeom>
          <a:noFill/>
        </p:spPr>
        <p:txBody>
          <a:bodyPr wrap="square" anchor="t" lIns="0" rIns="0" tIns="0" bIns="0">
            <a:spAutoFit/>
          </a:bodyPr>
          <a:lstStyle/>
          <a:p>
            <a:pPr algn="l">
              <a:lnSpc>
                <a:spcPct val="100000"/>
              </a:lnSpc>
              <a:spcAft>
                <a:spcPts val="0"/>
              </a:spcAft>
            </a:pPr>
            <a:r>
              <a:rPr sz="2700" b="1" i="0">
                <a:solidFill>
                  <a:srgbClr val="FFFFFF"/>
                </a:solidFill>
                <a:latin typeface="Calibri"/>
              </a:rPr>
              <a:t>Feature Relationships: Correlation Analysis</a:t>
            </a:r>
          </a:p>
        </p:txBody>
      </p:sp>
      <p:sp>
        <p:nvSpPr>
          <p:cNvPr id="5" name="TextBox 4"/>
          <p:cNvSpPr txBox="1"/>
          <p:nvPr/>
        </p:nvSpPr>
        <p:spPr>
          <a:xfrm>
            <a:off x="502920" y="1463040"/>
            <a:ext cx="5120640" cy="320040"/>
          </a:xfrm>
          <a:prstGeom prst="rect">
            <a:avLst/>
          </a:prstGeom>
          <a:noFill/>
        </p:spPr>
        <p:txBody>
          <a:bodyPr wrap="square" anchor="t" lIns="0" rIns="0" tIns="0" bIns="0">
            <a:spAutoFit/>
          </a:bodyPr>
          <a:lstStyle/>
          <a:p>
            <a:pPr algn="l">
              <a:lnSpc>
                <a:spcPct val="100000"/>
              </a:lnSpc>
              <a:spcAft>
                <a:spcPts val="0"/>
              </a:spcAft>
            </a:pPr>
            <a:r>
              <a:rPr sz="1300" b="1" i="0">
                <a:solidFill>
                  <a:srgbClr val="E8C99B"/>
                </a:solidFill>
                <a:latin typeface="Calibri"/>
              </a:rPr>
              <a:t>Statistical Measure</a:t>
            </a:r>
          </a:p>
        </p:txBody>
      </p:sp>
      <p:sp>
        <p:nvSpPr>
          <p:cNvPr id="6" name="TextBox 5"/>
          <p:cNvSpPr txBox="1"/>
          <p:nvPr/>
        </p:nvSpPr>
        <p:spPr>
          <a:xfrm>
            <a:off x="502920" y="1810512"/>
            <a:ext cx="5120640" cy="685800"/>
          </a:xfrm>
          <a:prstGeom prst="rect">
            <a:avLst/>
          </a:prstGeom>
          <a:noFill/>
        </p:spPr>
        <p:txBody>
          <a:bodyPr wrap="square" anchor="t" lIns="0" rIns="0" tIns="0" bIns="0">
            <a:spAutoFit/>
          </a:bodyPr>
          <a:lstStyle/>
          <a:p>
            <a:pPr algn="l">
              <a:lnSpc>
                <a:spcPct val="115000"/>
              </a:lnSpc>
              <a:spcAft>
                <a:spcPts val="0"/>
              </a:spcAft>
            </a:pPr>
            <a:r>
              <a:rPr sz="1200" b="0" i="0">
                <a:solidFill>
                  <a:srgbClr val="A9AFBC"/>
                </a:solidFill>
                <a:latin typeface="Calibri"/>
              </a:rPr>
              <a:t>Pearson correlation measures the linear relationship between each continuous feature and the target, on a scale from -1 to +1.</a:t>
            </a:r>
          </a:p>
        </p:txBody>
      </p:sp>
      <p:sp>
        <p:nvSpPr>
          <p:cNvPr id="7" name="TextBox 6"/>
          <p:cNvSpPr txBox="1"/>
          <p:nvPr/>
        </p:nvSpPr>
        <p:spPr>
          <a:xfrm>
            <a:off x="502920" y="2697480"/>
            <a:ext cx="5120640" cy="320040"/>
          </a:xfrm>
          <a:prstGeom prst="rect">
            <a:avLst/>
          </a:prstGeom>
          <a:noFill/>
        </p:spPr>
        <p:txBody>
          <a:bodyPr wrap="square" anchor="t" lIns="0" rIns="0" tIns="0" bIns="0">
            <a:spAutoFit/>
          </a:bodyPr>
          <a:lstStyle/>
          <a:p>
            <a:pPr algn="l">
              <a:lnSpc>
                <a:spcPct val="100000"/>
              </a:lnSpc>
              <a:spcAft>
                <a:spcPts val="0"/>
              </a:spcAft>
            </a:pPr>
            <a:r>
              <a:rPr sz="1300" b="1" i="0">
                <a:solidFill>
                  <a:srgbClr val="E8C99B"/>
                </a:solidFill>
                <a:latin typeface="Calibri"/>
              </a:rPr>
              <a:t>Key Finding</a:t>
            </a:r>
          </a:p>
        </p:txBody>
      </p:sp>
      <p:sp>
        <p:nvSpPr>
          <p:cNvPr id="8" name="TextBox 7"/>
          <p:cNvSpPr txBox="1"/>
          <p:nvPr/>
        </p:nvSpPr>
        <p:spPr>
          <a:xfrm>
            <a:off x="502920" y="3044952"/>
            <a:ext cx="5120640" cy="822960"/>
          </a:xfrm>
          <a:prstGeom prst="rect">
            <a:avLst/>
          </a:prstGeom>
          <a:noFill/>
        </p:spPr>
        <p:txBody>
          <a:bodyPr wrap="square" anchor="t" lIns="0" rIns="0" tIns="0" bIns="0">
            <a:spAutoFit/>
          </a:bodyPr>
          <a:lstStyle/>
          <a:p>
            <a:pPr algn="l">
              <a:lnSpc>
                <a:spcPct val="115000"/>
              </a:lnSpc>
              <a:spcAft>
                <a:spcPts val="0"/>
              </a:spcAft>
            </a:pPr>
            <a:r>
              <a:rPr sz="1200" b="0" i="0">
                <a:solidFill>
                  <a:srgbClr val="A9AFBC"/>
                </a:solidFill>
                <a:latin typeface="Calibri"/>
              </a:rPr>
              <a:t>Only range-based features (bb_width, atr_14) show meaningful correlation. Every other continuous feature sits below |0.05| - essentially no linear relationship with the target at all.</a:t>
            </a:r>
          </a:p>
        </p:txBody>
      </p:sp>
      <p:sp>
        <p:nvSpPr>
          <p:cNvPr id="9" name="Rectangle 8"/>
          <p:cNvSpPr/>
          <p:nvPr/>
        </p:nvSpPr>
        <p:spPr>
          <a:xfrm>
            <a:off x="502920" y="4069080"/>
            <a:ext cx="41148" cy="1463040"/>
          </a:xfrm>
          <a:prstGeom prst="rect">
            <a:avLst/>
          </a:prstGeom>
          <a:solidFill>
            <a:srgbClr val="C46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069080"/>
            <a:ext cx="4937760" cy="320040"/>
          </a:xfrm>
          <a:prstGeom prst="rect">
            <a:avLst/>
          </a:prstGeom>
          <a:noFill/>
        </p:spPr>
        <p:txBody>
          <a:bodyPr wrap="square" anchor="t" lIns="0" rIns="0" tIns="0" bIns="0">
            <a:spAutoFit/>
          </a:bodyPr>
          <a:lstStyle/>
          <a:p>
            <a:pPr algn="l">
              <a:lnSpc>
                <a:spcPct val="100000"/>
              </a:lnSpc>
              <a:spcAft>
                <a:spcPts val="0"/>
              </a:spcAft>
            </a:pPr>
            <a:r>
              <a:rPr sz="1300" b="1" i="0">
                <a:solidFill>
                  <a:srgbClr val="C4645A"/>
                </a:solidFill>
                <a:latin typeface="Calibri"/>
              </a:rPr>
              <a:t>Performance Ceiling</a:t>
            </a:r>
          </a:p>
        </p:txBody>
      </p:sp>
      <p:sp>
        <p:nvSpPr>
          <p:cNvPr id="11" name="TextBox 10"/>
          <p:cNvSpPr txBox="1"/>
          <p:nvPr/>
        </p:nvSpPr>
        <p:spPr>
          <a:xfrm>
            <a:off x="731520" y="4416552"/>
            <a:ext cx="4892040" cy="1097280"/>
          </a:xfrm>
          <a:prstGeom prst="rect">
            <a:avLst/>
          </a:prstGeom>
          <a:noFill/>
        </p:spPr>
        <p:txBody>
          <a:bodyPr wrap="square" anchor="t" lIns="0" rIns="0" tIns="0" bIns="0">
            <a:spAutoFit/>
          </a:bodyPr>
          <a:lstStyle/>
          <a:p>
            <a:pPr algn="l">
              <a:lnSpc>
                <a:spcPct val="115000"/>
              </a:lnSpc>
              <a:spcAft>
                <a:spcPts val="0"/>
              </a:spcAft>
            </a:pPr>
            <a:r>
              <a:rPr sz="1200" b="0" i="0">
                <a:solidFill>
                  <a:srgbClr val="A9AFBC"/>
                </a:solidFill>
                <a:latin typeface="Calibri"/>
              </a:rPr>
              <a:t>This result alone suggested - before any modeling - that performance would be limited. Models cannot exceed the information content of their features.</a:t>
            </a:r>
          </a:p>
        </p:txBody>
      </p:sp>
      <p:pic>
        <p:nvPicPr>
          <p:cNvPr id="12" name="Picture 11" descr="corr_bar.png"/>
          <p:cNvPicPr>
            <a:picLocks noChangeAspect="1"/>
          </p:cNvPicPr>
          <p:nvPr/>
        </p:nvPicPr>
        <p:blipFill>
          <a:blip r:embed="rId2"/>
          <a:stretch>
            <a:fillRect/>
          </a:stretch>
        </p:blipFill>
        <p:spPr>
          <a:xfrm>
            <a:off x="5989320" y="1417320"/>
            <a:ext cx="5669280" cy="3566160"/>
          </a:xfrm>
          <a:prstGeom prst="rect">
            <a:avLst/>
          </a:prstGeom>
        </p:spPr>
      </p:pic>
      <p:sp>
        <p:nvSpPr>
          <p:cNvPr id="13" name="TextBox 12"/>
          <p:cNvSpPr txBox="1"/>
          <p:nvPr/>
        </p:nvSpPr>
        <p:spPr>
          <a:xfrm>
            <a:off x="11612880" y="6492240"/>
            <a:ext cx="457200" cy="274320"/>
          </a:xfrm>
          <a:prstGeom prst="rect">
            <a:avLst/>
          </a:prstGeom>
          <a:noFill/>
        </p:spPr>
        <p:txBody>
          <a:bodyPr wrap="square" anchor="t" lIns="0" rIns="0" tIns="0" bIns="0">
            <a:spAutoFit/>
          </a:bodyPr>
          <a:lstStyle/>
          <a:p>
            <a:pPr algn="r">
              <a:lnSpc>
                <a:spcPct val="100000"/>
              </a:lnSpc>
              <a:spcAft>
                <a:spcPts val="0"/>
              </a:spcAft>
            </a:pPr>
            <a:r>
              <a:rPr sz="1100" b="0" i="0">
                <a:solidFill>
                  <a:srgbClr val="777E8C"/>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457200"/>
            <a:ext cx="54864" cy="384048"/>
          </a:xfrm>
          <a:prstGeom prst="rect">
            <a:avLst/>
          </a:prstGeom>
          <a:solidFill>
            <a:srgbClr val="E8C9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384048"/>
            <a:ext cx="9601200" cy="502920"/>
          </a:xfrm>
          <a:prstGeom prst="rect">
            <a:avLst/>
          </a:prstGeom>
          <a:noFill/>
        </p:spPr>
        <p:txBody>
          <a:bodyPr wrap="square" anchor="t" lIns="0" rIns="0" tIns="0" bIns="0">
            <a:spAutoFit/>
          </a:bodyPr>
          <a:lstStyle/>
          <a:p>
            <a:pPr algn="l">
              <a:lnSpc>
                <a:spcPct val="100000"/>
              </a:lnSpc>
              <a:spcAft>
                <a:spcPts val="0"/>
              </a:spcAft>
            </a:pPr>
            <a:r>
              <a:rPr sz="2700" b="1" i="0">
                <a:solidFill>
                  <a:srgbClr val="FFFFFF"/>
                </a:solidFill>
                <a:latin typeface="Calibri"/>
              </a:rPr>
              <a:t>Model 1: GARCH</a:t>
            </a:r>
          </a:p>
        </p:txBody>
      </p:sp>
      <p:sp>
        <p:nvSpPr>
          <p:cNvPr id="5" name="TextBox 4"/>
          <p:cNvSpPr txBox="1"/>
          <p:nvPr/>
        </p:nvSpPr>
        <p:spPr>
          <a:xfrm>
            <a:off x="685800" y="868680"/>
            <a:ext cx="10515600" cy="365760"/>
          </a:xfrm>
          <a:prstGeom prst="rect">
            <a:avLst/>
          </a:prstGeom>
          <a:noFill/>
        </p:spPr>
        <p:txBody>
          <a:bodyPr wrap="square" anchor="t" lIns="0" rIns="0" tIns="0" bIns="0">
            <a:spAutoFit/>
          </a:bodyPr>
          <a:lstStyle/>
          <a:p>
            <a:pPr algn="l">
              <a:lnSpc>
                <a:spcPct val="100000"/>
              </a:lnSpc>
              <a:spcAft>
                <a:spcPts val="0"/>
              </a:spcAft>
            </a:pPr>
            <a:r>
              <a:rPr sz="1350" b="0" i="0">
                <a:solidFill>
                  <a:srgbClr val="A9AFBC"/>
                </a:solidFill>
                <a:latin typeface="Calibri"/>
              </a:rPr>
              <a:t>GJR-GARCH with Student-t Errors (Tuned)</a:t>
            </a:r>
          </a:p>
        </p:txBody>
      </p:sp>
      <p:sp>
        <p:nvSpPr>
          <p:cNvPr id="6" name="TextBox 5"/>
          <p:cNvSpPr txBox="1"/>
          <p:nvPr/>
        </p:nvSpPr>
        <p:spPr>
          <a:xfrm>
            <a:off x="502920" y="1600200"/>
            <a:ext cx="5212080" cy="320040"/>
          </a:xfrm>
          <a:prstGeom prst="rect">
            <a:avLst/>
          </a:prstGeom>
          <a:noFill/>
        </p:spPr>
        <p:txBody>
          <a:bodyPr wrap="square" anchor="t" lIns="0" rIns="0" tIns="0" bIns="0">
            <a:spAutoFit/>
          </a:bodyPr>
          <a:lstStyle/>
          <a:p>
            <a:pPr algn="l">
              <a:lnSpc>
                <a:spcPct val="100000"/>
              </a:lnSpc>
              <a:spcAft>
                <a:spcPts val="0"/>
              </a:spcAft>
            </a:pPr>
            <a:r>
              <a:rPr sz="1350" b="1" i="0">
                <a:solidFill>
                  <a:srgbClr val="E8C99B"/>
                </a:solidFill>
                <a:latin typeface="Calibri"/>
              </a:rPr>
              <a:t>Model Configuration</a:t>
            </a:r>
          </a:p>
        </p:txBody>
      </p:sp>
      <p:sp>
        <p:nvSpPr>
          <p:cNvPr id="7" name="TextBox 6"/>
          <p:cNvSpPr txBox="1"/>
          <p:nvPr/>
        </p:nvSpPr>
        <p:spPr>
          <a:xfrm>
            <a:off x="502920" y="2057400"/>
            <a:ext cx="5120640" cy="365760"/>
          </a:xfrm>
          <a:prstGeom prst="rect">
            <a:avLst/>
          </a:prstGeom>
          <a:noFill/>
        </p:spPr>
        <p:txBody>
          <a:bodyPr wrap="square" anchor="t" lIns="0" rIns="0" tIns="0" bIns="0">
            <a:spAutoFit/>
          </a:bodyPr>
          <a:lstStyle/>
          <a:p>
            <a:pPr algn="l">
              <a:lnSpc>
                <a:spcPct val="105000"/>
              </a:lnSpc>
            </a:pPr>
            <a:r>
              <a:rPr sz="1300" b="0">
                <a:solidFill>
                  <a:srgbClr val="A9AFBC"/>
                </a:solidFill>
                <a:latin typeface="Calibri"/>
              </a:rPr>
              <a:t>Vol Model</a:t>
            </a:r>
          </a:p>
        </p:txBody>
      </p:sp>
      <p:sp>
        <p:nvSpPr>
          <p:cNvPr id="8" name="TextBox 7"/>
          <p:cNvSpPr txBox="1"/>
          <p:nvPr/>
        </p:nvSpPr>
        <p:spPr>
          <a:xfrm>
            <a:off x="502920" y="2057400"/>
            <a:ext cx="5120640" cy="365760"/>
          </a:xfrm>
          <a:prstGeom prst="rect">
            <a:avLst/>
          </a:prstGeom>
          <a:noFill/>
        </p:spPr>
        <p:txBody>
          <a:bodyPr wrap="square" anchor="t" lIns="0" rIns="0" tIns="0" bIns="0">
            <a:spAutoFit/>
          </a:bodyPr>
          <a:lstStyle/>
          <a:p>
            <a:pPr algn="r">
              <a:lnSpc>
                <a:spcPct val="100000"/>
              </a:lnSpc>
              <a:spcAft>
                <a:spcPts val="0"/>
              </a:spcAft>
            </a:pPr>
            <a:r>
              <a:rPr sz="1300" b="1" i="0">
                <a:solidFill>
                  <a:srgbClr val="FFFFFF"/>
                </a:solidFill>
                <a:latin typeface="Calibri"/>
              </a:rPr>
              <a:t>GJR-GARCH</a:t>
            </a:r>
          </a:p>
        </p:txBody>
      </p:sp>
      <p:sp>
        <p:nvSpPr>
          <p:cNvPr id="9" name="Rectangle 8"/>
          <p:cNvSpPr/>
          <p:nvPr/>
        </p:nvSpPr>
        <p:spPr>
          <a:xfrm>
            <a:off x="502920" y="2441448"/>
            <a:ext cx="5120640" cy="9525"/>
          </a:xfrm>
          <a:prstGeom prst="rect">
            <a:avLst/>
          </a:prstGeom>
          <a:solidFill>
            <a:srgbClr val="2A2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2560320"/>
            <a:ext cx="5120640" cy="365760"/>
          </a:xfrm>
          <a:prstGeom prst="rect">
            <a:avLst/>
          </a:prstGeom>
          <a:noFill/>
        </p:spPr>
        <p:txBody>
          <a:bodyPr wrap="square" anchor="t" lIns="0" rIns="0" tIns="0" bIns="0">
            <a:spAutoFit/>
          </a:bodyPr>
          <a:lstStyle/>
          <a:p>
            <a:pPr algn="l">
              <a:lnSpc>
                <a:spcPct val="105000"/>
              </a:lnSpc>
            </a:pPr>
            <a:r>
              <a:rPr sz="1300" b="0">
                <a:solidFill>
                  <a:srgbClr val="A9AFBC"/>
                </a:solidFill>
                <a:latin typeface="Calibri"/>
              </a:rPr>
              <a:t>Distribution</a:t>
            </a:r>
          </a:p>
        </p:txBody>
      </p:sp>
      <p:sp>
        <p:nvSpPr>
          <p:cNvPr id="11" name="TextBox 10"/>
          <p:cNvSpPr txBox="1"/>
          <p:nvPr/>
        </p:nvSpPr>
        <p:spPr>
          <a:xfrm>
            <a:off x="502920" y="2560320"/>
            <a:ext cx="5120640" cy="365760"/>
          </a:xfrm>
          <a:prstGeom prst="rect">
            <a:avLst/>
          </a:prstGeom>
          <a:noFill/>
        </p:spPr>
        <p:txBody>
          <a:bodyPr wrap="square" anchor="t" lIns="0" rIns="0" tIns="0" bIns="0">
            <a:spAutoFit/>
          </a:bodyPr>
          <a:lstStyle/>
          <a:p>
            <a:pPr algn="r">
              <a:lnSpc>
                <a:spcPct val="100000"/>
              </a:lnSpc>
              <a:spcAft>
                <a:spcPts val="0"/>
              </a:spcAft>
            </a:pPr>
            <a:r>
              <a:rPr sz="1300" b="1" i="0">
                <a:solidFill>
                  <a:srgbClr val="FFFFFF"/>
                </a:solidFill>
                <a:latin typeface="Calibri"/>
              </a:rPr>
              <a:t>Student's t</a:t>
            </a:r>
          </a:p>
        </p:txBody>
      </p:sp>
      <p:sp>
        <p:nvSpPr>
          <p:cNvPr id="12" name="Rectangle 11"/>
          <p:cNvSpPr/>
          <p:nvPr/>
        </p:nvSpPr>
        <p:spPr>
          <a:xfrm>
            <a:off x="502920" y="2944368"/>
            <a:ext cx="5120640" cy="9525"/>
          </a:xfrm>
          <a:prstGeom prst="rect">
            <a:avLst/>
          </a:prstGeom>
          <a:solidFill>
            <a:srgbClr val="2A2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2920" y="3063239"/>
            <a:ext cx="5120640" cy="365760"/>
          </a:xfrm>
          <a:prstGeom prst="rect">
            <a:avLst/>
          </a:prstGeom>
          <a:noFill/>
        </p:spPr>
        <p:txBody>
          <a:bodyPr wrap="square" anchor="t" lIns="0" rIns="0" tIns="0" bIns="0">
            <a:spAutoFit/>
          </a:bodyPr>
          <a:lstStyle/>
          <a:p>
            <a:pPr algn="l">
              <a:lnSpc>
                <a:spcPct val="105000"/>
              </a:lnSpc>
            </a:pPr>
            <a:r>
              <a:rPr sz="1300" b="0">
                <a:solidFill>
                  <a:srgbClr val="A9AFBC"/>
                </a:solidFill>
                <a:latin typeface="Calibri"/>
              </a:rPr>
              <a:t>p / o / q</a:t>
            </a:r>
          </a:p>
        </p:txBody>
      </p:sp>
      <p:sp>
        <p:nvSpPr>
          <p:cNvPr id="14" name="TextBox 13"/>
          <p:cNvSpPr txBox="1"/>
          <p:nvPr/>
        </p:nvSpPr>
        <p:spPr>
          <a:xfrm>
            <a:off x="502920" y="3063239"/>
            <a:ext cx="5120640" cy="365760"/>
          </a:xfrm>
          <a:prstGeom prst="rect">
            <a:avLst/>
          </a:prstGeom>
          <a:noFill/>
        </p:spPr>
        <p:txBody>
          <a:bodyPr wrap="square" anchor="t" lIns="0" rIns="0" tIns="0" bIns="0">
            <a:spAutoFit/>
          </a:bodyPr>
          <a:lstStyle/>
          <a:p>
            <a:pPr algn="r">
              <a:lnSpc>
                <a:spcPct val="100000"/>
              </a:lnSpc>
              <a:spcAft>
                <a:spcPts val="0"/>
              </a:spcAft>
            </a:pPr>
            <a:r>
              <a:rPr sz="1300" b="1" i="0">
                <a:solidFill>
                  <a:srgbClr val="FFFFFF"/>
                </a:solidFill>
                <a:latin typeface="Calibri"/>
              </a:rPr>
              <a:t>1 / 1 / 1</a:t>
            </a:r>
          </a:p>
        </p:txBody>
      </p:sp>
      <p:sp>
        <p:nvSpPr>
          <p:cNvPr id="15" name="Rectangle 14"/>
          <p:cNvSpPr/>
          <p:nvPr/>
        </p:nvSpPr>
        <p:spPr>
          <a:xfrm>
            <a:off x="502920" y="3447287"/>
            <a:ext cx="5120640" cy="9525"/>
          </a:xfrm>
          <a:prstGeom prst="rect">
            <a:avLst/>
          </a:prstGeom>
          <a:solidFill>
            <a:srgbClr val="2A2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2920" y="3566159"/>
            <a:ext cx="5120640" cy="365760"/>
          </a:xfrm>
          <a:prstGeom prst="rect">
            <a:avLst/>
          </a:prstGeom>
          <a:noFill/>
        </p:spPr>
        <p:txBody>
          <a:bodyPr wrap="square" anchor="t" lIns="0" rIns="0" tIns="0" bIns="0">
            <a:spAutoFit/>
          </a:bodyPr>
          <a:lstStyle/>
          <a:p>
            <a:pPr algn="l">
              <a:lnSpc>
                <a:spcPct val="105000"/>
              </a:lnSpc>
            </a:pPr>
            <a:r>
              <a:rPr sz="1300" b="0">
                <a:solidFill>
                  <a:srgbClr val="A9AFBC"/>
                </a:solidFill>
                <a:latin typeface="Calibri"/>
              </a:rPr>
              <a:t>AIC (Tuned)</a:t>
            </a:r>
          </a:p>
        </p:txBody>
      </p:sp>
      <p:sp>
        <p:nvSpPr>
          <p:cNvPr id="17" name="TextBox 16"/>
          <p:cNvSpPr txBox="1"/>
          <p:nvPr/>
        </p:nvSpPr>
        <p:spPr>
          <a:xfrm>
            <a:off x="502920" y="3566159"/>
            <a:ext cx="5120640" cy="365760"/>
          </a:xfrm>
          <a:prstGeom prst="rect">
            <a:avLst/>
          </a:prstGeom>
          <a:noFill/>
        </p:spPr>
        <p:txBody>
          <a:bodyPr wrap="square" anchor="t" lIns="0" rIns="0" tIns="0" bIns="0">
            <a:spAutoFit/>
          </a:bodyPr>
          <a:lstStyle/>
          <a:p>
            <a:pPr algn="r">
              <a:lnSpc>
                <a:spcPct val="100000"/>
              </a:lnSpc>
              <a:spcAft>
                <a:spcPts val="0"/>
              </a:spcAft>
            </a:pPr>
            <a:r>
              <a:rPr sz="1300" b="1" i="0">
                <a:solidFill>
                  <a:srgbClr val="FFFFFF"/>
                </a:solidFill>
                <a:latin typeface="Calibri"/>
              </a:rPr>
              <a:t>96,564.5</a:t>
            </a:r>
          </a:p>
        </p:txBody>
      </p:sp>
      <p:sp>
        <p:nvSpPr>
          <p:cNvPr id="18" name="Rectangle 17"/>
          <p:cNvSpPr/>
          <p:nvPr/>
        </p:nvSpPr>
        <p:spPr>
          <a:xfrm>
            <a:off x="502920" y="3950207"/>
            <a:ext cx="5120640" cy="9525"/>
          </a:xfrm>
          <a:prstGeom prst="rect">
            <a:avLst/>
          </a:prstGeom>
          <a:solidFill>
            <a:srgbClr val="2A2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035040" y="1600200"/>
            <a:ext cx="5212080" cy="320040"/>
          </a:xfrm>
          <a:prstGeom prst="rect">
            <a:avLst/>
          </a:prstGeom>
          <a:noFill/>
        </p:spPr>
        <p:txBody>
          <a:bodyPr wrap="square" anchor="t" lIns="0" rIns="0" tIns="0" bIns="0">
            <a:spAutoFit/>
          </a:bodyPr>
          <a:lstStyle/>
          <a:p>
            <a:pPr algn="l">
              <a:lnSpc>
                <a:spcPct val="100000"/>
              </a:lnSpc>
              <a:spcAft>
                <a:spcPts val="0"/>
              </a:spcAft>
            </a:pPr>
            <a:r>
              <a:rPr sz="1350" b="1" i="0">
                <a:solidFill>
                  <a:srgbClr val="E8C99B"/>
                </a:solidFill>
                <a:latin typeface="Calibri"/>
              </a:rPr>
              <a:t>Performance (Historical Test)</a:t>
            </a:r>
          </a:p>
        </p:txBody>
      </p:sp>
      <p:sp>
        <p:nvSpPr>
          <p:cNvPr id="20" name="Rectangle 19"/>
          <p:cNvSpPr/>
          <p:nvPr/>
        </p:nvSpPr>
        <p:spPr>
          <a:xfrm>
            <a:off x="6035040" y="2011680"/>
            <a:ext cx="5212080" cy="1417320"/>
          </a:xfrm>
          <a:prstGeom prst="rect">
            <a:avLst/>
          </a:prstGeom>
          <a:solidFill>
            <a:srgbClr val="050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035040" y="2011680"/>
            <a:ext cx="45720" cy="1417320"/>
          </a:xfrm>
          <a:prstGeom prst="rect">
            <a:avLst/>
          </a:prstGeom>
          <a:solidFill>
            <a:srgbClr val="C46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91072" y="2157984"/>
            <a:ext cx="4754880" cy="274320"/>
          </a:xfrm>
          <a:prstGeom prst="rect">
            <a:avLst/>
          </a:prstGeom>
          <a:noFill/>
        </p:spPr>
        <p:txBody>
          <a:bodyPr wrap="square" anchor="t" lIns="0" rIns="0" tIns="0" bIns="0">
            <a:spAutoFit/>
          </a:bodyPr>
          <a:lstStyle/>
          <a:p>
            <a:pPr algn="l">
              <a:lnSpc>
                <a:spcPct val="100000"/>
              </a:lnSpc>
              <a:spcAft>
                <a:spcPts val="0"/>
              </a:spcAft>
            </a:pPr>
            <a:r>
              <a:rPr sz="1100" b="0" i="0">
                <a:solidFill>
                  <a:srgbClr val="A9AFBC"/>
                </a:solidFill>
                <a:latin typeface="Calibri"/>
              </a:rPr>
              <a:t>R2 (Historical)</a:t>
            </a:r>
          </a:p>
        </p:txBody>
      </p:sp>
      <p:sp>
        <p:nvSpPr>
          <p:cNvPr id="23" name="TextBox 22"/>
          <p:cNvSpPr txBox="1"/>
          <p:nvPr/>
        </p:nvSpPr>
        <p:spPr>
          <a:xfrm>
            <a:off x="6272784" y="2395728"/>
            <a:ext cx="4754880" cy="914400"/>
          </a:xfrm>
          <a:prstGeom prst="rect">
            <a:avLst/>
          </a:prstGeom>
          <a:noFill/>
        </p:spPr>
        <p:txBody>
          <a:bodyPr wrap="square" anchor="t" lIns="0" rIns="0" tIns="0" bIns="0">
            <a:spAutoFit/>
          </a:bodyPr>
          <a:lstStyle/>
          <a:p>
            <a:pPr algn="l">
              <a:lnSpc>
                <a:spcPct val="100000"/>
              </a:lnSpc>
              <a:spcAft>
                <a:spcPts val="0"/>
              </a:spcAft>
            </a:pPr>
            <a:r>
              <a:rPr sz="4000" b="1" i="0">
                <a:solidFill>
                  <a:srgbClr val="FFFFFF"/>
                </a:solidFill>
                <a:latin typeface="Calibri"/>
              </a:rPr>
              <a:t>-5.02</a:t>
            </a:r>
          </a:p>
        </p:txBody>
      </p:sp>
      <p:sp>
        <p:nvSpPr>
          <p:cNvPr id="24" name="Rectangle 23"/>
          <p:cNvSpPr/>
          <p:nvPr/>
        </p:nvSpPr>
        <p:spPr>
          <a:xfrm>
            <a:off x="6035040" y="3566160"/>
            <a:ext cx="2514600" cy="960120"/>
          </a:xfrm>
          <a:prstGeom prst="rect">
            <a:avLst/>
          </a:prstGeom>
          <a:solidFill>
            <a:srgbClr val="050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035040" y="3566160"/>
            <a:ext cx="45720" cy="960120"/>
          </a:xfrm>
          <a:prstGeom prst="rect">
            <a:avLst/>
          </a:prstGeom>
          <a:solidFill>
            <a:srgbClr val="5B7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91072" y="3712464"/>
            <a:ext cx="2057400" cy="274320"/>
          </a:xfrm>
          <a:prstGeom prst="rect">
            <a:avLst/>
          </a:prstGeom>
          <a:noFill/>
        </p:spPr>
        <p:txBody>
          <a:bodyPr wrap="square" anchor="t" lIns="0" rIns="0" tIns="0" bIns="0">
            <a:spAutoFit/>
          </a:bodyPr>
          <a:lstStyle/>
          <a:p>
            <a:pPr algn="l">
              <a:lnSpc>
                <a:spcPct val="100000"/>
              </a:lnSpc>
              <a:spcAft>
                <a:spcPts val="0"/>
              </a:spcAft>
            </a:pPr>
            <a:r>
              <a:rPr sz="1100" b="0" i="0">
                <a:solidFill>
                  <a:srgbClr val="A9AFBC"/>
                </a:solidFill>
                <a:latin typeface="Calibri"/>
              </a:rPr>
              <a:t>RMSE</a:t>
            </a:r>
          </a:p>
        </p:txBody>
      </p:sp>
      <p:sp>
        <p:nvSpPr>
          <p:cNvPr id="27" name="TextBox 26"/>
          <p:cNvSpPr txBox="1"/>
          <p:nvPr/>
        </p:nvSpPr>
        <p:spPr>
          <a:xfrm>
            <a:off x="6272784" y="3950208"/>
            <a:ext cx="2057400" cy="457200"/>
          </a:xfrm>
          <a:prstGeom prst="rect">
            <a:avLst/>
          </a:prstGeom>
          <a:noFill/>
        </p:spPr>
        <p:txBody>
          <a:bodyPr wrap="square" anchor="t" lIns="0" rIns="0" tIns="0" bIns="0">
            <a:spAutoFit/>
          </a:bodyPr>
          <a:lstStyle/>
          <a:p>
            <a:pPr algn="l">
              <a:lnSpc>
                <a:spcPct val="100000"/>
              </a:lnSpc>
              <a:spcAft>
                <a:spcPts val="0"/>
              </a:spcAft>
            </a:pPr>
            <a:r>
              <a:rPr sz="2200" b="1" i="0">
                <a:solidFill>
                  <a:srgbClr val="FFFFFF"/>
                </a:solidFill>
                <a:latin typeface="Calibri"/>
              </a:rPr>
              <a:t>0.003876</a:t>
            </a:r>
          </a:p>
        </p:txBody>
      </p:sp>
      <p:sp>
        <p:nvSpPr>
          <p:cNvPr id="28" name="Rectangle 27"/>
          <p:cNvSpPr/>
          <p:nvPr/>
        </p:nvSpPr>
        <p:spPr>
          <a:xfrm>
            <a:off x="8732520" y="3566160"/>
            <a:ext cx="2514600" cy="960120"/>
          </a:xfrm>
          <a:prstGeom prst="rect">
            <a:avLst/>
          </a:prstGeom>
          <a:solidFill>
            <a:srgbClr val="050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732520" y="3566160"/>
            <a:ext cx="45720" cy="960120"/>
          </a:xfrm>
          <a:prstGeom prst="rect">
            <a:avLst/>
          </a:prstGeom>
          <a:solidFill>
            <a:srgbClr val="5B7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988552" y="3712464"/>
            <a:ext cx="2057400" cy="274320"/>
          </a:xfrm>
          <a:prstGeom prst="rect">
            <a:avLst/>
          </a:prstGeom>
          <a:noFill/>
        </p:spPr>
        <p:txBody>
          <a:bodyPr wrap="square" anchor="t" lIns="0" rIns="0" tIns="0" bIns="0">
            <a:spAutoFit/>
          </a:bodyPr>
          <a:lstStyle/>
          <a:p>
            <a:pPr algn="l">
              <a:lnSpc>
                <a:spcPct val="100000"/>
              </a:lnSpc>
              <a:spcAft>
                <a:spcPts val="0"/>
              </a:spcAft>
            </a:pPr>
            <a:r>
              <a:rPr sz="1100" b="0" i="0">
                <a:solidFill>
                  <a:srgbClr val="A9AFBC"/>
                </a:solidFill>
                <a:latin typeface="Calibri"/>
              </a:rPr>
              <a:t>MAPE</a:t>
            </a:r>
          </a:p>
        </p:txBody>
      </p:sp>
      <p:sp>
        <p:nvSpPr>
          <p:cNvPr id="31" name="TextBox 30"/>
          <p:cNvSpPr txBox="1"/>
          <p:nvPr/>
        </p:nvSpPr>
        <p:spPr>
          <a:xfrm>
            <a:off x="8970264" y="3950208"/>
            <a:ext cx="2057400" cy="457200"/>
          </a:xfrm>
          <a:prstGeom prst="rect">
            <a:avLst/>
          </a:prstGeom>
          <a:noFill/>
        </p:spPr>
        <p:txBody>
          <a:bodyPr wrap="square" anchor="t" lIns="0" rIns="0" tIns="0" bIns="0">
            <a:spAutoFit/>
          </a:bodyPr>
          <a:lstStyle/>
          <a:p>
            <a:pPr algn="l">
              <a:lnSpc>
                <a:spcPct val="100000"/>
              </a:lnSpc>
              <a:spcAft>
                <a:spcPts val="0"/>
              </a:spcAft>
            </a:pPr>
            <a:r>
              <a:rPr sz="2200" b="1" i="0">
                <a:solidFill>
                  <a:srgbClr val="FFFFFF"/>
                </a:solidFill>
                <a:latin typeface="Calibri"/>
              </a:rPr>
              <a:t>90.54%</a:t>
            </a:r>
          </a:p>
        </p:txBody>
      </p:sp>
      <p:sp>
        <p:nvSpPr>
          <p:cNvPr id="32" name="Rectangle 31"/>
          <p:cNvSpPr/>
          <p:nvPr/>
        </p:nvSpPr>
        <p:spPr>
          <a:xfrm>
            <a:off x="502920" y="4892040"/>
            <a:ext cx="10744200" cy="1234440"/>
          </a:xfrm>
          <a:prstGeom prst="rect">
            <a:avLst/>
          </a:prstGeom>
          <a:solidFill>
            <a:srgbClr val="1417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02920" y="4892040"/>
            <a:ext cx="45720" cy="1234440"/>
          </a:xfrm>
          <a:prstGeom prst="rect">
            <a:avLst/>
          </a:prstGeom>
          <a:solidFill>
            <a:srgbClr val="C46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77240" y="5020056"/>
            <a:ext cx="10195560" cy="274320"/>
          </a:xfrm>
          <a:prstGeom prst="rect">
            <a:avLst/>
          </a:prstGeom>
          <a:noFill/>
        </p:spPr>
        <p:txBody>
          <a:bodyPr wrap="square" anchor="t" lIns="0" rIns="0" tIns="0" bIns="0">
            <a:spAutoFit/>
          </a:bodyPr>
          <a:lstStyle/>
          <a:p>
            <a:pPr algn="l">
              <a:lnSpc>
                <a:spcPct val="100000"/>
              </a:lnSpc>
              <a:spcAft>
                <a:spcPts val="0"/>
              </a:spcAft>
            </a:pPr>
            <a:r>
              <a:rPr sz="1250" b="1" i="0">
                <a:solidFill>
                  <a:srgbClr val="C4645A"/>
                </a:solidFill>
                <a:latin typeface="Calibri"/>
              </a:rPr>
              <a:t>KEY INSIGHT</a:t>
            </a:r>
          </a:p>
        </p:txBody>
      </p:sp>
      <p:sp>
        <p:nvSpPr>
          <p:cNvPr id="35" name="TextBox 34"/>
          <p:cNvSpPr txBox="1"/>
          <p:nvPr/>
        </p:nvSpPr>
        <p:spPr>
          <a:xfrm>
            <a:off x="777240" y="5312664"/>
            <a:ext cx="10195560" cy="685800"/>
          </a:xfrm>
          <a:prstGeom prst="rect">
            <a:avLst/>
          </a:prstGeom>
          <a:noFill/>
        </p:spPr>
        <p:txBody>
          <a:bodyPr wrap="square" anchor="t" lIns="0" rIns="0" tIns="0" bIns="0">
            <a:spAutoFit/>
          </a:bodyPr>
          <a:lstStyle/>
          <a:p>
            <a:pPr algn="l">
              <a:lnSpc>
                <a:spcPct val="115000"/>
              </a:lnSpc>
              <a:spcAft>
                <a:spcPts val="0"/>
              </a:spcAft>
            </a:pPr>
            <a:r>
              <a:rPr sz="1300" b="0" i="0">
                <a:solidFill>
                  <a:srgbClr val="A9AFBC"/>
                </a:solidFill>
                <a:latin typeface="Calibri"/>
              </a:rPr>
              <a:t>GARCH's forecast mean-reverts toward a long-run average well before 168 hours are up - a structural weakness at this horizon, not an implementation bug. It degrades even further on live data (R2 = -110.68).</a:t>
            </a:r>
          </a:p>
        </p:txBody>
      </p:sp>
      <p:sp>
        <p:nvSpPr>
          <p:cNvPr id="36" name="TextBox 35"/>
          <p:cNvSpPr txBox="1"/>
          <p:nvPr/>
        </p:nvSpPr>
        <p:spPr>
          <a:xfrm>
            <a:off x="11612880" y="6492240"/>
            <a:ext cx="457200" cy="274320"/>
          </a:xfrm>
          <a:prstGeom prst="rect">
            <a:avLst/>
          </a:prstGeom>
          <a:noFill/>
        </p:spPr>
        <p:txBody>
          <a:bodyPr wrap="square" anchor="t" lIns="0" rIns="0" tIns="0" bIns="0">
            <a:spAutoFit/>
          </a:bodyPr>
          <a:lstStyle/>
          <a:p>
            <a:pPr algn="r">
              <a:lnSpc>
                <a:spcPct val="100000"/>
              </a:lnSpc>
              <a:spcAft>
                <a:spcPts val="0"/>
              </a:spcAft>
            </a:pPr>
            <a:r>
              <a:rPr sz="1100" b="0" i="0">
                <a:solidFill>
                  <a:srgbClr val="777E8C"/>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457200"/>
            <a:ext cx="54864" cy="384048"/>
          </a:xfrm>
          <a:prstGeom prst="rect">
            <a:avLst/>
          </a:prstGeom>
          <a:solidFill>
            <a:srgbClr val="E8C9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384048"/>
            <a:ext cx="9601200" cy="502920"/>
          </a:xfrm>
          <a:prstGeom prst="rect">
            <a:avLst/>
          </a:prstGeom>
          <a:noFill/>
        </p:spPr>
        <p:txBody>
          <a:bodyPr wrap="square" anchor="t" lIns="0" rIns="0" tIns="0" bIns="0">
            <a:spAutoFit/>
          </a:bodyPr>
          <a:lstStyle/>
          <a:p>
            <a:pPr algn="l">
              <a:lnSpc>
                <a:spcPct val="100000"/>
              </a:lnSpc>
              <a:spcAft>
                <a:spcPts val="0"/>
              </a:spcAft>
            </a:pPr>
            <a:r>
              <a:rPr sz="2700" b="1" i="0">
                <a:solidFill>
                  <a:srgbClr val="FFFFFF"/>
                </a:solidFill>
                <a:latin typeface="Calibri"/>
              </a:rPr>
              <a:t>Model 2: HAR-RV-X</a:t>
            </a:r>
          </a:p>
        </p:txBody>
      </p:sp>
      <p:sp>
        <p:nvSpPr>
          <p:cNvPr id="5" name="TextBox 4"/>
          <p:cNvSpPr txBox="1"/>
          <p:nvPr/>
        </p:nvSpPr>
        <p:spPr>
          <a:xfrm>
            <a:off x="685800" y="868680"/>
            <a:ext cx="10515600" cy="365760"/>
          </a:xfrm>
          <a:prstGeom prst="rect">
            <a:avLst/>
          </a:prstGeom>
          <a:noFill/>
        </p:spPr>
        <p:txBody>
          <a:bodyPr wrap="square" anchor="t" lIns="0" rIns="0" tIns="0" bIns="0">
            <a:spAutoFit/>
          </a:bodyPr>
          <a:lstStyle/>
          <a:p>
            <a:pPr algn="l">
              <a:lnSpc>
                <a:spcPct val="100000"/>
              </a:lnSpc>
              <a:spcAft>
                <a:spcPts val="0"/>
              </a:spcAft>
            </a:pPr>
            <a:r>
              <a:rPr sz="1350" b="0" i="0">
                <a:solidFill>
                  <a:srgbClr val="A9AFBC"/>
                </a:solidFill>
                <a:latin typeface="Calibri"/>
              </a:rPr>
              <a:t>Regression on Realized-Volatility Horizons, Ridge-Regularized (Final)</a:t>
            </a:r>
          </a:p>
        </p:txBody>
      </p:sp>
      <p:sp>
        <p:nvSpPr>
          <p:cNvPr id="6" name="TextBox 5"/>
          <p:cNvSpPr txBox="1"/>
          <p:nvPr/>
        </p:nvSpPr>
        <p:spPr>
          <a:xfrm>
            <a:off x="502920" y="1600200"/>
            <a:ext cx="5212080" cy="320040"/>
          </a:xfrm>
          <a:prstGeom prst="rect">
            <a:avLst/>
          </a:prstGeom>
          <a:noFill/>
        </p:spPr>
        <p:txBody>
          <a:bodyPr wrap="square" anchor="t" lIns="0" rIns="0" tIns="0" bIns="0">
            <a:spAutoFit/>
          </a:bodyPr>
          <a:lstStyle/>
          <a:p>
            <a:pPr algn="l">
              <a:lnSpc>
                <a:spcPct val="100000"/>
              </a:lnSpc>
              <a:spcAft>
                <a:spcPts val="0"/>
              </a:spcAft>
            </a:pPr>
            <a:r>
              <a:rPr sz="1350" b="1" i="0">
                <a:solidFill>
                  <a:srgbClr val="E8C99B"/>
                </a:solidFill>
                <a:latin typeface="Calibri"/>
              </a:rPr>
              <a:t>Model Configuration</a:t>
            </a:r>
          </a:p>
        </p:txBody>
      </p:sp>
      <p:sp>
        <p:nvSpPr>
          <p:cNvPr id="7" name="TextBox 6"/>
          <p:cNvSpPr txBox="1"/>
          <p:nvPr/>
        </p:nvSpPr>
        <p:spPr>
          <a:xfrm>
            <a:off x="502920" y="2057400"/>
            <a:ext cx="5120640" cy="365760"/>
          </a:xfrm>
          <a:prstGeom prst="rect">
            <a:avLst/>
          </a:prstGeom>
          <a:noFill/>
        </p:spPr>
        <p:txBody>
          <a:bodyPr wrap="square" anchor="t" lIns="0" rIns="0" tIns="0" bIns="0">
            <a:spAutoFit/>
          </a:bodyPr>
          <a:lstStyle/>
          <a:p>
            <a:pPr algn="l">
              <a:lnSpc>
                <a:spcPct val="105000"/>
              </a:lnSpc>
            </a:pPr>
            <a:r>
              <a:rPr sz="1300" b="0">
                <a:solidFill>
                  <a:srgbClr val="A9AFBC"/>
                </a:solidFill>
                <a:latin typeface="Calibri"/>
              </a:rPr>
              <a:t>Regressors</a:t>
            </a:r>
          </a:p>
        </p:txBody>
      </p:sp>
      <p:sp>
        <p:nvSpPr>
          <p:cNvPr id="8" name="TextBox 7"/>
          <p:cNvSpPr txBox="1"/>
          <p:nvPr/>
        </p:nvSpPr>
        <p:spPr>
          <a:xfrm>
            <a:off x="502920" y="2057400"/>
            <a:ext cx="5120640" cy="365760"/>
          </a:xfrm>
          <a:prstGeom prst="rect">
            <a:avLst/>
          </a:prstGeom>
          <a:noFill/>
        </p:spPr>
        <p:txBody>
          <a:bodyPr wrap="square" anchor="t" lIns="0" rIns="0" tIns="0" bIns="0">
            <a:spAutoFit/>
          </a:bodyPr>
          <a:lstStyle/>
          <a:p>
            <a:pPr algn="r">
              <a:lnSpc>
                <a:spcPct val="100000"/>
              </a:lnSpc>
              <a:spcAft>
                <a:spcPts val="0"/>
              </a:spcAft>
            </a:pPr>
            <a:r>
              <a:rPr sz="1300" b="1" i="0">
                <a:solidFill>
                  <a:srgbClr val="FFFFFF"/>
                </a:solidFill>
                <a:latin typeface="Calibri"/>
              </a:rPr>
              <a:t>6 (RV horizons, ATR_X, EWMA_X, SKEW_X)</a:t>
            </a:r>
          </a:p>
        </p:txBody>
      </p:sp>
      <p:sp>
        <p:nvSpPr>
          <p:cNvPr id="9" name="Rectangle 8"/>
          <p:cNvSpPr/>
          <p:nvPr/>
        </p:nvSpPr>
        <p:spPr>
          <a:xfrm>
            <a:off x="502920" y="2441448"/>
            <a:ext cx="5120640" cy="9525"/>
          </a:xfrm>
          <a:prstGeom prst="rect">
            <a:avLst/>
          </a:prstGeom>
          <a:solidFill>
            <a:srgbClr val="2A2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2560320"/>
            <a:ext cx="5120640" cy="365760"/>
          </a:xfrm>
          <a:prstGeom prst="rect">
            <a:avLst/>
          </a:prstGeom>
          <a:noFill/>
        </p:spPr>
        <p:txBody>
          <a:bodyPr wrap="square" anchor="t" lIns="0" rIns="0" tIns="0" bIns="0">
            <a:spAutoFit/>
          </a:bodyPr>
          <a:lstStyle/>
          <a:p>
            <a:pPr algn="l">
              <a:lnSpc>
                <a:spcPct val="105000"/>
              </a:lnSpc>
            </a:pPr>
            <a:r>
              <a:rPr sz="1300" b="0">
                <a:solidFill>
                  <a:srgbClr val="A9AFBC"/>
                </a:solidFill>
                <a:latin typeface="Calibri"/>
              </a:rPr>
              <a:t>Regularization</a:t>
            </a:r>
          </a:p>
        </p:txBody>
      </p:sp>
      <p:sp>
        <p:nvSpPr>
          <p:cNvPr id="11" name="TextBox 10"/>
          <p:cNvSpPr txBox="1"/>
          <p:nvPr/>
        </p:nvSpPr>
        <p:spPr>
          <a:xfrm>
            <a:off x="502920" y="2560320"/>
            <a:ext cx="5120640" cy="365760"/>
          </a:xfrm>
          <a:prstGeom prst="rect">
            <a:avLst/>
          </a:prstGeom>
          <a:noFill/>
        </p:spPr>
        <p:txBody>
          <a:bodyPr wrap="square" anchor="t" lIns="0" rIns="0" tIns="0" bIns="0">
            <a:spAutoFit/>
          </a:bodyPr>
          <a:lstStyle/>
          <a:p>
            <a:pPr algn="r">
              <a:lnSpc>
                <a:spcPct val="100000"/>
              </a:lnSpc>
              <a:spcAft>
                <a:spcPts val="0"/>
              </a:spcAft>
            </a:pPr>
            <a:r>
              <a:rPr sz="1300" b="1" i="0">
                <a:solidFill>
                  <a:srgbClr val="FFFFFF"/>
                </a:solidFill>
                <a:latin typeface="Calibri"/>
              </a:rPr>
              <a:t>Ridge</a:t>
            </a:r>
          </a:p>
        </p:txBody>
      </p:sp>
      <p:sp>
        <p:nvSpPr>
          <p:cNvPr id="12" name="Rectangle 11"/>
          <p:cNvSpPr/>
          <p:nvPr/>
        </p:nvSpPr>
        <p:spPr>
          <a:xfrm>
            <a:off x="502920" y="2944368"/>
            <a:ext cx="5120640" cy="9525"/>
          </a:xfrm>
          <a:prstGeom prst="rect">
            <a:avLst/>
          </a:prstGeom>
          <a:solidFill>
            <a:srgbClr val="2A2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2920" y="3063239"/>
            <a:ext cx="5120640" cy="365760"/>
          </a:xfrm>
          <a:prstGeom prst="rect">
            <a:avLst/>
          </a:prstGeom>
          <a:noFill/>
        </p:spPr>
        <p:txBody>
          <a:bodyPr wrap="square" anchor="t" lIns="0" rIns="0" tIns="0" bIns="0">
            <a:spAutoFit/>
          </a:bodyPr>
          <a:lstStyle/>
          <a:p>
            <a:pPr algn="l">
              <a:lnSpc>
                <a:spcPct val="105000"/>
              </a:lnSpc>
            </a:pPr>
            <a:r>
              <a:rPr sz="1300" b="0">
                <a:solidFill>
                  <a:srgbClr val="A9AFBC"/>
                </a:solidFill>
                <a:latin typeface="Calibri"/>
              </a:rPr>
              <a:t>Alpha</a:t>
            </a:r>
          </a:p>
        </p:txBody>
      </p:sp>
      <p:sp>
        <p:nvSpPr>
          <p:cNvPr id="14" name="TextBox 13"/>
          <p:cNvSpPr txBox="1"/>
          <p:nvPr/>
        </p:nvSpPr>
        <p:spPr>
          <a:xfrm>
            <a:off x="502920" y="3063239"/>
            <a:ext cx="5120640" cy="365760"/>
          </a:xfrm>
          <a:prstGeom prst="rect">
            <a:avLst/>
          </a:prstGeom>
          <a:noFill/>
        </p:spPr>
        <p:txBody>
          <a:bodyPr wrap="square" anchor="t" lIns="0" rIns="0" tIns="0" bIns="0">
            <a:spAutoFit/>
          </a:bodyPr>
          <a:lstStyle/>
          <a:p>
            <a:pPr algn="r">
              <a:lnSpc>
                <a:spcPct val="100000"/>
              </a:lnSpc>
              <a:spcAft>
                <a:spcPts val="0"/>
              </a:spcAft>
            </a:pPr>
            <a:r>
              <a:rPr sz="1300" b="1" i="0">
                <a:solidFill>
                  <a:srgbClr val="FFFFFF"/>
                </a:solidFill>
                <a:latin typeface="Calibri"/>
              </a:rPr>
              <a:t>0.01</a:t>
            </a:r>
          </a:p>
        </p:txBody>
      </p:sp>
      <p:sp>
        <p:nvSpPr>
          <p:cNvPr id="15" name="Rectangle 14"/>
          <p:cNvSpPr/>
          <p:nvPr/>
        </p:nvSpPr>
        <p:spPr>
          <a:xfrm>
            <a:off x="502920" y="3447287"/>
            <a:ext cx="5120640" cy="9525"/>
          </a:xfrm>
          <a:prstGeom prst="rect">
            <a:avLst/>
          </a:prstGeom>
          <a:solidFill>
            <a:srgbClr val="2A2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2920" y="3566159"/>
            <a:ext cx="5120640" cy="365760"/>
          </a:xfrm>
          <a:prstGeom prst="rect">
            <a:avLst/>
          </a:prstGeom>
          <a:noFill/>
        </p:spPr>
        <p:txBody>
          <a:bodyPr wrap="square" anchor="t" lIns="0" rIns="0" tIns="0" bIns="0">
            <a:spAutoFit/>
          </a:bodyPr>
          <a:lstStyle/>
          <a:p>
            <a:pPr algn="l">
              <a:lnSpc>
                <a:spcPct val="105000"/>
              </a:lnSpc>
            </a:pPr>
            <a:r>
              <a:rPr sz="1300" b="0">
                <a:solidFill>
                  <a:srgbClr val="A9AFBC"/>
                </a:solidFill>
                <a:latin typeface="Calibri"/>
              </a:rPr>
              <a:t>Target Transform</a:t>
            </a:r>
          </a:p>
        </p:txBody>
      </p:sp>
      <p:sp>
        <p:nvSpPr>
          <p:cNvPr id="17" name="TextBox 16"/>
          <p:cNvSpPr txBox="1"/>
          <p:nvPr/>
        </p:nvSpPr>
        <p:spPr>
          <a:xfrm>
            <a:off x="502920" y="3566159"/>
            <a:ext cx="5120640" cy="365760"/>
          </a:xfrm>
          <a:prstGeom prst="rect">
            <a:avLst/>
          </a:prstGeom>
          <a:noFill/>
        </p:spPr>
        <p:txBody>
          <a:bodyPr wrap="square" anchor="t" lIns="0" rIns="0" tIns="0" bIns="0">
            <a:spAutoFit/>
          </a:bodyPr>
          <a:lstStyle/>
          <a:p>
            <a:pPr algn="r">
              <a:lnSpc>
                <a:spcPct val="100000"/>
              </a:lnSpc>
              <a:spcAft>
                <a:spcPts val="0"/>
              </a:spcAft>
            </a:pPr>
            <a:r>
              <a:rPr sz="1300" b="1" i="0">
                <a:solidFill>
                  <a:srgbClr val="FFFFFF"/>
                </a:solidFill>
                <a:latin typeface="Calibri"/>
              </a:rPr>
              <a:t>log(target)</a:t>
            </a:r>
          </a:p>
        </p:txBody>
      </p:sp>
      <p:sp>
        <p:nvSpPr>
          <p:cNvPr id="18" name="Rectangle 17"/>
          <p:cNvSpPr/>
          <p:nvPr/>
        </p:nvSpPr>
        <p:spPr>
          <a:xfrm>
            <a:off x="502920" y="3950207"/>
            <a:ext cx="5120640" cy="9525"/>
          </a:xfrm>
          <a:prstGeom prst="rect">
            <a:avLst/>
          </a:prstGeom>
          <a:solidFill>
            <a:srgbClr val="2A2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035040" y="1600200"/>
            <a:ext cx="5212080" cy="320040"/>
          </a:xfrm>
          <a:prstGeom prst="rect">
            <a:avLst/>
          </a:prstGeom>
          <a:noFill/>
        </p:spPr>
        <p:txBody>
          <a:bodyPr wrap="square" anchor="t" lIns="0" rIns="0" tIns="0" bIns="0">
            <a:spAutoFit/>
          </a:bodyPr>
          <a:lstStyle/>
          <a:p>
            <a:pPr algn="l">
              <a:lnSpc>
                <a:spcPct val="100000"/>
              </a:lnSpc>
              <a:spcAft>
                <a:spcPts val="0"/>
              </a:spcAft>
            </a:pPr>
            <a:r>
              <a:rPr sz="1350" b="1" i="0">
                <a:solidFill>
                  <a:srgbClr val="E8C99B"/>
                </a:solidFill>
                <a:latin typeface="Calibri"/>
              </a:rPr>
              <a:t>Performance (Historical Test)</a:t>
            </a:r>
          </a:p>
        </p:txBody>
      </p:sp>
      <p:sp>
        <p:nvSpPr>
          <p:cNvPr id="20" name="Rectangle 19"/>
          <p:cNvSpPr/>
          <p:nvPr/>
        </p:nvSpPr>
        <p:spPr>
          <a:xfrm>
            <a:off x="6035040" y="2011680"/>
            <a:ext cx="5212080" cy="1417320"/>
          </a:xfrm>
          <a:prstGeom prst="rect">
            <a:avLst/>
          </a:prstGeom>
          <a:solidFill>
            <a:srgbClr val="050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035040" y="2011680"/>
            <a:ext cx="45720" cy="1417320"/>
          </a:xfrm>
          <a:prstGeom prst="rect">
            <a:avLst/>
          </a:prstGeom>
          <a:solidFill>
            <a:srgbClr val="E8C9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91072" y="2157984"/>
            <a:ext cx="4754880" cy="274320"/>
          </a:xfrm>
          <a:prstGeom prst="rect">
            <a:avLst/>
          </a:prstGeom>
          <a:noFill/>
        </p:spPr>
        <p:txBody>
          <a:bodyPr wrap="square" anchor="t" lIns="0" rIns="0" tIns="0" bIns="0">
            <a:spAutoFit/>
          </a:bodyPr>
          <a:lstStyle/>
          <a:p>
            <a:pPr algn="l">
              <a:lnSpc>
                <a:spcPct val="100000"/>
              </a:lnSpc>
              <a:spcAft>
                <a:spcPts val="0"/>
              </a:spcAft>
            </a:pPr>
            <a:r>
              <a:rPr sz="1100" b="0" i="0">
                <a:solidFill>
                  <a:srgbClr val="A9AFBC"/>
                </a:solidFill>
                <a:latin typeface="Calibri"/>
              </a:rPr>
              <a:t>R2 (Historical)</a:t>
            </a:r>
          </a:p>
        </p:txBody>
      </p:sp>
      <p:sp>
        <p:nvSpPr>
          <p:cNvPr id="23" name="TextBox 22"/>
          <p:cNvSpPr txBox="1"/>
          <p:nvPr/>
        </p:nvSpPr>
        <p:spPr>
          <a:xfrm>
            <a:off x="6272784" y="2395728"/>
            <a:ext cx="4754880" cy="914400"/>
          </a:xfrm>
          <a:prstGeom prst="rect">
            <a:avLst/>
          </a:prstGeom>
          <a:noFill/>
        </p:spPr>
        <p:txBody>
          <a:bodyPr wrap="square" anchor="t" lIns="0" rIns="0" tIns="0" bIns="0">
            <a:spAutoFit/>
          </a:bodyPr>
          <a:lstStyle/>
          <a:p>
            <a:pPr algn="l">
              <a:lnSpc>
                <a:spcPct val="100000"/>
              </a:lnSpc>
              <a:spcAft>
                <a:spcPts val="0"/>
              </a:spcAft>
            </a:pPr>
            <a:r>
              <a:rPr sz="4000" b="1" i="0">
                <a:solidFill>
                  <a:srgbClr val="FFFFFF"/>
                </a:solidFill>
                <a:latin typeface="Calibri"/>
              </a:rPr>
              <a:t>0.242</a:t>
            </a:r>
          </a:p>
        </p:txBody>
      </p:sp>
      <p:sp>
        <p:nvSpPr>
          <p:cNvPr id="24" name="Rectangle 23"/>
          <p:cNvSpPr/>
          <p:nvPr/>
        </p:nvSpPr>
        <p:spPr>
          <a:xfrm>
            <a:off x="6035040" y="3566160"/>
            <a:ext cx="2514600" cy="960120"/>
          </a:xfrm>
          <a:prstGeom prst="rect">
            <a:avLst/>
          </a:prstGeom>
          <a:solidFill>
            <a:srgbClr val="050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035040" y="3566160"/>
            <a:ext cx="45720" cy="960120"/>
          </a:xfrm>
          <a:prstGeom prst="rect">
            <a:avLst/>
          </a:prstGeom>
          <a:solidFill>
            <a:srgbClr val="5B7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91072" y="3712464"/>
            <a:ext cx="2057400" cy="274320"/>
          </a:xfrm>
          <a:prstGeom prst="rect">
            <a:avLst/>
          </a:prstGeom>
          <a:noFill/>
        </p:spPr>
        <p:txBody>
          <a:bodyPr wrap="square" anchor="t" lIns="0" rIns="0" tIns="0" bIns="0">
            <a:spAutoFit/>
          </a:bodyPr>
          <a:lstStyle/>
          <a:p>
            <a:pPr algn="l">
              <a:lnSpc>
                <a:spcPct val="100000"/>
              </a:lnSpc>
              <a:spcAft>
                <a:spcPts val="0"/>
              </a:spcAft>
            </a:pPr>
            <a:r>
              <a:rPr sz="1100" b="0" i="0">
                <a:solidFill>
                  <a:srgbClr val="A9AFBC"/>
                </a:solidFill>
                <a:latin typeface="Calibri"/>
              </a:rPr>
              <a:t>RMSE</a:t>
            </a:r>
          </a:p>
        </p:txBody>
      </p:sp>
      <p:sp>
        <p:nvSpPr>
          <p:cNvPr id="27" name="TextBox 26"/>
          <p:cNvSpPr txBox="1"/>
          <p:nvPr/>
        </p:nvSpPr>
        <p:spPr>
          <a:xfrm>
            <a:off x="6272784" y="3950208"/>
            <a:ext cx="2057400" cy="457200"/>
          </a:xfrm>
          <a:prstGeom prst="rect">
            <a:avLst/>
          </a:prstGeom>
          <a:noFill/>
        </p:spPr>
        <p:txBody>
          <a:bodyPr wrap="square" anchor="t" lIns="0" rIns="0" tIns="0" bIns="0">
            <a:spAutoFit/>
          </a:bodyPr>
          <a:lstStyle/>
          <a:p>
            <a:pPr algn="l">
              <a:lnSpc>
                <a:spcPct val="100000"/>
              </a:lnSpc>
              <a:spcAft>
                <a:spcPts val="0"/>
              </a:spcAft>
            </a:pPr>
            <a:r>
              <a:rPr sz="2200" b="1" i="0">
                <a:solidFill>
                  <a:srgbClr val="FFFFFF"/>
                </a:solidFill>
                <a:latin typeface="Calibri"/>
              </a:rPr>
              <a:t>0.001367</a:t>
            </a:r>
          </a:p>
        </p:txBody>
      </p:sp>
      <p:sp>
        <p:nvSpPr>
          <p:cNvPr id="28" name="Rectangle 27"/>
          <p:cNvSpPr/>
          <p:nvPr/>
        </p:nvSpPr>
        <p:spPr>
          <a:xfrm>
            <a:off x="8732520" y="3566160"/>
            <a:ext cx="2514600" cy="960120"/>
          </a:xfrm>
          <a:prstGeom prst="rect">
            <a:avLst/>
          </a:prstGeom>
          <a:solidFill>
            <a:srgbClr val="050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732520" y="3566160"/>
            <a:ext cx="45720" cy="960120"/>
          </a:xfrm>
          <a:prstGeom prst="rect">
            <a:avLst/>
          </a:prstGeom>
          <a:solidFill>
            <a:srgbClr val="5B7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988552" y="3712464"/>
            <a:ext cx="2057400" cy="274320"/>
          </a:xfrm>
          <a:prstGeom prst="rect">
            <a:avLst/>
          </a:prstGeom>
          <a:noFill/>
        </p:spPr>
        <p:txBody>
          <a:bodyPr wrap="square" anchor="t" lIns="0" rIns="0" tIns="0" bIns="0">
            <a:spAutoFit/>
          </a:bodyPr>
          <a:lstStyle/>
          <a:p>
            <a:pPr algn="l">
              <a:lnSpc>
                <a:spcPct val="100000"/>
              </a:lnSpc>
              <a:spcAft>
                <a:spcPts val="0"/>
              </a:spcAft>
            </a:pPr>
            <a:r>
              <a:rPr sz="1100" b="0" i="0">
                <a:solidFill>
                  <a:srgbClr val="A9AFBC"/>
                </a:solidFill>
                <a:latin typeface="Calibri"/>
              </a:rPr>
              <a:t>MAPE</a:t>
            </a:r>
          </a:p>
        </p:txBody>
      </p:sp>
      <p:sp>
        <p:nvSpPr>
          <p:cNvPr id="31" name="TextBox 30"/>
          <p:cNvSpPr txBox="1"/>
          <p:nvPr/>
        </p:nvSpPr>
        <p:spPr>
          <a:xfrm>
            <a:off x="8970264" y="3950208"/>
            <a:ext cx="2057400" cy="457200"/>
          </a:xfrm>
          <a:prstGeom prst="rect">
            <a:avLst/>
          </a:prstGeom>
          <a:noFill/>
        </p:spPr>
        <p:txBody>
          <a:bodyPr wrap="square" anchor="t" lIns="0" rIns="0" tIns="0" bIns="0">
            <a:spAutoFit/>
          </a:bodyPr>
          <a:lstStyle/>
          <a:p>
            <a:pPr algn="l">
              <a:lnSpc>
                <a:spcPct val="100000"/>
              </a:lnSpc>
              <a:spcAft>
                <a:spcPts val="0"/>
              </a:spcAft>
            </a:pPr>
            <a:r>
              <a:rPr sz="2200" b="1" i="0">
                <a:solidFill>
                  <a:srgbClr val="FFFFFF"/>
                </a:solidFill>
                <a:latin typeface="Calibri"/>
              </a:rPr>
              <a:t>22.83%</a:t>
            </a:r>
          </a:p>
        </p:txBody>
      </p:sp>
      <p:sp>
        <p:nvSpPr>
          <p:cNvPr id="32" name="Rectangle 31"/>
          <p:cNvSpPr/>
          <p:nvPr/>
        </p:nvSpPr>
        <p:spPr>
          <a:xfrm>
            <a:off x="502920" y="4892040"/>
            <a:ext cx="10744200" cy="1234440"/>
          </a:xfrm>
          <a:prstGeom prst="rect">
            <a:avLst/>
          </a:prstGeom>
          <a:solidFill>
            <a:srgbClr val="1417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02920" y="4892040"/>
            <a:ext cx="45720" cy="1234440"/>
          </a:xfrm>
          <a:prstGeom prst="rect">
            <a:avLst/>
          </a:prstGeom>
          <a:solidFill>
            <a:srgbClr val="E8C9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77240" y="5020056"/>
            <a:ext cx="10195560" cy="274320"/>
          </a:xfrm>
          <a:prstGeom prst="rect">
            <a:avLst/>
          </a:prstGeom>
          <a:noFill/>
        </p:spPr>
        <p:txBody>
          <a:bodyPr wrap="square" anchor="t" lIns="0" rIns="0" tIns="0" bIns="0">
            <a:spAutoFit/>
          </a:bodyPr>
          <a:lstStyle/>
          <a:p>
            <a:pPr algn="l">
              <a:lnSpc>
                <a:spcPct val="100000"/>
              </a:lnSpc>
              <a:spcAft>
                <a:spcPts val="0"/>
              </a:spcAft>
            </a:pPr>
            <a:r>
              <a:rPr sz="1250" b="1" i="0">
                <a:solidFill>
                  <a:srgbClr val="E8C99B"/>
                </a:solidFill>
                <a:latin typeface="Calibri"/>
              </a:rPr>
              <a:t>KEY INSIGHT</a:t>
            </a:r>
          </a:p>
        </p:txBody>
      </p:sp>
      <p:sp>
        <p:nvSpPr>
          <p:cNvPr id="35" name="TextBox 34"/>
          <p:cNvSpPr txBox="1"/>
          <p:nvPr/>
        </p:nvSpPr>
        <p:spPr>
          <a:xfrm>
            <a:off x="777240" y="5312664"/>
            <a:ext cx="10195560" cy="685800"/>
          </a:xfrm>
          <a:prstGeom prst="rect">
            <a:avLst/>
          </a:prstGeom>
          <a:noFill/>
        </p:spPr>
        <p:txBody>
          <a:bodyPr wrap="square" anchor="t" lIns="0" rIns="0" tIns="0" bIns="0">
            <a:spAutoFit/>
          </a:bodyPr>
          <a:lstStyle/>
          <a:p>
            <a:pPr algn="l">
              <a:lnSpc>
                <a:spcPct val="115000"/>
              </a:lnSpc>
              <a:spcAft>
                <a:spcPts val="0"/>
              </a:spcAft>
            </a:pPr>
            <a:r>
              <a:rPr sz="1300" b="0" i="0">
                <a:solidFill>
                  <a:srgbClr val="A9AFBC"/>
                </a:solidFill>
                <a:latin typeface="Calibri"/>
              </a:rPr>
              <a:t>Best performer among all models, on both historical and genuinely unseen live data (R2 = 0.178 live). A real scale bug fix in ATR_X (a ~45,000x mismatch) was the single largest driver of this result.</a:t>
            </a:r>
          </a:p>
        </p:txBody>
      </p:sp>
      <p:sp>
        <p:nvSpPr>
          <p:cNvPr id="36" name="TextBox 35"/>
          <p:cNvSpPr txBox="1"/>
          <p:nvPr/>
        </p:nvSpPr>
        <p:spPr>
          <a:xfrm>
            <a:off x="11612880" y="6492240"/>
            <a:ext cx="457200" cy="274320"/>
          </a:xfrm>
          <a:prstGeom prst="rect">
            <a:avLst/>
          </a:prstGeom>
          <a:noFill/>
        </p:spPr>
        <p:txBody>
          <a:bodyPr wrap="square" anchor="t" lIns="0" rIns="0" tIns="0" bIns="0">
            <a:spAutoFit/>
          </a:bodyPr>
          <a:lstStyle/>
          <a:p>
            <a:pPr algn="r">
              <a:lnSpc>
                <a:spcPct val="100000"/>
              </a:lnSpc>
              <a:spcAft>
                <a:spcPts val="0"/>
              </a:spcAft>
            </a:pPr>
            <a:r>
              <a:rPr sz="1100" b="0" i="0">
                <a:solidFill>
                  <a:srgbClr val="777E8C"/>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457200"/>
            <a:ext cx="54864" cy="384048"/>
          </a:xfrm>
          <a:prstGeom prst="rect">
            <a:avLst/>
          </a:prstGeom>
          <a:solidFill>
            <a:srgbClr val="E8C9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384048"/>
            <a:ext cx="9601200" cy="502920"/>
          </a:xfrm>
          <a:prstGeom prst="rect">
            <a:avLst/>
          </a:prstGeom>
          <a:noFill/>
        </p:spPr>
        <p:txBody>
          <a:bodyPr wrap="square" anchor="t" lIns="0" rIns="0" tIns="0" bIns="0">
            <a:spAutoFit/>
          </a:bodyPr>
          <a:lstStyle/>
          <a:p>
            <a:pPr algn="l">
              <a:lnSpc>
                <a:spcPct val="100000"/>
              </a:lnSpc>
              <a:spcAft>
                <a:spcPts val="0"/>
              </a:spcAft>
            </a:pPr>
            <a:r>
              <a:rPr sz="2700" b="1" i="0">
                <a:solidFill>
                  <a:srgbClr val="FFFFFF"/>
                </a:solidFill>
                <a:latin typeface="Calibri"/>
              </a:rPr>
              <a:t>Model 3: EWMA</a:t>
            </a:r>
          </a:p>
        </p:txBody>
      </p:sp>
      <p:sp>
        <p:nvSpPr>
          <p:cNvPr id="5" name="TextBox 4"/>
          <p:cNvSpPr txBox="1"/>
          <p:nvPr/>
        </p:nvSpPr>
        <p:spPr>
          <a:xfrm>
            <a:off x="685800" y="868680"/>
            <a:ext cx="10515600" cy="365760"/>
          </a:xfrm>
          <a:prstGeom prst="rect">
            <a:avLst/>
          </a:prstGeom>
          <a:noFill/>
        </p:spPr>
        <p:txBody>
          <a:bodyPr wrap="square" anchor="t" lIns="0" rIns="0" tIns="0" bIns="0">
            <a:spAutoFit/>
          </a:bodyPr>
          <a:lstStyle/>
          <a:p>
            <a:pPr algn="l">
              <a:lnSpc>
                <a:spcPct val="100000"/>
              </a:lnSpc>
              <a:spcAft>
                <a:spcPts val="0"/>
              </a:spcAft>
            </a:pPr>
            <a:r>
              <a:rPr sz="1350" b="0" i="0">
                <a:solidFill>
                  <a:srgbClr val="A9AFBC"/>
                </a:solidFill>
                <a:latin typeface="Calibri"/>
              </a:rPr>
              <a:t>RiskMetrics-Style Exponential Smoothing (Backtested)</a:t>
            </a:r>
          </a:p>
        </p:txBody>
      </p:sp>
      <p:sp>
        <p:nvSpPr>
          <p:cNvPr id="6" name="TextBox 5"/>
          <p:cNvSpPr txBox="1"/>
          <p:nvPr/>
        </p:nvSpPr>
        <p:spPr>
          <a:xfrm>
            <a:off x="502920" y="1600200"/>
            <a:ext cx="5212080" cy="320040"/>
          </a:xfrm>
          <a:prstGeom prst="rect">
            <a:avLst/>
          </a:prstGeom>
          <a:noFill/>
        </p:spPr>
        <p:txBody>
          <a:bodyPr wrap="square" anchor="t" lIns="0" rIns="0" tIns="0" bIns="0">
            <a:spAutoFit/>
          </a:bodyPr>
          <a:lstStyle/>
          <a:p>
            <a:pPr algn="l">
              <a:lnSpc>
                <a:spcPct val="100000"/>
              </a:lnSpc>
              <a:spcAft>
                <a:spcPts val="0"/>
              </a:spcAft>
            </a:pPr>
            <a:r>
              <a:rPr sz="1350" b="1" i="0">
                <a:solidFill>
                  <a:srgbClr val="E8C99B"/>
                </a:solidFill>
                <a:latin typeface="Calibri"/>
              </a:rPr>
              <a:t>Model Configuration</a:t>
            </a:r>
          </a:p>
        </p:txBody>
      </p:sp>
      <p:sp>
        <p:nvSpPr>
          <p:cNvPr id="7" name="TextBox 6"/>
          <p:cNvSpPr txBox="1"/>
          <p:nvPr/>
        </p:nvSpPr>
        <p:spPr>
          <a:xfrm>
            <a:off x="502920" y="2057400"/>
            <a:ext cx="5120640" cy="365760"/>
          </a:xfrm>
          <a:prstGeom prst="rect">
            <a:avLst/>
          </a:prstGeom>
          <a:noFill/>
        </p:spPr>
        <p:txBody>
          <a:bodyPr wrap="square" anchor="t" lIns="0" rIns="0" tIns="0" bIns="0">
            <a:spAutoFit/>
          </a:bodyPr>
          <a:lstStyle/>
          <a:p>
            <a:pPr algn="l">
              <a:lnSpc>
                <a:spcPct val="105000"/>
              </a:lnSpc>
            </a:pPr>
            <a:r>
              <a:rPr sz="1300" b="0">
                <a:solidFill>
                  <a:srgbClr val="A9AFBC"/>
                </a:solidFill>
                <a:latin typeface="Calibri"/>
              </a:rPr>
              <a:t>Formula</a:t>
            </a:r>
          </a:p>
        </p:txBody>
      </p:sp>
      <p:sp>
        <p:nvSpPr>
          <p:cNvPr id="8" name="TextBox 7"/>
          <p:cNvSpPr txBox="1"/>
          <p:nvPr/>
        </p:nvSpPr>
        <p:spPr>
          <a:xfrm>
            <a:off x="502920" y="2057400"/>
            <a:ext cx="5120640" cy="365760"/>
          </a:xfrm>
          <a:prstGeom prst="rect">
            <a:avLst/>
          </a:prstGeom>
          <a:noFill/>
        </p:spPr>
        <p:txBody>
          <a:bodyPr wrap="square" anchor="t" lIns="0" rIns="0" tIns="0" bIns="0">
            <a:spAutoFit/>
          </a:bodyPr>
          <a:lstStyle/>
          <a:p>
            <a:pPr algn="r">
              <a:lnSpc>
                <a:spcPct val="100000"/>
              </a:lnSpc>
              <a:spcAft>
                <a:spcPts val="0"/>
              </a:spcAft>
            </a:pPr>
            <a:r>
              <a:rPr sz="1300" b="1" i="0">
                <a:solidFill>
                  <a:srgbClr val="FFFFFF"/>
                </a:solidFill>
                <a:latin typeface="Calibri"/>
              </a:rPr>
              <a:t>RiskMetrics (J.P. Morgan, 1996)</a:t>
            </a:r>
          </a:p>
        </p:txBody>
      </p:sp>
      <p:sp>
        <p:nvSpPr>
          <p:cNvPr id="9" name="Rectangle 8"/>
          <p:cNvSpPr/>
          <p:nvPr/>
        </p:nvSpPr>
        <p:spPr>
          <a:xfrm>
            <a:off x="502920" y="2441448"/>
            <a:ext cx="5120640" cy="9525"/>
          </a:xfrm>
          <a:prstGeom prst="rect">
            <a:avLst/>
          </a:prstGeom>
          <a:solidFill>
            <a:srgbClr val="2A2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2560320"/>
            <a:ext cx="5120640" cy="365760"/>
          </a:xfrm>
          <a:prstGeom prst="rect">
            <a:avLst/>
          </a:prstGeom>
          <a:noFill/>
        </p:spPr>
        <p:txBody>
          <a:bodyPr wrap="square" anchor="t" lIns="0" rIns="0" tIns="0" bIns="0">
            <a:spAutoFit/>
          </a:bodyPr>
          <a:lstStyle/>
          <a:p>
            <a:pPr algn="l">
              <a:lnSpc>
                <a:spcPct val="105000"/>
              </a:lnSpc>
            </a:pPr>
            <a:r>
              <a:rPr sz="1300" b="0">
                <a:solidFill>
                  <a:srgbClr val="A9AFBC"/>
                </a:solidFill>
                <a:latin typeface="Calibri"/>
              </a:rPr>
              <a:t>Lambda (Backtested)</a:t>
            </a:r>
          </a:p>
        </p:txBody>
      </p:sp>
      <p:sp>
        <p:nvSpPr>
          <p:cNvPr id="11" name="TextBox 10"/>
          <p:cNvSpPr txBox="1"/>
          <p:nvPr/>
        </p:nvSpPr>
        <p:spPr>
          <a:xfrm>
            <a:off x="502920" y="2560320"/>
            <a:ext cx="5120640" cy="365760"/>
          </a:xfrm>
          <a:prstGeom prst="rect">
            <a:avLst/>
          </a:prstGeom>
          <a:noFill/>
        </p:spPr>
        <p:txBody>
          <a:bodyPr wrap="square" anchor="t" lIns="0" rIns="0" tIns="0" bIns="0">
            <a:spAutoFit/>
          </a:bodyPr>
          <a:lstStyle/>
          <a:p>
            <a:pPr algn="r">
              <a:lnSpc>
                <a:spcPct val="100000"/>
              </a:lnSpc>
              <a:spcAft>
                <a:spcPts val="0"/>
              </a:spcAft>
            </a:pPr>
            <a:r>
              <a:rPr sz="1300" b="1" i="0">
                <a:solidFill>
                  <a:srgbClr val="FFFFFF"/>
                </a:solidFill>
                <a:latin typeface="Calibri"/>
              </a:rPr>
              <a:t>0.995</a:t>
            </a:r>
          </a:p>
        </p:txBody>
      </p:sp>
      <p:sp>
        <p:nvSpPr>
          <p:cNvPr id="12" name="Rectangle 11"/>
          <p:cNvSpPr/>
          <p:nvPr/>
        </p:nvSpPr>
        <p:spPr>
          <a:xfrm>
            <a:off x="502920" y="2944368"/>
            <a:ext cx="5120640" cy="9525"/>
          </a:xfrm>
          <a:prstGeom prst="rect">
            <a:avLst/>
          </a:prstGeom>
          <a:solidFill>
            <a:srgbClr val="2A2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2920" y="3063239"/>
            <a:ext cx="5120640" cy="365760"/>
          </a:xfrm>
          <a:prstGeom prst="rect">
            <a:avLst/>
          </a:prstGeom>
          <a:noFill/>
        </p:spPr>
        <p:txBody>
          <a:bodyPr wrap="square" anchor="t" lIns="0" rIns="0" tIns="0" bIns="0">
            <a:spAutoFit/>
          </a:bodyPr>
          <a:lstStyle/>
          <a:p>
            <a:pPr algn="l">
              <a:lnSpc>
                <a:spcPct val="105000"/>
              </a:lnSpc>
            </a:pPr>
            <a:r>
              <a:rPr sz="1300" b="0">
                <a:solidFill>
                  <a:srgbClr val="A9AFBC"/>
                </a:solidFill>
                <a:latin typeface="Calibri"/>
              </a:rPr>
              <a:t>Search Range</a:t>
            </a:r>
          </a:p>
        </p:txBody>
      </p:sp>
      <p:sp>
        <p:nvSpPr>
          <p:cNvPr id="14" name="TextBox 13"/>
          <p:cNvSpPr txBox="1"/>
          <p:nvPr/>
        </p:nvSpPr>
        <p:spPr>
          <a:xfrm>
            <a:off x="502920" y="3063239"/>
            <a:ext cx="5120640" cy="365760"/>
          </a:xfrm>
          <a:prstGeom prst="rect">
            <a:avLst/>
          </a:prstGeom>
          <a:noFill/>
        </p:spPr>
        <p:txBody>
          <a:bodyPr wrap="square" anchor="t" lIns="0" rIns="0" tIns="0" bIns="0">
            <a:spAutoFit/>
          </a:bodyPr>
          <a:lstStyle/>
          <a:p>
            <a:pPr algn="r">
              <a:lnSpc>
                <a:spcPct val="100000"/>
              </a:lnSpc>
              <a:spcAft>
                <a:spcPts val="0"/>
              </a:spcAft>
            </a:pPr>
            <a:r>
              <a:rPr sz="1300" b="1" i="0">
                <a:solidFill>
                  <a:srgbClr val="FFFFFF"/>
                </a:solidFill>
                <a:latin typeface="Calibri"/>
              </a:rPr>
              <a:t>0.85 - 0.995</a:t>
            </a:r>
          </a:p>
        </p:txBody>
      </p:sp>
      <p:sp>
        <p:nvSpPr>
          <p:cNvPr id="15" name="Rectangle 14"/>
          <p:cNvSpPr/>
          <p:nvPr/>
        </p:nvSpPr>
        <p:spPr>
          <a:xfrm>
            <a:off x="502920" y="3447287"/>
            <a:ext cx="5120640" cy="9525"/>
          </a:xfrm>
          <a:prstGeom prst="rect">
            <a:avLst/>
          </a:prstGeom>
          <a:solidFill>
            <a:srgbClr val="2A2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2920" y="3566159"/>
            <a:ext cx="5120640" cy="365760"/>
          </a:xfrm>
          <a:prstGeom prst="rect">
            <a:avLst/>
          </a:prstGeom>
          <a:noFill/>
        </p:spPr>
        <p:txBody>
          <a:bodyPr wrap="square" anchor="t" lIns="0" rIns="0" tIns="0" bIns="0">
            <a:spAutoFit/>
          </a:bodyPr>
          <a:lstStyle/>
          <a:p>
            <a:pPr algn="l">
              <a:lnSpc>
                <a:spcPct val="105000"/>
              </a:lnSpc>
            </a:pPr>
            <a:r>
              <a:rPr sz="1300" b="0">
                <a:solidFill>
                  <a:srgbClr val="A9AFBC"/>
                </a:solidFill>
                <a:latin typeface="Calibri"/>
              </a:rPr>
              <a:t>Selection</a:t>
            </a:r>
          </a:p>
        </p:txBody>
      </p:sp>
      <p:sp>
        <p:nvSpPr>
          <p:cNvPr id="17" name="TextBox 16"/>
          <p:cNvSpPr txBox="1"/>
          <p:nvPr/>
        </p:nvSpPr>
        <p:spPr>
          <a:xfrm>
            <a:off x="502920" y="3566159"/>
            <a:ext cx="5120640" cy="365760"/>
          </a:xfrm>
          <a:prstGeom prst="rect">
            <a:avLst/>
          </a:prstGeom>
          <a:noFill/>
        </p:spPr>
        <p:txBody>
          <a:bodyPr wrap="square" anchor="t" lIns="0" rIns="0" tIns="0" bIns="0">
            <a:spAutoFit/>
          </a:bodyPr>
          <a:lstStyle/>
          <a:p>
            <a:pPr algn="r">
              <a:lnSpc>
                <a:spcPct val="100000"/>
              </a:lnSpc>
              <a:spcAft>
                <a:spcPts val="0"/>
              </a:spcAft>
            </a:pPr>
            <a:r>
              <a:rPr sz="1300" b="1" i="0">
                <a:solidFill>
                  <a:srgbClr val="FFFFFF"/>
                </a:solidFill>
                <a:latin typeface="Calibri"/>
              </a:rPr>
              <a:t>TimeSeriesSplit CV</a:t>
            </a:r>
          </a:p>
        </p:txBody>
      </p:sp>
      <p:sp>
        <p:nvSpPr>
          <p:cNvPr id="18" name="Rectangle 17"/>
          <p:cNvSpPr/>
          <p:nvPr/>
        </p:nvSpPr>
        <p:spPr>
          <a:xfrm>
            <a:off x="502920" y="3950207"/>
            <a:ext cx="5120640" cy="9525"/>
          </a:xfrm>
          <a:prstGeom prst="rect">
            <a:avLst/>
          </a:prstGeom>
          <a:solidFill>
            <a:srgbClr val="2A2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035040" y="1600200"/>
            <a:ext cx="5212080" cy="320040"/>
          </a:xfrm>
          <a:prstGeom prst="rect">
            <a:avLst/>
          </a:prstGeom>
          <a:noFill/>
        </p:spPr>
        <p:txBody>
          <a:bodyPr wrap="square" anchor="t" lIns="0" rIns="0" tIns="0" bIns="0">
            <a:spAutoFit/>
          </a:bodyPr>
          <a:lstStyle/>
          <a:p>
            <a:pPr algn="l">
              <a:lnSpc>
                <a:spcPct val="100000"/>
              </a:lnSpc>
              <a:spcAft>
                <a:spcPts val="0"/>
              </a:spcAft>
            </a:pPr>
            <a:r>
              <a:rPr sz="1350" b="1" i="0">
                <a:solidFill>
                  <a:srgbClr val="E8C99B"/>
                </a:solidFill>
                <a:latin typeface="Calibri"/>
              </a:rPr>
              <a:t>Performance (Historical Test)</a:t>
            </a:r>
          </a:p>
        </p:txBody>
      </p:sp>
      <p:sp>
        <p:nvSpPr>
          <p:cNvPr id="20" name="Rectangle 19"/>
          <p:cNvSpPr/>
          <p:nvPr/>
        </p:nvSpPr>
        <p:spPr>
          <a:xfrm>
            <a:off x="6035040" y="2011680"/>
            <a:ext cx="5212080" cy="1417320"/>
          </a:xfrm>
          <a:prstGeom prst="rect">
            <a:avLst/>
          </a:prstGeom>
          <a:solidFill>
            <a:srgbClr val="050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035040" y="2011680"/>
            <a:ext cx="45720" cy="1417320"/>
          </a:xfrm>
          <a:prstGeom prst="rect">
            <a:avLst/>
          </a:prstGeom>
          <a:solidFill>
            <a:srgbClr val="5B7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91072" y="2157984"/>
            <a:ext cx="4754880" cy="274320"/>
          </a:xfrm>
          <a:prstGeom prst="rect">
            <a:avLst/>
          </a:prstGeom>
          <a:noFill/>
        </p:spPr>
        <p:txBody>
          <a:bodyPr wrap="square" anchor="t" lIns="0" rIns="0" tIns="0" bIns="0">
            <a:spAutoFit/>
          </a:bodyPr>
          <a:lstStyle/>
          <a:p>
            <a:pPr algn="l">
              <a:lnSpc>
                <a:spcPct val="100000"/>
              </a:lnSpc>
              <a:spcAft>
                <a:spcPts val="0"/>
              </a:spcAft>
            </a:pPr>
            <a:r>
              <a:rPr sz="1100" b="0" i="0">
                <a:solidFill>
                  <a:srgbClr val="A9AFBC"/>
                </a:solidFill>
                <a:latin typeface="Calibri"/>
              </a:rPr>
              <a:t>R2 (Historical)</a:t>
            </a:r>
          </a:p>
        </p:txBody>
      </p:sp>
      <p:sp>
        <p:nvSpPr>
          <p:cNvPr id="23" name="TextBox 22"/>
          <p:cNvSpPr txBox="1"/>
          <p:nvPr/>
        </p:nvSpPr>
        <p:spPr>
          <a:xfrm>
            <a:off x="6272784" y="2395728"/>
            <a:ext cx="4754880" cy="914400"/>
          </a:xfrm>
          <a:prstGeom prst="rect">
            <a:avLst/>
          </a:prstGeom>
          <a:noFill/>
        </p:spPr>
        <p:txBody>
          <a:bodyPr wrap="square" anchor="t" lIns="0" rIns="0" tIns="0" bIns="0">
            <a:spAutoFit/>
          </a:bodyPr>
          <a:lstStyle/>
          <a:p>
            <a:pPr algn="l">
              <a:lnSpc>
                <a:spcPct val="100000"/>
              </a:lnSpc>
              <a:spcAft>
                <a:spcPts val="0"/>
              </a:spcAft>
            </a:pPr>
            <a:r>
              <a:rPr sz="4000" b="1" i="0">
                <a:solidFill>
                  <a:srgbClr val="FFFFFF"/>
                </a:solidFill>
                <a:latin typeface="Calibri"/>
              </a:rPr>
              <a:t>0.059</a:t>
            </a:r>
          </a:p>
        </p:txBody>
      </p:sp>
      <p:sp>
        <p:nvSpPr>
          <p:cNvPr id="24" name="Rectangle 23"/>
          <p:cNvSpPr/>
          <p:nvPr/>
        </p:nvSpPr>
        <p:spPr>
          <a:xfrm>
            <a:off x="6035040" y="3566160"/>
            <a:ext cx="2514600" cy="960120"/>
          </a:xfrm>
          <a:prstGeom prst="rect">
            <a:avLst/>
          </a:prstGeom>
          <a:solidFill>
            <a:srgbClr val="050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035040" y="3566160"/>
            <a:ext cx="45720" cy="960120"/>
          </a:xfrm>
          <a:prstGeom prst="rect">
            <a:avLst/>
          </a:prstGeom>
          <a:solidFill>
            <a:srgbClr val="5B7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91072" y="3712464"/>
            <a:ext cx="2057400" cy="274320"/>
          </a:xfrm>
          <a:prstGeom prst="rect">
            <a:avLst/>
          </a:prstGeom>
          <a:noFill/>
        </p:spPr>
        <p:txBody>
          <a:bodyPr wrap="square" anchor="t" lIns="0" rIns="0" tIns="0" bIns="0">
            <a:spAutoFit/>
          </a:bodyPr>
          <a:lstStyle/>
          <a:p>
            <a:pPr algn="l">
              <a:lnSpc>
                <a:spcPct val="100000"/>
              </a:lnSpc>
              <a:spcAft>
                <a:spcPts val="0"/>
              </a:spcAft>
            </a:pPr>
            <a:r>
              <a:rPr sz="1100" b="0" i="0">
                <a:solidFill>
                  <a:srgbClr val="A9AFBC"/>
                </a:solidFill>
                <a:latin typeface="Calibri"/>
              </a:rPr>
              <a:t>RMSE</a:t>
            </a:r>
          </a:p>
        </p:txBody>
      </p:sp>
      <p:sp>
        <p:nvSpPr>
          <p:cNvPr id="27" name="TextBox 26"/>
          <p:cNvSpPr txBox="1"/>
          <p:nvPr/>
        </p:nvSpPr>
        <p:spPr>
          <a:xfrm>
            <a:off x="6272784" y="3950208"/>
            <a:ext cx="2057400" cy="457200"/>
          </a:xfrm>
          <a:prstGeom prst="rect">
            <a:avLst/>
          </a:prstGeom>
          <a:noFill/>
        </p:spPr>
        <p:txBody>
          <a:bodyPr wrap="square" anchor="t" lIns="0" rIns="0" tIns="0" bIns="0">
            <a:spAutoFit/>
          </a:bodyPr>
          <a:lstStyle/>
          <a:p>
            <a:pPr algn="l">
              <a:lnSpc>
                <a:spcPct val="100000"/>
              </a:lnSpc>
              <a:spcAft>
                <a:spcPts val="0"/>
              </a:spcAft>
            </a:pPr>
            <a:r>
              <a:rPr sz="2200" b="1" i="0">
                <a:solidFill>
                  <a:srgbClr val="FFFFFF"/>
                </a:solidFill>
                <a:latin typeface="Calibri"/>
              </a:rPr>
              <a:t>0.001532</a:t>
            </a:r>
          </a:p>
        </p:txBody>
      </p:sp>
      <p:sp>
        <p:nvSpPr>
          <p:cNvPr id="28" name="Rectangle 27"/>
          <p:cNvSpPr/>
          <p:nvPr/>
        </p:nvSpPr>
        <p:spPr>
          <a:xfrm>
            <a:off x="8732520" y="3566160"/>
            <a:ext cx="2514600" cy="960120"/>
          </a:xfrm>
          <a:prstGeom prst="rect">
            <a:avLst/>
          </a:prstGeom>
          <a:solidFill>
            <a:srgbClr val="050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732520" y="3566160"/>
            <a:ext cx="45720" cy="960120"/>
          </a:xfrm>
          <a:prstGeom prst="rect">
            <a:avLst/>
          </a:prstGeom>
          <a:solidFill>
            <a:srgbClr val="5B7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988552" y="3712464"/>
            <a:ext cx="2057400" cy="274320"/>
          </a:xfrm>
          <a:prstGeom prst="rect">
            <a:avLst/>
          </a:prstGeom>
          <a:noFill/>
        </p:spPr>
        <p:txBody>
          <a:bodyPr wrap="square" anchor="t" lIns="0" rIns="0" tIns="0" bIns="0">
            <a:spAutoFit/>
          </a:bodyPr>
          <a:lstStyle/>
          <a:p>
            <a:pPr algn="l">
              <a:lnSpc>
                <a:spcPct val="100000"/>
              </a:lnSpc>
              <a:spcAft>
                <a:spcPts val="0"/>
              </a:spcAft>
            </a:pPr>
            <a:r>
              <a:rPr sz="1100" b="0" i="0">
                <a:solidFill>
                  <a:srgbClr val="A9AFBC"/>
                </a:solidFill>
                <a:latin typeface="Calibri"/>
              </a:rPr>
              <a:t>MAPE</a:t>
            </a:r>
          </a:p>
        </p:txBody>
      </p:sp>
      <p:sp>
        <p:nvSpPr>
          <p:cNvPr id="31" name="TextBox 30"/>
          <p:cNvSpPr txBox="1"/>
          <p:nvPr/>
        </p:nvSpPr>
        <p:spPr>
          <a:xfrm>
            <a:off x="8970264" y="3950208"/>
            <a:ext cx="2057400" cy="457200"/>
          </a:xfrm>
          <a:prstGeom prst="rect">
            <a:avLst/>
          </a:prstGeom>
          <a:noFill/>
        </p:spPr>
        <p:txBody>
          <a:bodyPr wrap="square" anchor="t" lIns="0" rIns="0" tIns="0" bIns="0">
            <a:spAutoFit/>
          </a:bodyPr>
          <a:lstStyle/>
          <a:p>
            <a:pPr algn="l">
              <a:lnSpc>
                <a:spcPct val="100000"/>
              </a:lnSpc>
              <a:spcAft>
                <a:spcPts val="0"/>
              </a:spcAft>
            </a:pPr>
            <a:r>
              <a:rPr sz="2200" b="1" i="0">
                <a:solidFill>
                  <a:srgbClr val="FFFFFF"/>
                </a:solidFill>
                <a:latin typeface="Calibri"/>
              </a:rPr>
              <a:t>23.71%</a:t>
            </a:r>
          </a:p>
        </p:txBody>
      </p:sp>
      <p:sp>
        <p:nvSpPr>
          <p:cNvPr id="32" name="Rectangle 31"/>
          <p:cNvSpPr/>
          <p:nvPr/>
        </p:nvSpPr>
        <p:spPr>
          <a:xfrm>
            <a:off x="502920" y="4892040"/>
            <a:ext cx="10744200" cy="1234440"/>
          </a:xfrm>
          <a:prstGeom prst="rect">
            <a:avLst/>
          </a:prstGeom>
          <a:solidFill>
            <a:srgbClr val="1417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02920" y="4892040"/>
            <a:ext cx="45720" cy="1234440"/>
          </a:xfrm>
          <a:prstGeom prst="rect">
            <a:avLst/>
          </a:prstGeom>
          <a:solidFill>
            <a:srgbClr val="5B7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77240" y="5020056"/>
            <a:ext cx="10195560" cy="274320"/>
          </a:xfrm>
          <a:prstGeom prst="rect">
            <a:avLst/>
          </a:prstGeom>
          <a:noFill/>
        </p:spPr>
        <p:txBody>
          <a:bodyPr wrap="square" anchor="t" lIns="0" rIns="0" tIns="0" bIns="0">
            <a:spAutoFit/>
          </a:bodyPr>
          <a:lstStyle/>
          <a:p>
            <a:pPr algn="l">
              <a:lnSpc>
                <a:spcPct val="100000"/>
              </a:lnSpc>
              <a:spcAft>
                <a:spcPts val="0"/>
              </a:spcAft>
            </a:pPr>
            <a:r>
              <a:rPr sz="1250" b="1" i="0">
                <a:solidFill>
                  <a:srgbClr val="5B7FA8"/>
                </a:solidFill>
                <a:latin typeface="Calibri"/>
              </a:rPr>
              <a:t>KEY INSIGHT</a:t>
            </a:r>
          </a:p>
        </p:txBody>
      </p:sp>
      <p:sp>
        <p:nvSpPr>
          <p:cNvPr id="35" name="TextBox 34"/>
          <p:cNvSpPr txBox="1"/>
          <p:nvPr/>
        </p:nvSpPr>
        <p:spPr>
          <a:xfrm>
            <a:off x="777240" y="5312664"/>
            <a:ext cx="10195560" cy="685800"/>
          </a:xfrm>
          <a:prstGeom prst="rect">
            <a:avLst/>
          </a:prstGeom>
          <a:noFill/>
        </p:spPr>
        <p:txBody>
          <a:bodyPr wrap="square" anchor="t" lIns="0" rIns="0" tIns="0" bIns="0">
            <a:spAutoFit/>
          </a:bodyPr>
          <a:lstStyle/>
          <a:p>
            <a:pPr algn="l">
              <a:lnSpc>
                <a:spcPct val="115000"/>
              </a:lnSpc>
              <a:spcAft>
                <a:spcPts val="0"/>
              </a:spcAft>
            </a:pPr>
            <a:r>
              <a:rPr sz="1300" b="0" i="0">
                <a:solidFill>
                  <a:srgbClr val="A9AFBC"/>
                </a:solidFill>
                <a:latin typeface="Calibri"/>
              </a:rPr>
              <a:t>A single, fully transparent parameter - no hidden layers, nothing opaque. A solid runner-up, and the risk desk's own trusted estimator, but not as sharp as HAR-RV-X's multi-horizon regressors.</a:t>
            </a:r>
          </a:p>
        </p:txBody>
      </p:sp>
      <p:sp>
        <p:nvSpPr>
          <p:cNvPr id="36" name="TextBox 35"/>
          <p:cNvSpPr txBox="1"/>
          <p:nvPr/>
        </p:nvSpPr>
        <p:spPr>
          <a:xfrm>
            <a:off x="11612880" y="6492240"/>
            <a:ext cx="457200" cy="274320"/>
          </a:xfrm>
          <a:prstGeom prst="rect">
            <a:avLst/>
          </a:prstGeom>
          <a:noFill/>
        </p:spPr>
        <p:txBody>
          <a:bodyPr wrap="square" anchor="t" lIns="0" rIns="0" tIns="0" bIns="0">
            <a:spAutoFit/>
          </a:bodyPr>
          <a:lstStyle/>
          <a:p>
            <a:pPr algn="r">
              <a:lnSpc>
                <a:spcPct val="100000"/>
              </a:lnSpc>
              <a:spcAft>
                <a:spcPts val="0"/>
              </a:spcAft>
            </a:pPr>
            <a:r>
              <a:rPr sz="1100" b="0" i="0">
                <a:solidFill>
                  <a:srgbClr val="777E8C"/>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457200"/>
            <a:ext cx="54864" cy="384048"/>
          </a:xfrm>
          <a:prstGeom prst="rect">
            <a:avLst/>
          </a:prstGeom>
          <a:solidFill>
            <a:srgbClr val="E8C9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384048"/>
            <a:ext cx="9601200" cy="502920"/>
          </a:xfrm>
          <a:prstGeom prst="rect">
            <a:avLst/>
          </a:prstGeom>
          <a:noFill/>
        </p:spPr>
        <p:txBody>
          <a:bodyPr wrap="square" anchor="t" lIns="0" rIns="0" tIns="0" bIns="0">
            <a:spAutoFit/>
          </a:bodyPr>
          <a:lstStyle/>
          <a:p>
            <a:pPr algn="l">
              <a:lnSpc>
                <a:spcPct val="100000"/>
              </a:lnSpc>
              <a:spcAft>
                <a:spcPts val="0"/>
              </a:spcAft>
            </a:pPr>
            <a:r>
              <a:rPr sz="2700" b="1" i="0">
                <a:solidFill>
                  <a:srgbClr val="FFFFFF"/>
                </a:solidFill>
                <a:latin typeface="Calibri"/>
              </a:rPr>
              <a:t>Model Comparison</a:t>
            </a:r>
          </a:p>
        </p:txBody>
      </p:sp>
      <p:sp>
        <p:nvSpPr>
          <p:cNvPr id="5" name="TextBox 4"/>
          <p:cNvSpPr txBox="1"/>
          <p:nvPr/>
        </p:nvSpPr>
        <p:spPr>
          <a:xfrm>
            <a:off x="685800" y="868680"/>
            <a:ext cx="10515600" cy="365760"/>
          </a:xfrm>
          <a:prstGeom prst="rect">
            <a:avLst/>
          </a:prstGeom>
          <a:noFill/>
        </p:spPr>
        <p:txBody>
          <a:bodyPr wrap="square" anchor="t" lIns="0" rIns="0" tIns="0" bIns="0">
            <a:spAutoFit/>
          </a:bodyPr>
          <a:lstStyle/>
          <a:p>
            <a:pPr algn="l">
              <a:lnSpc>
                <a:spcPct val="100000"/>
              </a:lnSpc>
              <a:spcAft>
                <a:spcPts val="0"/>
              </a:spcAft>
            </a:pPr>
            <a:r>
              <a:rPr sz="1350" b="0" i="0">
                <a:solidFill>
                  <a:srgbClr val="A9AFBC"/>
                </a:solidFill>
                <a:latin typeface="Calibri"/>
              </a:rPr>
              <a:t>Historical Test-Set Performance Across All Models</a:t>
            </a:r>
          </a:p>
        </p:txBody>
      </p:sp>
      <p:graphicFrame>
        <p:nvGraphicFramePr>
          <p:cNvPr id="6" name="Table 5"/>
          <p:cNvGraphicFramePr>
            <a:graphicFrameLocks noGrp="1"/>
          </p:cNvGraphicFramePr>
          <p:nvPr/>
        </p:nvGraphicFramePr>
        <p:xfrm>
          <a:off x="502920" y="1508760"/>
          <a:ext cx="11155680" cy="2852928"/>
        </p:xfrm>
        <a:graphic>
          <a:graphicData uri="http://schemas.openxmlformats.org/drawingml/2006/table">
            <a:tbl>
              <a:tblPr firstRow="0" bandRow="0">
                <a:tableStyleId>{5C22544A-7EE6-4342-B048-85BDC9FD1C3A}</a:tableStyleId>
              </a:tblPr>
              <a:tblGrid>
                <a:gridCol w="3383280"/>
                <a:gridCol w="1737360"/>
                <a:gridCol w="1554480"/>
                <a:gridCol w="1737360"/>
                <a:gridCol w="2743200"/>
              </a:tblGrid>
              <a:tr h="475488">
                <a:tc>
                  <a:txBody>
                    <a:bodyPr wrap="square"/>
                    <a:lstStyle/>
                    <a:p>
                      <a:r>
                        <a:rPr sz="1400" b="1">
                          <a:solidFill>
                            <a:srgbClr val="FFFFFF"/>
                          </a:solidFill>
                          <a:latin typeface="Calibri"/>
                        </a:rPr>
                        <a:t>Model</a:t>
                      </a:r>
                    </a:p>
                  </a:txBody>
                  <a:tcPr marL="109728" marR="109728" marT="36576" marB="36576" anchor="ctr">
                    <a:solidFill>
                      <a:srgbClr val="000000"/>
                    </a:solidFill>
                  </a:tcPr>
                </a:tc>
                <a:tc>
                  <a:txBody>
                    <a:bodyPr wrap="square"/>
                    <a:lstStyle/>
                    <a:p>
                      <a:r>
                        <a:rPr sz="1400" b="1">
                          <a:solidFill>
                            <a:srgbClr val="FFFFFF"/>
                          </a:solidFill>
                          <a:latin typeface="Calibri"/>
                        </a:rPr>
                        <a:t>RMSE</a:t>
                      </a:r>
                    </a:p>
                  </a:txBody>
                  <a:tcPr marL="109728" marR="109728" marT="36576" marB="36576" anchor="ctr">
                    <a:solidFill>
                      <a:srgbClr val="000000"/>
                    </a:solidFill>
                  </a:tcPr>
                </a:tc>
                <a:tc>
                  <a:txBody>
                    <a:bodyPr wrap="square"/>
                    <a:lstStyle/>
                    <a:p>
                      <a:r>
                        <a:rPr sz="1400" b="1">
                          <a:solidFill>
                            <a:srgbClr val="FFFFFF"/>
                          </a:solidFill>
                          <a:latin typeface="Calibri"/>
                        </a:rPr>
                        <a:t>R2</a:t>
                      </a:r>
                    </a:p>
                  </a:txBody>
                  <a:tcPr marL="109728" marR="109728" marT="36576" marB="36576" anchor="ctr">
                    <a:solidFill>
                      <a:srgbClr val="000000"/>
                    </a:solidFill>
                  </a:tcPr>
                </a:tc>
                <a:tc>
                  <a:txBody>
                    <a:bodyPr wrap="square"/>
                    <a:lstStyle/>
                    <a:p>
                      <a:r>
                        <a:rPr sz="1400" b="1">
                          <a:solidFill>
                            <a:srgbClr val="FFFFFF"/>
                          </a:solidFill>
                          <a:latin typeface="Calibri"/>
                        </a:rPr>
                        <a:t>MAPE</a:t>
                      </a:r>
                    </a:p>
                  </a:txBody>
                  <a:tcPr marL="109728" marR="109728" marT="36576" marB="36576" anchor="ctr">
                    <a:solidFill>
                      <a:srgbClr val="000000"/>
                    </a:solidFill>
                  </a:tcPr>
                </a:tc>
                <a:tc>
                  <a:txBody>
                    <a:bodyPr wrap="square"/>
                    <a:lstStyle/>
                    <a:p>
                      <a:r>
                        <a:rPr sz="1400" b="1">
                          <a:solidFill>
                            <a:srgbClr val="FFFFFF"/>
                          </a:solidFill>
                          <a:latin typeface="Calibri"/>
                        </a:rPr>
                        <a:t>Beats Persistence?</a:t>
                      </a:r>
                    </a:p>
                  </a:txBody>
                  <a:tcPr marL="109728" marR="109728" marT="36576" marB="36576" anchor="ctr">
                    <a:solidFill>
                      <a:srgbClr val="000000"/>
                    </a:solidFill>
                  </a:tcPr>
                </a:tc>
              </a:tr>
              <a:tr h="475488">
                <a:tc>
                  <a:txBody>
                    <a:bodyPr wrap="square"/>
                    <a:lstStyle/>
                    <a:p>
                      <a:r>
                        <a:rPr sz="1300" b="0">
                          <a:solidFill>
                            <a:srgbClr val="A9AFBC"/>
                          </a:solidFill>
                          <a:latin typeface="Calibri"/>
                        </a:rPr>
                        <a:t>Naive Persistence (baseline)</a:t>
                      </a:r>
                    </a:p>
                  </a:txBody>
                  <a:tcPr marL="109728" marR="109728" marT="36576" marB="36576" anchor="ctr">
                    <a:solidFill>
                      <a:srgbClr val="12151C"/>
                    </a:solidFill>
                  </a:tcPr>
                </a:tc>
                <a:tc>
                  <a:txBody>
                    <a:bodyPr wrap="square"/>
                    <a:lstStyle/>
                    <a:p>
                      <a:r>
                        <a:rPr sz="1300" b="0">
                          <a:solidFill>
                            <a:srgbClr val="A9AFBC"/>
                          </a:solidFill>
                          <a:latin typeface="Calibri"/>
                        </a:rPr>
                        <a:t>0.001649</a:t>
                      </a:r>
                    </a:p>
                  </a:txBody>
                  <a:tcPr marL="109728" marR="109728" marT="36576" marB="36576" anchor="ctr">
                    <a:solidFill>
                      <a:srgbClr val="12151C"/>
                    </a:solidFill>
                  </a:tcPr>
                </a:tc>
                <a:tc>
                  <a:txBody>
                    <a:bodyPr wrap="square"/>
                    <a:lstStyle/>
                    <a:p>
                      <a:r>
                        <a:rPr sz="1300" b="0">
                          <a:solidFill>
                            <a:srgbClr val="A9AFBC"/>
                          </a:solidFill>
                          <a:latin typeface="Calibri"/>
                        </a:rPr>
                        <a:t>-0.090</a:t>
                      </a:r>
                    </a:p>
                  </a:txBody>
                  <a:tcPr marL="109728" marR="109728" marT="36576" marB="36576" anchor="ctr">
                    <a:solidFill>
                      <a:srgbClr val="12151C"/>
                    </a:solidFill>
                  </a:tcPr>
                </a:tc>
                <a:tc>
                  <a:txBody>
                    <a:bodyPr wrap="square"/>
                    <a:lstStyle/>
                    <a:p>
                      <a:r>
                        <a:rPr sz="1300" b="0">
                          <a:solidFill>
                            <a:srgbClr val="A9AFBC"/>
                          </a:solidFill>
                          <a:latin typeface="Calibri"/>
                        </a:rPr>
                        <a:t>24.41%</a:t>
                      </a:r>
                    </a:p>
                  </a:txBody>
                  <a:tcPr marL="109728" marR="109728" marT="36576" marB="36576" anchor="ctr">
                    <a:solidFill>
                      <a:srgbClr val="12151C"/>
                    </a:solidFill>
                  </a:tcPr>
                </a:tc>
                <a:tc>
                  <a:txBody>
                    <a:bodyPr wrap="square"/>
                    <a:lstStyle/>
                    <a:p>
                      <a:r>
                        <a:rPr sz="1300" b="0">
                          <a:solidFill>
                            <a:srgbClr val="A9AFBC"/>
                          </a:solidFill>
                          <a:latin typeface="Calibri"/>
                        </a:rPr>
                        <a:t>Baseline</a:t>
                      </a:r>
                    </a:p>
                  </a:txBody>
                  <a:tcPr marL="109728" marR="109728" marT="36576" marB="36576" anchor="ctr">
                    <a:solidFill>
                      <a:srgbClr val="12151C"/>
                    </a:solidFill>
                  </a:tcPr>
                </a:tc>
              </a:tr>
              <a:tr h="475488">
                <a:tc>
                  <a:txBody>
                    <a:bodyPr wrap="square"/>
                    <a:lstStyle/>
                    <a:p>
                      <a:r>
                        <a:rPr sz="1300" b="0">
                          <a:solidFill>
                            <a:srgbClr val="A9AFBC"/>
                          </a:solidFill>
                          <a:latin typeface="Calibri"/>
                        </a:rPr>
                        <a:t>Holt-Winters (baseline)</a:t>
                      </a:r>
                    </a:p>
                  </a:txBody>
                  <a:tcPr marL="109728" marR="109728" marT="36576" marB="36576" anchor="ctr">
                    <a:solidFill>
                      <a:srgbClr val="0E1117"/>
                    </a:solidFill>
                  </a:tcPr>
                </a:tc>
                <a:tc>
                  <a:txBody>
                    <a:bodyPr wrap="square"/>
                    <a:lstStyle/>
                    <a:p>
                      <a:r>
                        <a:rPr sz="1300" b="0">
                          <a:solidFill>
                            <a:srgbClr val="A9AFBC"/>
                          </a:solidFill>
                          <a:latin typeface="Calibri"/>
                        </a:rPr>
                        <a:t>0.002845</a:t>
                      </a:r>
                    </a:p>
                  </a:txBody>
                  <a:tcPr marL="109728" marR="109728" marT="36576" marB="36576" anchor="ctr">
                    <a:solidFill>
                      <a:srgbClr val="0E1117"/>
                    </a:solidFill>
                  </a:tcPr>
                </a:tc>
                <a:tc>
                  <a:txBody>
                    <a:bodyPr wrap="square"/>
                    <a:lstStyle/>
                    <a:p>
                      <a:r>
                        <a:rPr sz="1300" b="0">
                          <a:solidFill>
                            <a:srgbClr val="A9AFBC"/>
                          </a:solidFill>
                          <a:latin typeface="Calibri"/>
                        </a:rPr>
                        <a:t>-2.245</a:t>
                      </a:r>
                    </a:p>
                  </a:txBody>
                  <a:tcPr marL="109728" marR="109728" marT="36576" marB="36576" anchor="ctr">
                    <a:solidFill>
                      <a:srgbClr val="0E1117"/>
                    </a:solidFill>
                  </a:tcPr>
                </a:tc>
                <a:tc>
                  <a:txBody>
                    <a:bodyPr wrap="square"/>
                    <a:lstStyle/>
                    <a:p>
                      <a:r>
                        <a:rPr sz="1300" b="0">
                          <a:solidFill>
                            <a:srgbClr val="A9AFBC"/>
                          </a:solidFill>
                          <a:latin typeface="Calibri"/>
                        </a:rPr>
                        <a:t>43.20%</a:t>
                      </a:r>
                    </a:p>
                  </a:txBody>
                  <a:tcPr marL="109728" marR="109728" marT="36576" marB="36576" anchor="ctr">
                    <a:solidFill>
                      <a:srgbClr val="0E1117"/>
                    </a:solidFill>
                  </a:tcPr>
                </a:tc>
                <a:tc>
                  <a:txBody>
                    <a:bodyPr wrap="square"/>
                    <a:lstStyle/>
                    <a:p>
                      <a:r>
                        <a:rPr sz="1300" b="0">
                          <a:solidFill>
                            <a:srgbClr val="A9AFBC"/>
                          </a:solidFill>
                          <a:latin typeface="Calibri"/>
                        </a:rPr>
                        <a:t>No</a:t>
                      </a:r>
                    </a:p>
                  </a:txBody>
                  <a:tcPr marL="109728" marR="109728" marT="36576" marB="36576" anchor="ctr">
                    <a:solidFill>
                      <a:srgbClr val="0E1117"/>
                    </a:solidFill>
                  </a:tcPr>
                </a:tc>
              </a:tr>
              <a:tr h="475488">
                <a:tc>
                  <a:txBody>
                    <a:bodyPr wrap="square"/>
                    <a:lstStyle/>
                    <a:p>
                      <a:r>
                        <a:rPr sz="1300" b="0">
                          <a:solidFill>
                            <a:srgbClr val="A9AFBC"/>
                          </a:solidFill>
                          <a:latin typeface="Calibri"/>
                        </a:rPr>
                        <a:t>GARCH (GJR, Tuned)</a:t>
                      </a:r>
                    </a:p>
                  </a:txBody>
                  <a:tcPr marL="109728" marR="109728" marT="36576" marB="36576" anchor="ctr">
                    <a:solidFill>
                      <a:srgbClr val="12151C"/>
                    </a:solidFill>
                  </a:tcPr>
                </a:tc>
                <a:tc>
                  <a:txBody>
                    <a:bodyPr wrap="square"/>
                    <a:lstStyle/>
                    <a:p>
                      <a:r>
                        <a:rPr sz="1300" b="0">
                          <a:solidFill>
                            <a:srgbClr val="A9AFBC"/>
                          </a:solidFill>
                          <a:latin typeface="Calibri"/>
                        </a:rPr>
                        <a:t>0.003876</a:t>
                      </a:r>
                    </a:p>
                  </a:txBody>
                  <a:tcPr marL="109728" marR="109728" marT="36576" marB="36576" anchor="ctr">
                    <a:solidFill>
                      <a:srgbClr val="331E1E"/>
                    </a:solidFill>
                  </a:tcPr>
                </a:tc>
                <a:tc>
                  <a:txBody>
                    <a:bodyPr wrap="square"/>
                    <a:lstStyle/>
                    <a:p>
                      <a:r>
                        <a:rPr sz="1300" b="0">
                          <a:solidFill>
                            <a:srgbClr val="A9AFBC"/>
                          </a:solidFill>
                          <a:latin typeface="Calibri"/>
                        </a:rPr>
                        <a:t>-5.023</a:t>
                      </a:r>
                    </a:p>
                  </a:txBody>
                  <a:tcPr marL="109728" marR="109728" marT="36576" marB="36576" anchor="ctr">
                    <a:solidFill>
                      <a:srgbClr val="331E1E"/>
                    </a:solidFill>
                  </a:tcPr>
                </a:tc>
                <a:tc>
                  <a:txBody>
                    <a:bodyPr wrap="square"/>
                    <a:lstStyle/>
                    <a:p>
                      <a:r>
                        <a:rPr sz="1300" b="0">
                          <a:solidFill>
                            <a:srgbClr val="A9AFBC"/>
                          </a:solidFill>
                          <a:latin typeface="Calibri"/>
                        </a:rPr>
                        <a:t>90.54%</a:t>
                      </a:r>
                    </a:p>
                  </a:txBody>
                  <a:tcPr marL="109728" marR="109728" marT="36576" marB="36576" anchor="ctr">
                    <a:solidFill>
                      <a:srgbClr val="12151C"/>
                    </a:solidFill>
                  </a:tcPr>
                </a:tc>
                <a:tc>
                  <a:txBody>
                    <a:bodyPr wrap="square"/>
                    <a:lstStyle/>
                    <a:p>
                      <a:r>
                        <a:rPr sz="1300" b="0">
                          <a:solidFill>
                            <a:srgbClr val="A9AFBC"/>
                          </a:solidFill>
                          <a:latin typeface="Calibri"/>
                        </a:rPr>
                        <a:t>No</a:t>
                      </a:r>
                    </a:p>
                  </a:txBody>
                  <a:tcPr marL="109728" marR="109728" marT="36576" marB="36576" anchor="ctr">
                    <a:solidFill>
                      <a:srgbClr val="12151C"/>
                    </a:solidFill>
                  </a:tcPr>
                </a:tc>
              </a:tr>
              <a:tr h="475488">
                <a:tc>
                  <a:txBody>
                    <a:bodyPr wrap="square"/>
                    <a:lstStyle/>
                    <a:p>
                      <a:r>
                        <a:rPr sz="1300" b="0">
                          <a:solidFill>
                            <a:srgbClr val="A9AFBC"/>
                          </a:solidFill>
                          <a:latin typeface="Calibri"/>
                        </a:rPr>
                        <a:t>HAR-RV-X (Final)</a:t>
                      </a:r>
                    </a:p>
                  </a:txBody>
                  <a:tcPr marL="109728" marR="109728" marT="36576" marB="36576" anchor="ctr">
                    <a:solidFill>
                      <a:srgbClr val="0E1117"/>
                    </a:solidFill>
                  </a:tcPr>
                </a:tc>
                <a:tc>
                  <a:txBody>
                    <a:bodyPr wrap="square"/>
                    <a:lstStyle/>
                    <a:p>
                      <a:r>
                        <a:rPr sz="1300" b="0">
                          <a:solidFill>
                            <a:srgbClr val="A9AFBC"/>
                          </a:solidFill>
                          <a:latin typeface="Calibri"/>
                        </a:rPr>
                        <a:t>0.001367</a:t>
                      </a:r>
                    </a:p>
                  </a:txBody>
                  <a:tcPr marL="109728" marR="109728" marT="36576" marB="36576" anchor="ctr">
                    <a:solidFill>
                      <a:srgbClr val="2A3322"/>
                    </a:solidFill>
                  </a:tcPr>
                </a:tc>
                <a:tc>
                  <a:txBody>
                    <a:bodyPr wrap="square"/>
                    <a:lstStyle/>
                    <a:p>
                      <a:r>
                        <a:rPr sz="1300" b="0">
                          <a:solidFill>
                            <a:srgbClr val="A9AFBC"/>
                          </a:solidFill>
                          <a:latin typeface="Calibri"/>
                        </a:rPr>
                        <a:t>0.242</a:t>
                      </a:r>
                    </a:p>
                  </a:txBody>
                  <a:tcPr marL="109728" marR="109728" marT="36576" marB="36576" anchor="ctr">
                    <a:solidFill>
                      <a:srgbClr val="2A3322"/>
                    </a:solidFill>
                  </a:tcPr>
                </a:tc>
                <a:tc>
                  <a:txBody>
                    <a:bodyPr wrap="square"/>
                    <a:lstStyle/>
                    <a:p>
                      <a:r>
                        <a:rPr sz="1300" b="0">
                          <a:solidFill>
                            <a:srgbClr val="A9AFBC"/>
                          </a:solidFill>
                          <a:latin typeface="Calibri"/>
                        </a:rPr>
                        <a:t>22.83%</a:t>
                      </a:r>
                    </a:p>
                  </a:txBody>
                  <a:tcPr marL="109728" marR="109728" marT="36576" marB="36576" anchor="ctr">
                    <a:solidFill>
                      <a:srgbClr val="0E1117"/>
                    </a:solidFill>
                  </a:tcPr>
                </a:tc>
                <a:tc>
                  <a:txBody>
                    <a:bodyPr wrap="square"/>
                    <a:lstStyle/>
                    <a:p>
                      <a:r>
                        <a:rPr sz="1300" b="0">
                          <a:solidFill>
                            <a:srgbClr val="A9AFBC"/>
                          </a:solidFill>
                          <a:latin typeface="Calibri"/>
                        </a:rPr>
                        <a:t>Yes</a:t>
                      </a:r>
                    </a:p>
                  </a:txBody>
                  <a:tcPr marL="109728" marR="109728" marT="36576" marB="36576" anchor="ctr">
                    <a:solidFill>
                      <a:srgbClr val="0E1117"/>
                    </a:solidFill>
                  </a:tcPr>
                </a:tc>
              </a:tr>
              <a:tr h="475488">
                <a:tc>
                  <a:txBody>
                    <a:bodyPr wrap="square"/>
                    <a:lstStyle/>
                    <a:p>
                      <a:r>
                        <a:rPr sz="1300" b="0">
                          <a:solidFill>
                            <a:srgbClr val="A9AFBC"/>
                          </a:solidFill>
                          <a:latin typeface="Calibri"/>
                        </a:rPr>
                        <a:t>EWMA (lambda=0.995)</a:t>
                      </a:r>
                    </a:p>
                  </a:txBody>
                  <a:tcPr marL="109728" marR="109728" marT="36576" marB="36576" anchor="ctr">
                    <a:solidFill>
                      <a:srgbClr val="12151C"/>
                    </a:solidFill>
                  </a:tcPr>
                </a:tc>
                <a:tc>
                  <a:txBody>
                    <a:bodyPr wrap="square"/>
                    <a:lstStyle/>
                    <a:p>
                      <a:r>
                        <a:rPr sz="1300" b="0">
                          <a:solidFill>
                            <a:srgbClr val="A9AFBC"/>
                          </a:solidFill>
                          <a:latin typeface="Calibri"/>
                        </a:rPr>
                        <a:t>0.001532</a:t>
                      </a:r>
                    </a:p>
                  </a:txBody>
                  <a:tcPr marL="109728" marR="109728" marT="36576" marB="36576" anchor="ctr">
                    <a:solidFill>
                      <a:srgbClr val="12151C"/>
                    </a:solidFill>
                  </a:tcPr>
                </a:tc>
                <a:tc>
                  <a:txBody>
                    <a:bodyPr wrap="square"/>
                    <a:lstStyle/>
                    <a:p>
                      <a:r>
                        <a:rPr sz="1300" b="0">
                          <a:solidFill>
                            <a:srgbClr val="A9AFBC"/>
                          </a:solidFill>
                          <a:latin typeface="Calibri"/>
                        </a:rPr>
                        <a:t>0.059</a:t>
                      </a:r>
                    </a:p>
                  </a:txBody>
                  <a:tcPr marL="109728" marR="109728" marT="36576" marB="36576" anchor="ctr">
                    <a:solidFill>
                      <a:srgbClr val="12151C"/>
                    </a:solidFill>
                  </a:tcPr>
                </a:tc>
                <a:tc>
                  <a:txBody>
                    <a:bodyPr wrap="square"/>
                    <a:lstStyle/>
                    <a:p>
                      <a:r>
                        <a:rPr sz="1300" b="0">
                          <a:solidFill>
                            <a:srgbClr val="A9AFBC"/>
                          </a:solidFill>
                          <a:latin typeface="Calibri"/>
                        </a:rPr>
                        <a:t>23.71%</a:t>
                      </a:r>
                    </a:p>
                  </a:txBody>
                  <a:tcPr marL="109728" marR="109728" marT="36576" marB="36576" anchor="ctr">
                    <a:solidFill>
                      <a:srgbClr val="12151C"/>
                    </a:solidFill>
                  </a:tcPr>
                </a:tc>
                <a:tc>
                  <a:txBody>
                    <a:bodyPr wrap="square"/>
                    <a:lstStyle/>
                    <a:p>
                      <a:r>
                        <a:rPr sz="1300" b="0">
                          <a:solidFill>
                            <a:srgbClr val="A9AFBC"/>
                          </a:solidFill>
                          <a:latin typeface="Calibri"/>
                        </a:rPr>
                        <a:t>Yes</a:t>
                      </a:r>
                    </a:p>
                  </a:txBody>
                  <a:tcPr marL="109728" marR="109728" marT="36576" marB="36576" anchor="ctr">
                    <a:solidFill>
                      <a:srgbClr val="12151C"/>
                    </a:solidFill>
                  </a:tcPr>
                </a:tc>
              </a:tr>
            </a:tbl>
          </a:graphicData>
        </a:graphic>
      </p:graphicFrame>
      <p:sp>
        <p:nvSpPr>
          <p:cNvPr id="7" name="Rectangle 6"/>
          <p:cNvSpPr/>
          <p:nvPr/>
        </p:nvSpPr>
        <p:spPr>
          <a:xfrm>
            <a:off x="502920" y="4892040"/>
            <a:ext cx="11155680" cy="1371600"/>
          </a:xfrm>
          <a:prstGeom prst="rect">
            <a:avLst/>
          </a:prstGeom>
          <a:solidFill>
            <a:srgbClr val="1417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4892040"/>
            <a:ext cx="45720" cy="1371600"/>
          </a:xfrm>
          <a:prstGeom prst="rect">
            <a:avLst/>
          </a:prstGeom>
          <a:solidFill>
            <a:srgbClr val="E8C9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5020056"/>
            <a:ext cx="10607040" cy="274320"/>
          </a:xfrm>
          <a:prstGeom prst="rect">
            <a:avLst/>
          </a:prstGeom>
          <a:noFill/>
        </p:spPr>
        <p:txBody>
          <a:bodyPr wrap="square" anchor="t" lIns="0" rIns="0" tIns="0" bIns="0">
            <a:spAutoFit/>
          </a:bodyPr>
          <a:lstStyle/>
          <a:p>
            <a:pPr algn="l">
              <a:lnSpc>
                <a:spcPct val="100000"/>
              </a:lnSpc>
              <a:spcAft>
                <a:spcPts val="0"/>
              </a:spcAft>
            </a:pPr>
            <a:r>
              <a:rPr sz="1250" b="1" i="0">
                <a:solidFill>
                  <a:srgbClr val="E8C99B"/>
                </a:solidFill>
                <a:latin typeface="Calibri"/>
              </a:rPr>
              <a:t>KEY FINDING</a:t>
            </a:r>
          </a:p>
        </p:txBody>
      </p:sp>
      <p:sp>
        <p:nvSpPr>
          <p:cNvPr id="10" name="TextBox 9"/>
          <p:cNvSpPr txBox="1"/>
          <p:nvPr/>
        </p:nvSpPr>
        <p:spPr>
          <a:xfrm>
            <a:off x="777240" y="5312664"/>
            <a:ext cx="10607040" cy="822960"/>
          </a:xfrm>
          <a:prstGeom prst="rect">
            <a:avLst/>
          </a:prstGeom>
          <a:noFill/>
        </p:spPr>
        <p:txBody>
          <a:bodyPr wrap="square" anchor="t" lIns="0" rIns="0" tIns="0" bIns="0">
            <a:spAutoFit/>
          </a:bodyPr>
          <a:lstStyle/>
          <a:p>
            <a:pPr algn="l">
              <a:lnSpc>
                <a:spcPct val="115000"/>
              </a:lnSpc>
              <a:spcAft>
                <a:spcPts val="0"/>
              </a:spcAft>
            </a:pPr>
            <a:r>
              <a:rPr sz="1300" b="0" i="0">
                <a:solidFill>
                  <a:srgbClr val="A9AFBC"/>
                </a:solidFill>
                <a:latin typeface="Calibri"/>
              </a:rPr>
              <a:t>HAR-RV-X (Final) wins on every metric, beating naive persistence by 17.1% lower RMSE. Both HAR-RV-X and EWMA clear the persistence bar; GARCH and Holt-Winters do not. This gap holds up on genuinely unseen live data too (Section: Live Testing), not just this historical split.</a:t>
            </a:r>
          </a:p>
        </p:txBody>
      </p:sp>
      <p:sp>
        <p:nvSpPr>
          <p:cNvPr id="11" name="TextBox 10"/>
          <p:cNvSpPr txBox="1"/>
          <p:nvPr/>
        </p:nvSpPr>
        <p:spPr>
          <a:xfrm>
            <a:off x="11612880" y="6492240"/>
            <a:ext cx="457200" cy="274320"/>
          </a:xfrm>
          <a:prstGeom prst="rect">
            <a:avLst/>
          </a:prstGeom>
          <a:noFill/>
        </p:spPr>
        <p:txBody>
          <a:bodyPr wrap="square" anchor="t" lIns="0" rIns="0" tIns="0" bIns="0">
            <a:spAutoFit/>
          </a:bodyPr>
          <a:lstStyle/>
          <a:p>
            <a:pPr algn="r">
              <a:lnSpc>
                <a:spcPct val="100000"/>
              </a:lnSpc>
              <a:spcAft>
                <a:spcPts val="0"/>
              </a:spcAft>
            </a:pPr>
            <a:r>
              <a:rPr sz="1100" b="0" i="0">
                <a:solidFill>
                  <a:srgbClr val="777E8C"/>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457200"/>
            <a:ext cx="54864" cy="384048"/>
          </a:xfrm>
          <a:prstGeom prst="rect">
            <a:avLst/>
          </a:prstGeom>
          <a:solidFill>
            <a:srgbClr val="C46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384048"/>
            <a:ext cx="9601200" cy="502920"/>
          </a:xfrm>
          <a:prstGeom prst="rect">
            <a:avLst/>
          </a:prstGeom>
          <a:noFill/>
        </p:spPr>
        <p:txBody>
          <a:bodyPr wrap="square" anchor="t" lIns="0" rIns="0" tIns="0" bIns="0">
            <a:spAutoFit/>
          </a:bodyPr>
          <a:lstStyle/>
          <a:p>
            <a:pPr algn="l">
              <a:lnSpc>
                <a:spcPct val="100000"/>
              </a:lnSpc>
              <a:spcAft>
                <a:spcPts val="0"/>
              </a:spcAft>
            </a:pPr>
            <a:r>
              <a:rPr sz="2700" b="1" i="0">
                <a:solidFill>
                  <a:srgbClr val="FFFFFF"/>
                </a:solidFill>
                <a:latin typeface="Calibri"/>
              </a:rPr>
              <a:t>Limitations</a:t>
            </a:r>
          </a:p>
        </p:txBody>
      </p:sp>
      <p:sp>
        <p:nvSpPr>
          <p:cNvPr id="5" name="Rectangle 4"/>
          <p:cNvSpPr/>
          <p:nvPr/>
        </p:nvSpPr>
        <p:spPr>
          <a:xfrm>
            <a:off x="502920" y="1371600"/>
            <a:ext cx="3611880" cy="3337560"/>
          </a:xfrm>
          <a:prstGeom prst="rect">
            <a:avLst/>
          </a:prstGeom>
          <a:solidFill>
            <a:srgbClr val="12151C"/>
          </a:solidFill>
          <a:ln w="9525">
            <a:solidFill>
              <a:srgbClr val="2A2F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58952" y="1572768"/>
            <a:ext cx="3108960" cy="274320"/>
          </a:xfrm>
          <a:prstGeom prst="rect">
            <a:avLst/>
          </a:prstGeom>
          <a:noFill/>
        </p:spPr>
        <p:txBody>
          <a:bodyPr wrap="square" anchor="t" lIns="0" rIns="0" tIns="0" bIns="0">
            <a:spAutoFit/>
          </a:bodyPr>
          <a:lstStyle/>
          <a:p>
            <a:pPr algn="l">
              <a:lnSpc>
                <a:spcPct val="100000"/>
              </a:lnSpc>
              <a:spcAft>
                <a:spcPts val="0"/>
              </a:spcAft>
            </a:pPr>
            <a:r>
              <a:rPr sz="1100" b="1" i="0">
                <a:solidFill>
                  <a:srgbClr val="E8C99B"/>
                </a:solidFill>
                <a:latin typeface="Calibri"/>
              </a:rPr>
              <a:t>Category 01</a:t>
            </a:r>
          </a:p>
        </p:txBody>
      </p:sp>
      <p:sp>
        <p:nvSpPr>
          <p:cNvPr id="7" name="TextBox 6"/>
          <p:cNvSpPr txBox="1"/>
          <p:nvPr/>
        </p:nvSpPr>
        <p:spPr>
          <a:xfrm>
            <a:off x="758952" y="1874519"/>
            <a:ext cx="3108960" cy="365760"/>
          </a:xfrm>
          <a:prstGeom prst="rect">
            <a:avLst/>
          </a:prstGeom>
          <a:noFill/>
        </p:spPr>
        <p:txBody>
          <a:bodyPr wrap="square" anchor="t" lIns="0" rIns="0" tIns="0" bIns="0">
            <a:spAutoFit/>
          </a:bodyPr>
          <a:lstStyle/>
          <a:p>
            <a:pPr algn="l">
              <a:lnSpc>
                <a:spcPct val="100000"/>
              </a:lnSpc>
              <a:spcAft>
                <a:spcPts val="0"/>
              </a:spcAft>
            </a:pPr>
            <a:r>
              <a:rPr sz="1600" b="1" i="0">
                <a:solidFill>
                  <a:srgbClr val="FFFFFF"/>
                </a:solidFill>
                <a:latin typeface="Calibri"/>
              </a:rPr>
              <a:t>Data Constraints</a:t>
            </a:r>
          </a:p>
        </p:txBody>
      </p:sp>
      <p:sp>
        <p:nvSpPr>
          <p:cNvPr id="8" name="TextBox 7"/>
          <p:cNvSpPr txBox="1"/>
          <p:nvPr/>
        </p:nvSpPr>
        <p:spPr>
          <a:xfrm>
            <a:off x="758952" y="2377440"/>
            <a:ext cx="182880" cy="274320"/>
          </a:xfrm>
          <a:prstGeom prst="rect">
            <a:avLst/>
          </a:prstGeom>
          <a:noFill/>
        </p:spPr>
        <p:txBody>
          <a:bodyPr wrap="square" anchor="t" lIns="0" rIns="0" tIns="0" bIns="0">
            <a:spAutoFit/>
          </a:bodyPr>
          <a:lstStyle/>
          <a:p>
            <a:pPr algn="l">
              <a:lnSpc>
                <a:spcPct val="100000"/>
              </a:lnSpc>
              <a:spcAft>
                <a:spcPts val="0"/>
              </a:spcAft>
            </a:pPr>
            <a:r>
              <a:rPr sz="1200" b="0" i="0">
                <a:solidFill>
                  <a:srgbClr val="C4645A"/>
                </a:solidFill>
                <a:latin typeface="Calibri"/>
              </a:rPr>
              <a:t>-</a:t>
            </a:r>
          </a:p>
        </p:txBody>
      </p:sp>
      <p:sp>
        <p:nvSpPr>
          <p:cNvPr id="9" name="TextBox 8"/>
          <p:cNvSpPr txBox="1"/>
          <p:nvPr/>
        </p:nvSpPr>
        <p:spPr>
          <a:xfrm>
            <a:off x="960120" y="2377440"/>
            <a:ext cx="2880360" cy="685800"/>
          </a:xfrm>
          <a:prstGeom prst="rect">
            <a:avLst/>
          </a:prstGeom>
          <a:noFill/>
        </p:spPr>
        <p:txBody>
          <a:bodyPr wrap="square" anchor="t" lIns="0" rIns="0" tIns="0" bIns="0">
            <a:spAutoFit/>
          </a:bodyPr>
          <a:lstStyle/>
          <a:p>
            <a:pPr algn="l">
              <a:lnSpc>
                <a:spcPct val="110000"/>
              </a:lnSpc>
              <a:spcAft>
                <a:spcPts val="0"/>
              </a:spcAft>
            </a:pPr>
            <a:r>
              <a:rPr sz="1150" b="0" i="0">
                <a:solidFill>
                  <a:srgbClr val="A9AFBC"/>
                </a:solidFill>
                <a:latin typeface="Calibri"/>
              </a:rPr>
              <a:t>No fundamental or on-chain signals (only price/volume history).</a:t>
            </a:r>
          </a:p>
        </p:txBody>
      </p:sp>
      <p:sp>
        <p:nvSpPr>
          <p:cNvPr id="10" name="TextBox 9"/>
          <p:cNvSpPr txBox="1"/>
          <p:nvPr/>
        </p:nvSpPr>
        <p:spPr>
          <a:xfrm>
            <a:off x="758952" y="3090672"/>
            <a:ext cx="182880" cy="274320"/>
          </a:xfrm>
          <a:prstGeom prst="rect">
            <a:avLst/>
          </a:prstGeom>
          <a:noFill/>
        </p:spPr>
        <p:txBody>
          <a:bodyPr wrap="square" anchor="t" lIns="0" rIns="0" tIns="0" bIns="0">
            <a:spAutoFit/>
          </a:bodyPr>
          <a:lstStyle/>
          <a:p>
            <a:pPr algn="l">
              <a:lnSpc>
                <a:spcPct val="100000"/>
              </a:lnSpc>
              <a:spcAft>
                <a:spcPts val="0"/>
              </a:spcAft>
            </a:pPr>
            <a:r>
              <a:rPr sz="1200" b="0" i="0">
                <a:solidFill>
                  <a:srgbClr val="C4645A"/>
                </a:solidFill>
                <a:latin typeface="Calibri"/>
              </a:rPr>
              <a:t>-</a:t>
            </a:r>
          </a:p>
        </p:txBody>
      </p:sp>
      <p:sp>
        <p:nvSpPr>
          <p:cNvPr id="11" name="TextBox 10"/>
          <p:cNvSpPr txBox="1"/>
          <p:nvPr/>
        </p:nvSpPr>
        <p:spPr>
          <a:xfrm>
            <a:off x="960120" y="3090672"/>
            <a:ext cx="2880360" cy="685800"/>
          </a:xfrm>
          <a:prstGeom prst="rect">
            <a:avLst/>
          </a:prstGeom>
          <a:noFill/>
        </p:spPr>
        <p:txBody>
          <a:bodyPr wrap="square" anchor="t" lIns="0" rIns="0" tIns="0" bIns="0">
            <a:spAutoFit/>
          </a:bodyPr>
          <a:lstStyle/>
          <a:p>
            <a:pPr algn="l">
              <a:lnSpc>
                <a:spcPct val="110000"/>
              </a:lnSpc>
              <a:spcAft>
                <a:spcPts val="0"/>
              </a:spcAft>
            </a:pPr>
            <a:r>
              <a:rPr sz="1150" b="0" i="0">
                <a:solidFill>
                  <a:srgbClr val="A9AFBC"/>
                </a:solidFill>
                <a:latin typeface="Calibri"/>
              </a:rPr>
              <a:t>News, regulation, and macro shocks are invisible to the model.</a:t>
            </a:r>
          </a:p>
        </p:txBody>
      </p:sp>
      <p:sp>
        <p:nvSpPr>
          <p:cNvPr id="12" name="TextBox 11"/>
          <p:cNvSpPr txBox="1"/>
          <p:nvPr/>
        </p:nvSpPr>
        <p:spPr>
          <a:xfrm>
            <a:off x="758952" y="3803904"/>
            <a:ext cx="182880" cy="274320"/>
          </a:xfrm>
          <a:prstGeom prst="rect">
            <a:avLst/>
          </a:prstGeom>
          <a:noFill/>
        </p:spPr>
        <p:txBody>
          <a:bodyPr wrap="square" anchor="t" lIns="0" rIns="0" tIns="0" bIns="0">
            <a:spAutoFit/>
          </a:bodyPr>
          <a:lstStyle/>
          <a:p>
            <a:pPr algn="l">
              <a:lnSpc>
                <a:spcPct val="100000"/>
              </a:lnSpc>
              <a:spcAft>
                <a:spcPts val="0"/>
              </a:spcAft>
            </a:pPr>
            <a:r>
              <a:rPr sz="1200" b="0" i="0">
                <a:solidFill>
                  <a:srgbClr val="C4645A"/>
                </a:solidFill>
                <a:latin typeface="Calibri"/>
              </a:rPr>
              <a:t>-</a:t>
            </a:r>
          </a:p>
        </p:txBody>
      </p:sp>
      <p:sp>
        <p:nvSpPr>
          <p:cNvPr id="13" name="TextBox 12"/>
          <p:cNvSpPr txBox="1"/>
          <p:nvPr/>
        </p:nvSpPr>
        <p:spPr>
          <a:xfrm>
            <a:off x="960120" y="3803904"/>
            <a:ext cx="2880360" cy="685800"/>
          </a:xfrm>
          <a:prstGeom prst="rect">
            <a:avLst/>
          </a:prstGeom>
          <a:noFill/>
        </p:spPr>
        <p:txBody>
          <a:bodyPr wrap="square" anchor="t" lIns="0" rIns="0" tIns="0" bIns="0">
            <a:spAutoFit/>
          </a:bodyPr>
          <a:lstStyle/>
          <a:p>
            <a:pPr algn="l">
              <a:lnSpc>
                <a:spcPct val="110000"/>
              </a:lnSpc>
              <a:spcAft>
                <a:spcPts val="0"/>
              </a:spcAft>
            </a:pPr>
            <a:r>
              <a:rPr sz="1150" b="0" i="0">
                <a:solidFill>
                  <a:srgbClr val="A9AFBC"/>
                </a:solidFill>
                <a:latin typeface="Calibri"/>
              </a:rPr>
              <a:t>Single asset - no cross-crypto spillover signal used.</a:t>
            </a:r>
          </a:p>
        </p:txBody>
      </p:sp>
      <p:sp>
        <p:nvSpPr>
          <p:cNvPr id="14" name="Rectangle 13"/>
          <p:cNvSpPr/>
          <p:nvPr/>
        </p:nvSpPr>
        <p:spPr>
          <a:xfrm>
            <a:off x="4297680" y="1371600"/>
            <a:ext cx="3611880" cy="3337560"/>
          </a:xfrm>
          <a:prstGeom prst="rect">
            <a:avLst/>
          </a:prstGeom>
          <a:solidFill>
            <a:srgbClr val="12151C"/>
          </a:solidFill>
          <a:ln w="9525">
            <a:solidFill>
              <a:srgbClr val="2A2F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53712" y="1572768"/>
            <a:ext cx="3108960" cy="274320"/>
          </a:xfrm>
          <a:prstGeom prst="rect">
            <a:avLst/>
          </a:prstGeom>
          <a:noFill/>
        </p:spPr>
        <p:txBody>
          <a:bodyPr wrap="square" anchor="t" lIns="0" rIns="0" tIns="0" bIns="0">
            <a:spAutoFit/>
          </a:bodyPr>
          <a:lstStyle/>
          <a:p>
            <a:pPr algn="l">
              <a:lnSpc>
                <a:spcPct val="100000"/>
              </a:lnSpc>
              <a:spcAft>
                <a:spcPts val="0"/>
              </a:spcAft>
            </a:pPr>
            <a:r>
              <a:rPr sz="1100" b="1" i="0">
                <a:solidFill>
                  <a:srgbClr val="E8C99B"/>
                </a:solidFill>
                <a:latin typeface="Calibri"/>
              </a:rPr>
              <a:t>Category 02</a:t>
            </a:r>
          </a:p>
        </p:txBody>
      </p:sp>
      <p:sp>
        <p:nvSpPr>
          <p:cNvPr id="16" name="TextBox 15"/>
          <p:cNvSpPr txBox="1"/>
          <p:nvPr/>
        </p:nvSpPr>
        <p:spPr>
          <a:xfrm>
            <a:off x="4553712" y="1874519"/>
            <a:ext cx="3108960" cy="365760"/>
          </a:xfrm>
          <a:prstGeom prst="rect">
            <a:avLst/>
          </a:prstGeom>
          <a:noFill/>
        </p:spPr>
        <p:txBody>
          <a:bodyPr wrap="square" anchor="t" lIns="0" rIns="0" tIns="0" bIns="0">
            <a:spAutoFit/>
          </a:bodyPr>
          <a:lstStyle/>
          <a:p>
            <a:pPr algn="l">
              <a:lnSpc>
                <a:spcPct val="100000"/>
              </a:lnSpc>
              <a:spcAft>
                <a:spcPts val="0"/>
              </a:spcAft>
            </a:pPr>
            <a:r>
              <a:rPr sz="1600" b="1" i="0">
                <a:solidFill>
                  <a:srgbClr val="FFFFFF"/>
                </a:solidFill>
                <a:latin typeface="Calibri"/>
              </a:rPr>
              <a:t>Modeling Constraints</a:t>
            </a:r>
          </a:p>
        </p:txBody>
      </p:sp>
      <p:sp>
        <p:nvSpPr>
          <p:cNvPr id="17" name="TextBox 16"/>
          <p:cNvSpPr txBox="1"/>
          <p:nvPr/>
        </p:nvSpPr>
        <p:spPr>
          <a:xfrm>
            <a:off x="4553712" y="2377440"/>
            <a:ext cx="182880" cy="274320"/>
          </a:xfrm>
          <a:prstGeom prst="rect">
            <a:avLst/>
          </a:prstGeom>
          <a:noFill/>
        </p:spPr>
        <p:txBody>
          <a:bodyPr wrap="square" anchor="t" lIns="0" rIns="0" tIns="0" bIns="0">
            <a:spAutoFit/>
          </a:bodyPr>
          <a:lstStyle/>
          <a:p>
            <a:pPr algn="l">
              <a:lnSpc>
                <a:spcPct val="100000"/>
              </a:lnSpc>
              <a:spcAft>
                <a:spcPts val="0"/>
              </a:spcAft>
            </a:pPr>
            <a:r>
              <a:rPr sz="1200" b="0" i="0">
                <a:solidFill>
                  <a:srgbClr val="C4645A"/>
                </a:solidFill>
                <a:latin typeface="Calibri"/>
              </a:rPr>
              <a:t>-</a:t>
            </a:r>
          </a:p>
        </p:txBody>
      </p:sp>
      <p:sp>
        <p:nvSpPr>
          <p:cNvPr id="18" name="TextBox 17"/>
          <p:cNvSpPr txBox="1"/>
          <p:nvPr/>
        </p:nvSpPr>
        <p:spPr>
          <a:xfrm>
            <a:off x="4754880" y="2377440"/>
            <a:ext cx="2880360" cy="685800"/>
          </a:xfrm>
          <a:prstGeom prst="rect">
            <a:avLst/>
          </a:prstGeom>
          <a:noFill/>
        </p:spPr>
        <p:txBody>
          <a:bodyPr wrap="square" anchor="t" lIns="0" rIns="0" tIns="0" bIns="0">
            <a:spAutoFit/>
          </a:bodyPr>
          <a:lstStyle/>
          <a:p>
            <a:pPr algn="l">
              <a:lnSpc>
                <a:spcPct val="110000"/>
              </a:lnSpc>
              <a:spcAft>
                <a:spcPts val="0"/>
              </a:spcAft>
            </a:pPr>
            <a:r>
              <a:rPr sz="1150" b="0" i="0">
                <a:solidFill>
                  <a:srgbClr val="A9AFBC"/>
                </a:solidFill>
                <a:latin typeface="Calibri"/>
              </a:rPr>
              <a:t>GARCH's mean-reversion is structural, not tunable away.</a:t>
            </a:r>
          </a:p>
        </p:txBody>
      </p:sp>
      <p:sp>
        <p:nvSpPr>
          <p:cNvPr id="19" name="TextBox 18"/>
          <p:cNvSpPr txBox="1"/>
          <p:nvPr/>
        </p:nvSpPr>
        <p:spPr>
          <a:xfrm>
            <a:off x="4553712" y="3090672"/>
            <a:ext cx="182880" cy="274320"/>
          </a:xfrm>
          <a:prstGeom prst="rect">
            <a:avLst/>
          </a:prstGeom>
          <a:noFill/>
        </p:spPr>
        <p:txBody>
          <a:bodyPr wrap="square" anchor="t" lIns="0" rIns="0" tIns="0" bIns="0">
            <a:spAutoFit/>
          </a:bodyPr>
          <a:lstStyle/>
          <a:p>
            <a:pPr algn="l">
              <a:lnSpc>
                <a:spcPct val="100000"/>
              </a:lnSpc>
              <a:spcAft>
                <a:spcPts val="0"/>
              </a:spcAft>
            </a:pPr>
            <a:r>
              <a:rPr sz="1200" b="0" i="0">
                <a:solidFill>
                  <a:srgbClr val="C4645A"/>
                </a:solidFill>
                <a:latin typeface="Calibri"/>
              </a:rPr>
              <a:t>-</a:t>
            </a:r>
          </a:p>
        </p:txBody>
      </p:sp>
      <p:sp>
        <p:nvSpPr>
          <p:cNvPr id="20" name="TextBox 19"/>
          <p:cNvSpPr txBox="1"/>
          <p:nvPr/>
        </p:nvSpPr>
        <p:spPr>
          <a:xfrm>
            <a:off x="4754880" y="3090672"/>
            <a:ext cx="2880360" cy="685800"/>
          </a:xfrm>
          <a:prstGeom prst="rect">
            <a:avLst/>
          </a:prstGeom>
          <a:noFill/>
        </p:spPr>
        <p:txBody>
          <a:bodyPr wrap="square" anchor="t" lIns="0" rIns="0" tIns="0" bIns="0">
            <a:spAutoFit/>
          </a:bodyPr>
          <a:lstStyle/>
          <a:p>
            <a:pPr algn="l">
              <a:lnSpc>
                <a:spcPct val="110000"/>
              </a:lnSpc>
              <a:spcAft>
                <a:spcPts val="0"/>
              </a:spcAft>
            </a:pPr>
            <a:r>
              <a:rPr sz="1150" b="0" i="0">
                <a:solidFill>
                  <a:srgbClr val="A9AFBC"/>
                </a:solidFill>
                <a:latin typeface="Calibri"/>
              </a:rPr>
              <a:t>Twenty-two robustness checks tested; most did not beat HAR-RV-X.</a:t>
            </a:r>
          </a:p>
        </p:txBody>
      </p:sp>
      <p:sp>
        <p:nvSpPr>
          <p:cNvPr id="21" name="TextBox 20"/>
          <p:cNvSpPr txBox="1"/>
          <p:nvPr/>
        </p:nvSpPr>
        <p:spPr>
          <a:xfrm>
            <a:off x="4553712" y="3803904"/>
            <a:ext cx="182880" cy="274320"/>
          </a:xfrm>
          <a:prstGeom prst="rect">
            <a:avLst/>
          </a:prstGeom>
          <a:noFill/>
        </p:spPr>
        <p:txBody>
          <a:bodyPr wrap="square" anchor="t" lIns="0" rIns="0" tIns="0" bIns="0">
            <a:spAutoFit/>
          </a:bodyPr>
          <a:lstStyle/>
          <a:p>
            <a:pPr algn="l">
              <a:lnSpc>
                <a:spcPct val="100000"/>
              </a:lnSpc>
              <a:spcAft>
                <a:spcPts val="0"/>
              </a:spcAft>
            </a:pPr>
            <a:r>
              <a:rPr sz="1200" b="0" i="0">
                <a:solidFill>
                  <a:srgbClr val="C4645A"/>
                </a:solidFill>
                <a:latin typeface="Calibri"/>
              </a:rPr>
              <a:t>-</a:t>
            </a:r>
          </a:p>
        </p:txBody>
      </p:sp>
      <p:sp>
        <p:nvSpPr>
          <p:cNvPr id="22" name="TextBox 21"/>
          <p:cNvSpPr txBox="1"/>
          <p:nvPr/>
        </p:nvSpPr>
        <p:spPr>
          <a:xfrm>
            <a:off x="4754880" y="3803904"/>
            <a:ext cx="2880360" cy="685800"/>
          </a:xfrm>
          <a:prstGeom prst="rect">
            <a:avLst/>
          </a:prstGeom>
          <a:noFill/>
        </p:spPr>
        <p:txBody>
          <a:bodyPr wrap="square" anchor="t" lIns="0" rIns="0" tIns="0" bIns="0">
            <a:spAutoFit/>
          </a:bodyPr>
          <a:lstStyle/>
          <a:p>
            <a:pPr algn="l">
              <a:lnSpc>
                <a:spcPct val="110000"/>
              </a:lnSpc>
              <a:spcAft>
                <a:spcPts val="0"/>
              </a:spcAft>
            </a:pPr>
            <a:r>
              <a:rPr sz="1150" b="0" i="0">
                <a:solidFill>
                  <a:srgbClr val="A9AFBC"/>
                </a:solidFill>
                <a:latin typeface="Calibri"/>
              </a:rPr>
              <a:t>Hardware/time limited exhaustive deep-learning exploration.</a:t>
            </a:r>
          </a:p>
        </p:txBody>
      </p:sp>
      <p:sp>
        <p:nvSpPr>
          <p:cNvPr id="23" name="Rectangle 22"/>
          <p:cNvSpPr/>
          <p:nvPr/>
        </p:nvSpPr>
        <p:spPr>
          <a:xfrm>
            <a:off x="8092440" y="1371600"/>
            <a:ext cx="3611880" cy="3337560"/>
          </a:xfrm>
          <a:prstGeom prst="rect">
            <a:avLst/>
          </a:prstGeom>
          <a:solidFill>
            <a:srgbClr val="12151C"/>
          </a:solidFill>
          <a:ln w="9525">
            <a:solidFill>
              <a:srgbClr val="2A2F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348472" y="1572768"/>
            <a:ext cx="3108960" cy="274320"/>
          </a:xfrm>
          <a:prstGeom prst="rect">
            <a:avLst/>
          </a:prstGeom>
          <a:noFill/>
        </p:spPr>
        <p:txBody>
          <a:bodyPr wrap="square" anchor="t" lIns="0" rIns="0" tIns="0" bIns="0">
            <a:spAutoFit/>
          </a:bodyPr>
          <a:lstStyle/>
          <a:p>
            <a:pPr algn="l">
              <a:lnSpc>
                <a:spcPct val="100000"/>
              </a:lnSpc>
              <a:spcAft>
                <a:spcPts val="0"/>
              </a:spcAft>
            </a:pPr>
            <a:r>
              <a:rPr sz="1100" b="1" i="0">
                <a:solidFill>
                  <a:srgbClr val="E8C99B"/>
                </a:solidFill>
                <a:latin typeface="Calibri"/>
              </a:rPr>
              <a:t>Category 03</a:t>
            </a:r>
          </a:p>
        </p:txBody>
      </p:sp>
      <p:sp>
        <p:nvSpPr>
          <p:cNvPr id="25" name="TextBox 24"/>
          <p:cNvSpPr txBox="1"/>
          <p:nvPr/>
        </p:nvSpPr>
        <p:spPr>
          <a:xfrm>
            <a:off x="8348472" y="1874519"/>
            <a:ext cx="3108960" cy="365760"/>
          </a:xfrm>
          <a:prstGeom prst="rect">
            <a:avLst/>
          </a:prstGeom>
          <a:noFill/>
        </p:spPr>
        <p:txBody>
          <a:bodyPr wrap="square" anchor="t" lIns="0" rIns="0" tIns="0" bIns="0">
            <a:spAutoFit/>
          </a:bodyPr>
          <a:lstStyle/>
          <a:p>
            <a:pPr algn="l">
              <a:lnSpc>
                <a:spcPct val="100000"/>
              </a:lnSpc>
              <a:spcAft>
                <a:spcPts val="0"/>
              </a:spcAft>
            </a:pPr>
            <a:r>
              <a:rPr sz="1600" b="1" i="0">
                <a:solidFill>
                  <a:srgbClr val="FFFFFF"/>
                </a:solidFill>
                <a:latin typeface="Calibri"/>
              </a:rPr>
              <a:t>Statistical Ceiling</a:t>
            </a:r>
          </a:p>
        </p:txBody>
      </p:sp>
      <p:sp>
        <p:nvSpPr>
          <p:cNvPr id="26" name="TextBox 25"/>
          <p:cNvSpPr txBox="1"/>
          <p:nvPr/>
        </p:nvSpPr>
        <p:spPr>
          <a:xfrm>
            <a:off x="8348472" y="2377440"/>
            <a:ext cx="182880" cy="274320"/>
          </a:xfrm>
          <a:prstGeom prst="rect">
            <a:avLst/>
          </a:prstGeom>
          <a:noFill/>
        </p:spPr>
        <p:txBody>
          <a:bodyPr wrap="square" anchor="t" lIns="0" rIns="0" tIns="0" bIns="0">
            <a:spAutoFit/>
          </a:bodyPr>
          <a:lstStyle/>
          <a:p>
            <a:pPr algn="l">
              <a:lnSpc>
                <a:spcPct val="100000"/>
              </a:lnSpc>
              <a:spcAft>
                <a:spcPts val="0"/>
              </a:spcAft>
            </a:pPr>
            <a:r>
              <a:rPr sz="1200" b="0" i="0">
                <a:solidFill>
                  <a:srgbClr val="C4645A"/>
                </a:solidFill>
                <a:latin typeface="Calibri"/>
              </a:rPr>
              <a:t>-</a:t>
            </a:r>
          </a:p>
        </p:txBody>
      </p:sp>
      <p:sp>
        <p:nvSpPr>
          <p:cNvPr id="27" name="TextBox 26"/>
          <p:cNvSpPr txBox="1"/>
          <p:nvPr/>
        </p:nvSpPr>
        <p:spPr>
          <a:xfrm>
            <a:off x="8549640" y="2377440"/>
            <a:ext cx="2880360" cy="685800"/>
          </a:xfrm>
          <a:prstGeom prst="rect">
            <a:avLst/>
          </a:prstGeom>
          <a:noFill/>
        </p:spPr>
        <p:txBody>
          <a:bodyPr wrap="square" anchor="t" lIns="0" rIns="0" tIns="0" bIns="0">
            <a:spAutoFit/>
          </a:bodyPr>
          <a:lstStyle/>
          <a:p>
            <a:pPr algn="l">
              <a:lnSpc>
                <a:spcPct val="110000"/>
              </a:lnSpc>
              <a:spcAft>
                <a:spcPts val="0"/>
              </a:spcAft>
            </a:pPr>
            <a:r>
              <a:rPr sz="1150" b="0" i="0">
                <a:solidFill>
                  <a:srgbClr val="A9AFBC"/>
                </a:solidFill>
                <a:latin typeface="Calibri"/>
              </a:rPr>
              <a:t>Feature correlations with the target are inherently weak.</a:t>
            </a:r>
          </a:p>
        </p:txBody>
      </p:sp>
      <p:sp>
        <p:nvSpPr>
          <p:cNvPr id="28" name="TextBox 27"/>
          <p:cNvSpPr txBox="1"/>
          <p:nvPr/>
        </p:nvSpPr>
        <p:spPr>
          <a:xfrm>
            <a:off x="8348472" y="3090672"/>
            <a:ext cx="182880" cy="274320"/>
          </a:xfrm>
          <a:prstGeom prst="rect">
            <a:avLst/>
          </a:prstGeom>
          <a:noFill/>
        </p:spPr>
        <p:txBody>
          <a:bodyPr wrap="square" anchor="t" lIns="0" rIns="0" tIns="0" bIns="0">
            <a:spAutoFit/>
          </a:bodyPr>
          <a:lstStyle/>
          <a:p>
            <a:pPr algn="l">
              <a:lnSpc>
                <a:spcPct val="100000"/>
              </a:lnSpc>
              <a:spcAft>
                <a:spcPts val="0"/>
              </a:spcAft>
            </a:pPr>
            <a:r>
              <a:rPr sz="1200" b="0" i="0">
                <a:solidFill>
                  <a:srgbClr val="C4645A"/>
                </a:solidFill>
                <a:latin typeface="Calibri"/>
              </a:rPr>
              <a:t>-</a:t>
            </a:r>
          </a:p>
        </p:txBody>
      </p:sp>
      <p:sp>
        <p:nvSpPr>
          <p:cNvPr id="29" name="TextBox 28"/>
          <p:cNvSpPr txBox="1"/>
          <p:nvPr/>
        </p:nvSpPr>
        <p:spPr>
          <a:xfrm>
            <a:off x="8549640" y="3090672"/>
            <a:ext cx="2880360" cy="685800"/>
          </a:xfrm>
          <a:prstGeom prst="rect">
            <a:avLst/>
          </a:prstGeom>
          <a:noFill/>
        </p:spPr>
        <p:txBody>
          <a:bodyPr wrap="square" anchor="t" lIns="0" rIns="0" tIns="0" bIns="0">
            <a:spAutoFit/>
          </a:bodyPr>
          <a:lstStyle/>
          <a:p>
            <a:pPr algn="l">
              <a:lnSpc>
                <a:spcPct val="110000"/>
              </a:lnSpc>
              <a:spcAft>
                <a:spcPts val="0"/>
              </a:spcAft>
            </a:pPr>
            <a:r>
              <a:rPr sz="1150" b="0" i="0">
                <a:solidFill>
                  <a:srgbClr val="A9AFBC"/>
                </a:solidFill>
                <a:latin typeface="Calibri"/>
              </a:rPr>
              <a:t>Models cannot exceed the information content of their inputs.</a:t>
            </a:r>
          </a:p>
        </p:txBody>
      </p:sp>
      <p:sp>
        <p:nvSpPr>
          <p:cNvPr id="30" name="TextBox 29"/>
          <p:cNvSpPr txBox="1"/>
          <p:nvPr/>
        </p:nvSpPr>
        <p:spPr>
          <a:xfrm>
            <a:off x="8348472" y="3803904"/>
            <a:ext cx="182880" cy="274320"/>
          </a:xfrm>
          <a:prstGeom prst="rect">
            <a:avLst/>
          </a:prstGeom>
          <a:noFill/>
        </p:spPr>
        <p:txBody>
          <a:bodyPr wrap="square" anchor="t" lIns="0" rIns="0" tIns="0" bIns="0">
            <a:spAutoFit/>
          </a:bodyPr>
          <a:lstStyle/>
          <a:p>
            <a:pPr algn="l">
              <a:lnSpc>
                <a:spcPct val="100000"/>
              </a:lnSpc>
              <a:spcAft>
                <a:spcPts val="0"/>
              </a:spcAft>
            </a:pPr>
            <a:r>
              <a:rPr sz="1200" b="0" i="0">
                <a:solidFill>
                  <a:srgbClr val="C4645A"/>
                </a:solidFill>
                <a:latin typeface="Calibri"/>
              </a:rPr>
              <a:t>-</a:t>
            </a:r>
          </a:p>
        </p:txBody>
      </p:sp>
      <p:sp>
        <p:nvSpPr>
          <p:cNvPr id="31" name="TextBox 30"/>
          <p:cNvSpPr txBox="1"/>
          <p:nvPr/>
        </p:nvSpPr>
        <p:spPr>
          <a:xfrm>
            <a:off x="8549640" y="3803904"/>
            <a:ext cx="2880360" cy="685800"/>
          </a:xfrm>
          <a:prstGeom prst="rect">
            <a:avLst/>
          </a:prstGeom>
          <a:noFill/>
        </p:spPr>
        <p:txBody>
          <a:bodyPr wrap="square" anchor="t" lIns="0" rIns="0" tIns="0" bIns="0">
            <a:spAutoFit/>
          </a:bodyPr>
          <a:lstStyle/>
          <a:p>
            <a:pPr algn="l">
              <a:lnSpc>
                <a:spcPct val="110000"/>
              </a:lnSpc>
              <a:spcAft>
                <a:spcPts val="0"/>
              </a:spcAft>
            </a:pPr>
            <a:r>
              <a:rPr sz="1150" b="0" i="0">
                <a:solidFill>
                  <a:srgbClr val="A9AFBC"/>
                </a:solidFill>
                <a:latin typeface="Calibri"/>
              </a:rPr>
              <a:t>A modest R2 ceiling is a predictable result of that signal, not a bug.</a:t>
            </a:r>
          </a:p>
        </p:txBody>
      </p:sp>
      <p:sp>
        <p:nvSpPr>
          <p:cNvPr id="32" name="Rectangle 31"/>
          <p:cNvSpPr/>
          <p:nvPr/>
        </p:nvSpPr>
        <p:spPr>
          <a:xfrm>
            <a:off x="502920" y="4937760"/>
            <a:ext cx="11155680" cy="1051560"/>
          </a:xfrm>
          <a:prstGeom prst="rect">
            <a:avLst/>
          </a:prstGeom>
          <a:solidFill>
            <a:srgbClr val="1417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02920" y="4937760"/>
            <a:ext cx="45720" cy="1051560"/>
          </a:xfrm>
          <a:prstGeom prst="rect">
            <a:avLst/>
          </a:prstGeom>
          <a:solidFill>
            <a:srgbClr val="C46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77240" y="5065776"/>
            <a:ext cx="10607040" cy="274320"/>
          </a:xfrm>
          <a:prstGeom prst="rect">
            <a:avLst/>
          </a:prstGeom>
          <a:noFill/>
        </p:spPr>
        <p:txBody>
          <a:bodyPr wrap="square" anchor="t" lIns="0" rIns="0" tIns="0" bIns="0">
            <a:spAutoFit/>
          </a:bodyPr>
          <a:lstStyle/>
          <a:p>
            <a:pPr algn="l">
              <a:lnSpc>
                <a:spcPct val="100000"/>
              </a:lnSpc>
              <a:spcAft>
                <a:spcPts val="0"/>
              </a:spcAft>
            </a:pPr>
            <a:r>
              <a:rPr sz="1250" b="1" i="0">
                <a:solidFill>
                  <a:srgbClr val="C4645A"/>
                </a:solidFill>
                <a:latin typeface="Calibri"/>
              </a:rPr>
              <a:t>KEY TAKEAWAY</a:t>
            </a:r>
          </a:p>
        </p:txBody>
      </p:sp>
      <p:sp>
        <p:nvSpPr>
          <p:cNvPr id="35" name="TextBox 34"/>
          <p:cNvSpPr txBox="1"/>
          <p:nvPr/>
        </p:nvSpPr>
        <p:spPr>
          <a:xfrm>
            <a:off x="777240" y="5358384"/>
            <a:ext cx="10607040" cy="502920"/>
          </a:xfrm>
          <a:prstGeom prst="rect">
            <a:avLst/>
          </a:prstGeom>
          <a:noFill/>
        </p:spPr>
        <p:txBody>
          <a:bodyPr wrap="square" anchor="t" lIns="0" rIns="0" tIns="0" bIns="0">
            <a:spAutoFit/>
          </a:bodyPr>
          <a:lstStyle/>
          <a:p>
            <a:pPr algn="l">
              <a:lnSpc>
                <a:spcPct val="115000"/>
              </a:lnSpc>
              <a:spcAft>
                <a:spcPts val="0"/>
              </a:spcAft>
            </a:pPr>
            <a:r>
              <a:rPr sz="1300" b="0" i="0">
                <a:solidFill>
                  <a:srgbClr val="A9AFBC"/>
                </a:solidFill>
                <a:latin typeface="Calibri"/>
              </a:rPr>
              <a:t>Meaningful improvement needs genuinely new information (news sentiment, on-chain metrics), not further tuning of what's already here. Neither more model complexity nor more compute alone is sufficient.</a:t>
            </a:r>
          </a:p>
        </p:txBody>
      </p:sp>
      <p:sp>
        <p:nvSpPr>
          <p:cNvPr id="36" name="TextBox 35"/>
          <p:cNvSpPr txBox="1"/>
          <p:nvPr/>
        </p:nvSpPr>
        <p:spPr>
          <a:xfrm>
            <a:off x="11612880" y="6492240"/>
            <a:ext cx="457200" cy="274320"/>
          </a:xfrm>
          <a:prstGeom prst="rect">
            <a:avLst/>
          </a:prstGeom>
          <a:noFill/>
        </p:spPr>
        <p:txBody>
          <a:bodyPr wrap="square" anchor="t" lIns="0" rIns="0" tIns="0" bIns="0">
            <a:spAutoFit/>
          </a:bodyPr>
          <a:lstStyle/>
          <a:p>
            <a:pPr algn="r">
              <a:lnSpc>
                <a:spcPct val="100000"/>
              </a:lnSpc>
              <a:spcAft>
                <a:spcPts val="0"/>
              </a:spcAft>
            </a:pPr>
            <a:r>
              <a:rPr sz="1100" b="0" i="0">
                <a:solidFill>
                  <a:srgbClr val="777E8C"/>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457200"/>
            <a:ext cx="54864" cy="384048"/>
          </a:xfrm>
          <a:prstGeom prst="rect">
            <a:avLst/>
          </a:prstGeom>
          <a:solidFill>
            <a:srgbClr val="5B7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384048"/>
            <a:ext cx="9601200" cy="502920"/>
          </a:xfrm>
          <a:prstGeom prst="rect">
            <a:avLst/>
          </a:prstGeom>
          <a:noFill/>
        </p:spPr>
        <p:txBody>
          <a:bodyPr wrap="square" anchor="t" lIns="0" rIns="0" tIns="0" bIns="0">
            <a:spAutoFit/>
          </a:bodyPr>
          <a:lstStyle/>
          <a:p>
            <a:pPr algn="l">
              <a:lnSpc>
                <a:spcPct val="100000"/>
              </a:lnSpc>
              <a:spcAft>
                <a:spcPts val="0"/>
              </a:spcAft>
            </a:pPr>
            <a:r>
              <a:rPr sz="2700" b="1" i="0">
                <a:solidFill>
                  <a:srgbClr val="FFFFFF"/>
                </a:solidFill>
                <a:latin typeface="Calibri"/>
              </a:rPr>
              <a:t>Operational Implications</a:t>
            </a:r>
          </a:p>
        </p:txBody>
      </p:sp>
      <p:sp>
        <p:nvSpPr>
          <p:cNvPr id="5" name="TextBox 4"/>
          <p:cNvSpPr txBox="1"/>
          <p:nvPr/>
        </p:nvSpPr>
        <p:spPr>
          <a:xfrm>
            <a:off x="685800" y="1005840"/>
            <a:ext cx="8229600" cy="365760"/>
          </a:xfrm>
          <a:prstGeom prst="rect">
            <a:avLst/>
          </a:prstGeom>
          <a:noFill/>
        </p:spPr>
        <p:txBody>
          <a:bodyPr wrap="square" anchor="t" lIns="0" rIns="0" tIns="0" bIns="0">
            <a:spAutoFit/>
          </a:bodyPr>
          <a:lstStyle/>
          <a:p>
            <a:pPr algn="l">
              <a:lnSpc>
                <a:spcPct val="100000"/>
              </a:lnSpc>
              <a:spcAft>
                <a:spcPts val="0"/>
              </a:spcAft>
            </a:pPr>
            <a:r>
              <a:rPr sz="1350" b="0" i="0">
                <a:solidFill>
                  <a:srgbClr val="A9AFBC"/>
                </a:solidFill>
                <a:latin typeface="Calibri"/>
              </a:rPr>
              <a:t>Where a 0.24 R2 forecast is genuinely useful - and where it is not.</a:t>
            </a:r>
          </a:p>
        </p:txBody>
      </p:sp>
      <p:sp>
        <p:nvSpPr>
          <p:cNvPr id="6" name="TextBox 5"/>
          <p:cNvSpPr txBox="1"/>
          <p:nvPr/>
        </p:nvSpPr>
        <p:spPr>
          <a:xfrm>
            <a:off x="502920" y="1600200"/>
            <a:ext cx="5212080" cy="320040"/>
          </a:xfrm>
          <a:prstGeom prst="rect">
            <a:avLst/>
          </a:prstGeom>
          <a:noFill/>
        </p:spPr>
        <p:txBody>
          <a:bodyPr wrap="square" anchor="t" lIns="0" rIns="0" tIns="0" bIns="0">
            <a:spAutoFit/>
          </a:bodyPr>
          <a:lstStyle/>
          <a:p>
            <a:pPr algn="l">
              <a:lnSpc>
                <a:spcPct val="100000"/>
              </a:lnSpc>
              <a:spcAft>
                <a:spcPts val="0"/>
              </a:spcAft>
            </a:pPr>
            <a:r>
              <a:rPr sz="1500" b="1" i="0">
                <a:solidFill>
                  <a:srgbClr val="5B7FA8"/>
                </a:solidFill>
                <a:latin typeface="Calibri"/>
              </a:rPr>
              <a:t>Appropriate Uses</a:t>
            </a:r>
          </a:p>
        </p:txBody>
      </p:sp>
      <p:sp>
        <p:nvSpPr>
          <p:cNvPr id="7" name="TextBox 6"/>
          <p:cNvSpPr txBox="1"/>
          <p:nvPr/>
        </p:nvSpPr>
        <p:spPr>
          <a:xfrm>
            <a:off x="6035040" y="1600200"/>
            <a:ext cx="5212080" cy="320040"/>
          </a:xfrm>
          <a:prstGeom prst="rect">
            <a:avLst/>
          </a:prstGeom>
          <a:noFill/>
        </p:spPr>
        <p:txBody>
          <a:bodyPr wrap="square" anchor="t" lIns="0" rIns="0" tIns="0" bIns="0">
            <a:spAutoFit/>
          </a:bodyPr>
          <a:lstStyle/>
          <a:p>
            <a:pPr algn="l">
              <a:lnSpc>
                <a:spcPct val="100000"/>
              </a:lnSpc>
              <a:spcAft>
                <a:spcPts val="0"/>
              </a:spcAft>
            </a:pPr>
            <a:r>
              <a:rPr sz="1500" b="1" i="0">
                <a:solidFill>
                  <a:srgbClr val="C4645A"/>
                </a:solidFill>
                <a:latin typeface="Calibri"/>
              </a:rPr>
              <a:t>Inappropriate Uses</a:t>
            </a:r>
          </a:p>
        </p:txBody>
      </p:sp>
      <p:sp>
        <p:nvSpPr>
          <p:cNvPr id="8" name="Rectangle 7"/>
          <p:cNvSpPr/>
          <p:nvPr/>
        </p:nvSpPr>
        <p:spPr>
          <a:xfrm>
            <a:off x="502920" y="2011680"/>
            <a:ext cx="5212080" cy="822960"/>
          </a:xfrm>
          <a:prstGeom prst="rect">
            <a:avLst/>
          </a:prstGeom>
          <a:solidFill>
            <a:srgbClr val="12151C"/>
          </a:solidFill>
          <a:ln w="9525">
            <a:solidFill>
              <a:srgbClr val="2A2F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2011680"/>
            <a:ext cx="41148" cy="822960"/>
          </a:xfrm>
          <a:prstGeom prst="rect">
            <a:avLst/>
          </a:prstGeom>
          <a:solidFill>
            <a:srgbClr val="5B7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2121408"/>
            <a:ext cx="4846320" cy="274320"/>
          </a:xfrm>
          <a:prstGeom prst="rect">
            <a:avLst/>
          </a:prstGeom>
          <a:noFill/>
        </p:spPr>
        <p:txBody>
          <a:bodyPr wrap="square" anchor="t" lIns="0" rIns="0" tIns="0" bIns="0">
            <a:spAutoFit/>
          </a:bodyPr>
          <a:lstStyle/>
          <a:p>
            <a:pPr algn="l">
              <a:lnSpc>
                <a:spcPct val="100000"/>
              </a:lnSpc>
              <a:spcAft>
                <a:spcPts val="0"/>
              </a:spcAft>
            </a:pPr>
            <a:r>
              <a:rPr sz="1300" b="1" i="0">
                <a:solidFill>
                  <a:srgbClr val="FFFFFF"/>
                </a:solidFill>
                <a:latin typeface="Calibri"/>
              </a:rPr>
              <a:t>Position Sizing</a:t>
            </a:r>
          </a:p>
        </p:txBody>
      </p:sp>
      <p:sp>
        <p:nvSpPr>
          <p:cNvPr id="11" name="TextBox 10"/>
          <p:cNvSpPr txBox="1"/>
          <p:nvPr/>
        </p:nvSpPr>
        <p:spPr>
          <a:xfrm>
            <a:off x="731520" y="2414016"/>
            <a:ext cx="4846320" cy="365760"/>
          </a:xfrm>
          <a:prstGeom prst="rect">
            <a:avLst/>
          </a:prstGeom>
          <a:noFill/>
        </p:spPr>
        <p:txBody>
          <a:bodyPr wrap="square" anchor="t" lIns="0" rIns="0" tIns="0" bIns="0">
            <a:spAutoFit/>
          </a:bodyPr>
          <a:lstStyle/>
          <a:p>
            <a:pPr algn="l">
              <a:lnSpc>
                <a:spcPct val="105000"/>
              </a:lnSpc>
              <a:spcAft>
                <a:spcPts val="0"/>
              </a:spcAft>
            </a:pPr>
            <a:r>
              <a:rPr sz="1050" b="0" i="0">
                <a:solidFill>
                  <a:srgbClr val="A9AFBC"/>
                </a:solidFill>
                <a:latin typeface="Calibri"/>
              </a:rPr>
              <a:t>Scale trade size to the forecast - bigger expected move, smaller position.</a:t>
            </a:r>
          </a:p>
        </p:txBody>
      </p:sp>
      <p:sp>
        <p:nvSpPr>
          <p:cNvPr id="12" name="Rectangle 11"/>
          <p:cNvSpPr/>
          <p:nvPr/>
        </p:nvSpPr>
        <p:spPr>
          <a:xfrm>
            <a:off x="502920" y="2971800"/>
            <a:ext cx="5212080" cy="822960"/>
          </a:xfrm>
          <a:prstGeom prst="rect">
            <a:avLst/>
          </a:prstGeom>
          <a:solidFill>
            <a:srgbClr val="12151C"/>
          </a:solidFill>
          <a:ln w="9525">
            <a:solidFill>
              <a:srgbClr val="2A2F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02920" y="2971800"/>
            <a:ext cx="41148" cy="822960"/>
          </a:xfrm>
          <a:prstGeom prst="rect">
            <a:avLst/>
          </a:prstGeom>
          <a:solidFill>
            <a:srgbClr val="5B7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3081528"/>
            <a:ext cx="4846320" cy="274320"/>
          </a:xfrm>
          <a:prstGeom prst="rect">
            <a:avLst/>
          </a:prstGeom>
          <a:noFill/>
        </p:spPr>
        <p:txBody>
          <a:bodyPr wrap="square" anchor="t" lIns="0" rIns="0" tIns="0" bIns="0">
            <a:spAutoFit/>
          </a:bodyPr>
          <a:lstStyle/>
          <a:p>
            <a:pPr algn="l">
              <a:lnSpc>
                <a:spcPct val="100000"/>
              </a:lnSpc>
              <a:spcAft>
                <a:spcPts val="0"/>
              </a:spcAft>
            </a:pPr>
            <a:r>
              <a:rPr sz="1300" b="1" i="0">
                <a:solidFill>
                  <a:srgbClr val="FFFFFF"/>
                </a:solidFill>
                <a:latin typeface="Calibri"/>
              </a:rPr>
              <a:t>Options Pricing Input</a:t>
            </a:r>
          </a:p>
        </p:txBody>
      </p:sp>
      <p:sp>
        <p:nvSpPr>
          <p:cNvPr id="15" name="TextBox 14"/>
          <p:cNvSpPr txBox="1"/>
          <p:nvPr/>
        </p:nvSpPr>
        <p:spPr>
          <a:xfrm>
            <a:off x="731520" y="3374136"/>
            <a:ext cx="4846320" cy="365760"/>
          </a:xfrm>
          <a:prstGeom prst="rect">
            <a:avLst/>
          </a:prstGeom>
          <a:noFill/>
        </p:spPr>
        <p:txBody>
          <a:bodyPr wrap="square" anchor="t" lIns="0" rIns="0" tIns="0" bIns="0">
            <a:spAutoFit/>
          </a:bodyPr>
          <a:lstStyle/>
          <a:p>
            <a:pPr algn="l">
              <a:lnSpc>
                <a:spcPct val="105000"/>
              </a:lnSpc>
              <a:spcAft>
                <a:spcPts val="0"/>
              </a:spcAft>
            </a:pPr>
            <a:r>
              <a:rPr sz="1050" b="0" i="0">
                <a:solidFill>
                  <a:srgbClr val="A9AFBC"/>
                </a:solidFill>
                <a:latin typeface="Calibri"/>
              </a:rPr>
              <a:t>One data-driven volatility estimate to compare against market pricing.</a:t>
            </a:r>
          </a:p>
        </p:txBody>
      </p:sp>
      <p:sp>
        <p:nvSpPr>
          <p:cNvPr id="16" name="Rectangle 15"/>
          <p:cNvSpPr/>
          <p:nvPr/>
        </p:nvSpPr>
        <p:spPr>
          <a:xfrm>
            <a:off x="502920" y="3931920"/>
            <a:ext cx="5212080" cy="822960"/>
          </a:xfrm>
          <a:prstGeom prst="rect">
            <a:avLst/>
          </a:prstGeom>
          <a:solidFill>
            <a:srgbClr val="12151C"/>
          </a:solidFill>
          <a:ln w="9525">
            <a:solidFill>
              <a:srgbClr val="2A2F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02920" y="3931920"/>
            <a:ext cx="41148" cy="822960"/>
          </a:xfrm>
          <a:prstGeom prst="rect">
            <a:avLst/>
          </a:prstGeom>
          <a:solidFill>
            <a:srgbClr val="5B7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4041648"/>
            <a:ext cx="4846320" cy="274320"/>
          </a:xfrm>
          <a:prstGeom prst="rect">
            <a:avLst/>
          </a:prstGeom>
          <a:noFill/>
        </p:spPr>
        <p:txBody>
          <a:bodyPr wrap="square" anchor="t" lIns="0" rIns="0" tIns="0" bIns="0">
            <a:spAutoFit/>
          </a:bodyPr>
          <a:lstStyle/>
          <a:p>
            <a:pPr algn="l">
              <a:lnSpc>
                <a:spcPct val="100000"/>
              </a:lnSpc>
              <a:spcAft>
                <a:spcPts val="0"/>
              </a:spcAft>
            </a:pPr>
            <a:r>
              <a:rPr sz="1300" b="1" i="0">
                <a:solidFill>
                  <a:srgbClr val="FFFFFF"/>
                </a:solidFill>
                <a:latin typeface="Calibri"/>
              </a:rPr>
              <a:t>Risk Reporting</a:t>
            </a:r>
          </a:p>
        </p:txBody>
      </p:sp>
      <p:sp>
        <p:nvSpPr>
          <p:cNvPr id="19" name="TextBox 18"/>
          <p:cNvSpPr txBox="1"/>
          <p:nvPr/>
        </p:nvSpPr>
        <p:spPr>
          <a:xfrm>
            <a:off x="731520" y="4334256"/>
            <a:ext cx="4846320" cy="365760"/>
          </a:xfrm>
          <a:prstGeom prst="rect">
            <a:avLst/>
          </a:prstGeom>
          <a:noFill/>
        </p:spPr>
        <p:txBody>
          <a:bodyPr wrap="square" anchor="t" lIns="0" rIns="0" tIns="0" bIns="0">
            <a:spAutoFit/>
          </a:bodyPr>
          <a:lstStyle/>
          <a:p>
            <a:pPr algn="l">
              <a:lnSpc>
                <a:spcPct val="105000"/>
              </a:lnSpc>
              <a:spcAft>
                <a:spcPts val="0"/>
              </a:spcAft>
            </a:pPr>
            <a:r>
              <a:rPr sz="1050" b="0" i="0">
                <a:solidFill>
                  <a:srgbClr val="A9AFBC"/>
                </a:solidFill>
                <a:latin typeface="Calibri"/>
              </a:rPr>
              <a:t>A continuous VaR input for weekly risk reviews, not a single trade call.</a:t>
            </a:r>
          </a:p>
        </p:txBody>
      </p:sp>
      <p:sp>
        <p:nvSpPr>
          <p:cNvPr id="20" name="Rectangle 19"/>
          <p:cNvSpPr/>
          <p:nvPr/>
        </p:nvSpPr>
        <p:spPr>
          <a:xfrm>
            <a:off x="6035040" y="2011680"/>
            <a:ext cx="5212080" cy="822960"/>
          </a:xfrm>
          <a:prstGeom prst="rect">
            <a:avLst/>
          </a:prstGeom>
          <a:solidFill>
            <a:srgbClr val="12151C"/>
          </a:solidFill>
          <a:ln w="9525">
            <a:solidFill>
              <a:srgbClr val="2A2F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035040" y="2011680"/>
            <a:ext cx="41148" cy="822960"/>
          </a:xfrm>
          <a:prstGeom prst="rect">
            <a:avLst/>
          </a:prstGeom>
          <a:solidFill>
            <a:srgbClr val="C46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63640" y="2121408"/>
            <a:ext cx="4846320" cy="274320"/>
          </a:xfrm>
          <a:prstGeom prst="rect">
            <a:avLst/>
          </a:prstGeom>
          <a:noFill/>
        </p:spPr>
        <p:txBody>
          <a:bodyPr wrap="square" anchor="t" lIns="0" rIns="0" tIns="0" bIns="0">
            <a:spAutoFit/>
          </a:bodyPr>
          <a:lstStyle/>
          <a:p>
            <a:pPr algn="l">
              <a:lnSpc>
                <a:spcPct val="100000"/>
              </a:lnSpc>
              <a:spcAft>
                <a:spcPts val="0"/>
              </a:spcAft>
            </a:pPr>
            <a:r>
              <a:rPr sz="1300" b="1" i="0">
                <a:solidFill>
                  <a:srgbClr val="FFFFFF"/>
                </a:solidFill>
                <a:latin typeface="Calibri"/>
              </a:rPr>
              <a:t>Sole Trading Signal</a:t>
            </a:r>
          </a:p>
        </p:txBody>
      </p:sp>
      <p:sp>
        <p:nvSpPr>
          <p:cNvPr id="23" name="TextBox 22"/>
          <p:cNvSpPr txBox="1"/>
          <p:nvPr/>
        </p:nvSpPr>
        <p:spPr>
          <a:xfrm>
            <a:off x="6263640" y="2414016"/>
            <a:ext cx="4846320" cy="365760"/>
          </a:xfrm>
          <a:prstGeom prst="rect">
            <a:avLst/>
          </a:prstGeom>
          <a:noFill/>
        </p:spPr>
        <p:txBody>
          <a:bodyPr wrap="square" anchor="t" lIns="0" rIns="0" tIns="0" bIns="0">
            <a:spAutoFit/>
          </a:bodyPr>
          <a:lstStyle/>
          <a:p>
            <a:pPr algn="l">
              <a:lnSpc>
                <a:spcPct val="105000"/>
              </a:lnSpc>
              <a:spcAft>
                <a:spcPts val="0"/>
              </a:spcAft>
            </a:pPr>
            <a:r>
              <a:rPr sz="1050" b="0" i="0">
                <a:solidFill>
                  <a:srgbClr val="A9AFBC"/>
                </a:solidFill>
                <a:latin typeface="Calibri"/>
              </a:rPr>
              <a:t>Explains ~24% of variance - never trade on this number alone.</a:t>
            </a:r>
          </a:p>
        </p:txBody>
      </p:sp>
      <p:sp>
        <p:nvSpPr>
          <p:cNvPr id="24" name="Rectangle 23"/>
          <p:cNvSpPr/>
          <p:nvPr/>
        </p:nvSpPr>
        <p:spPr>
          <a:xfrm>
            <a:off x="6035040" y="2971800"/>
            <a:ext cx="5212080" cy="822960"/>
          </a:xfrm>
          <a:prstGeom prst="rect">
            <a:avLst/>
          </a:prstGeom>
          <a:solidFill>
            <a:srgbClr val="12151C"/>
          </a:solidFill>
          <a:ln w="9525">
            <a:solidFill>
              <a:srgbClr val="2A2F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035040" y="2971800"/>
            <a:ext cx="41148" cy="822960"/>
          </a:xfrm>
          <a:prstGeom prst="rect">
            <a:avLst/>
          </a:prstGeom>
          <a:solidFill>
            <a:srgbClr val="C46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63640" y="3081528"/>
            <a:ext cx="4846320" cy="274320"/>
          </a:xfrm>
          <a:prstGeom prst="rect">
            <a:avLst/>
          </a:prstGeom>
          <a:noFill/>
        </p:spPr>
        <p:txBody>
          <a:bodyPr wrap="square" anchor="t" lIns="0" rIns="0" tIns="0" bIns="0">
            <a:spAutoFit/>
          </a:bodyPr>
          <a:lstStyle/>
          <a:p>
            <a:pPr algn="l">
              <a:lnSpc>
                <a:spcPct val="100000"/>
              </a:lnSpc>
              <a:spcAft>
                <a:spcPts val="0"/>
              </a:spcAft>
            </a:pPr>
            <a:r>
              <a:rPr sz="1300" b="1" i="0">
                <a:solidFill>
                  <a:srgbClr val="FFFFFF"/>
                </a:solidFill>
                <a:latin typeface="Calibri"/>
              </a:rPr>
              <a:t>Real-Time Execution</a:t>
            </a:r>
          </a:p>
        </p:txBody>
      </p:sp>
      <p:sp>
        <p:nvSpPr>
          <p:cNvPr id="27" name="TextBox 26"/>
          <p:cNvSpPr txBox="1"/>
          <p:nvPr/>
        </p:nvSpPr>
        <p:spPr>
          <a:xfrm>
            <a:off x="6263640" y="3374136"/>
            <a:ext cx="4846320" cy="365760"/>
          </a:xfrm>
          <a:prstGeom prst="rect">
            <a:avLst/>
          </a:prstGeom>
          <a:noFill/>
        </p:spPr>
        <p:txBody>
          <a:bodyPr wrap="square" anchor="t" lIns="0" rIns="0" tIns="0" bIns="0">
            <a:spAutoFit/>
          </a:bodyPr>
          <a:lstStyle/>
          <a:p>
            <a:pPr algn="l">
              <a:lnSpc>
                <a:spcPct val="105000"/>
              </a:lnSpc>
              <a:spcAft>
                <a:spcPts val="0"/>
              </a:spcAft>
            </a:pPr>
            <a:r>
              <a:rPr sz="1050" b="0" i="0">
                <a:solidFill>
                  <a:srgbClr val="A9AFBC"/>
                </a:solidFill>
                <a:latin typeface="Calibri"/>
              </a:rPr>
              <a:t>Not built or tested for split-second, automated trade triggers.</a:t>
            </a:r>
          </a:p>
        </p:txBody>
      </p:sp>
      <p:sp>
        <p:nvSpPr>
          <p:cNvPr id="28" name="Rectangle 27"/>
          <p:cNvSpPr/>
          <p:nvPr/>
        </p:nvSpPr>
        <p:spPr>
          <a:xfrm>
            <a:off x="6035040" y="3931920"/>
            <a:ext cx="5212080" cy="822960"/>
          </a:xfrm>
          <a:prstGeom prst="rect">
            <a:avLst/>
          </a:prstGeom>
          <a:solidFill>
            <a:srgbClr val="12151C"/>
          </a:solidFill>
          <a:ln w="9525">
            <a:solidFill>
              <a:srgbClr val="2A2F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035040" y="3931920"/>
            <a:ext cx="41148" cy="822960"/>
          </a:xfrm>
          <a:prstGeom prst="rect">
            <a:avLst/>
          </a:prstGeom>
          <a:solidFill>
            <a:srgbClr val="C46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263640" y="4041648"/>
            <a:ext cx="4846320" cy="274320"/>
          </a:xfrm>
          <a:prstGeom prst="rect">
            <a:avLst/>
          </a:prstGeom>
          <a:noFill/>
        </p:spPr>
        <p:txBody>
          <a:bodyPr wrap="square" anchor="t" lIns="0" rIns="0" tIns="0" bIns="0">
            <a:spAutoFit/>
          </a:bodyPr>
          <a:lstStyle/>
          <a:p>
            <a:pPr algn="l">
              <a:lnSpc>
                <a:spcPct val="100000"/>
              </a:lnSpc>
              <a:spcAft>
                <a:spcPts val="0"/>
              </a:spcAft>
            </a:pPr>
            <a:r>
              <a:rPr sz="1300" b="1" i="0">
                <a:solidFill>
                  <a:srgbClr val="FFFFFF"/>
                </a:solidFill>
                <a:latin typeface="Calibri"/>
              </a:rPr>
              <a:t>Certainty in Legal/Compliance Filings</a:t>
            </a:r>
          </a:p>
        </p:txBody>
      </p:sp>
      <p:sp>
        <p:nvSpPr>
          <p:cNvPr id="31" name="TextBox 30"/>
          <p:cNvSpPr txBox="1"/>
          <p:nvPr/>
        </p:nvSpPr>
        <p:spPr>
          <a:xfrm>
            <a:off x="6263640" y="4334256"/>
            <a:ext cx="4846320" cy="365760"/>
          </a:xfrm>
          <a:prstGeom prst="rect">
            <a:avLst/>
          </a:prstGeom>
          <a:noFill/>
        </p:spPr>
        <p:txBody>
          <a:bodyPr wrap="square" anchor="t" lIns="0" rIns="0" tIns="0" bIns="0">
            <a:spAutoFit/>
          </a:bodyPr>
          <a:lstStyle/>
          <a:p>
            <a:pPr algn="l">
              <a:lnSpc>
                <a:spcPct val="105000"/>
              </a:lnSpc>
              <a:spcAft>
                <a:spcPts val="0"/>
              </a:spcAft>
            </a:pPr>
            <a:r>
              <a:rPr sz="1050" b="0" i="0">
                <a:solidFill>
                  <a:srgbClr val="A9AFBC"/>
                </a:solidFill>
                <a:latin typeface="Calibri"/>
              </a:rPr>
              <a:t>A forecast with real error bars, not a guarantee.</a:t>
            </a:r>
          </a:p>
        </p:txBody>
      </p:sp>
      <p:sp>
        <p:nvSpPr>
          <p:cNvPr id="32" name="Rectangle 31"/>
          <p:cNvSpPr/>
          <p:nvPr/>
        </p:nvSpPr>
        <p:spPr>
          <a:xfrm>
            <a:off x="502920" y="5074920"/>
            <a:ext cx="10744200" cy="685800"/>
          </a:xfrm>
          <a:prstGeom prst="rect">
            <a:avLst/>
          </a:prstGeom>
          <a:solidFill>
            <a:srgbClr val="080A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02920" y="5074920"/>
            <a:ext cx="10744200" cy="685800"/>
          </a:xfrm>
          <a:prstGeom prst="rect">
            <a:avLst/>
          </a:prstGeom>
          <a:noFill/>
        </p:spPr>
        <p:txBody>
          <a:bodyPr wrap="square" anchor="ctr" lIns="0" rIns="0" tIns="0" bIns="0">
            <a:spAutoFit/>
          </a:bodyPr>
          <a:lstStyle/>
          <a:p>
            <a:pPr algn="ctr">
              <a:lnSpc>
                <a:spcPct val="100000"/>
              </a:lnSpc>
              <a:spcAft>
                <a:spcPts val="0"/>
              </a:spcAft>
            </a:pPr>
            <a:r>
              <a:rPr sz="1500" b="1" i="0">
                <a:solidFill>
                  <a:srgbClr val="E8C99B"/>
                </a:solidFill>
                <a:latin typeface="Calibri"/>
              </a:rPr>
              <a:t>One input, not the final answer.</a:t>
            </a:r>
          </a:p>
        </p:txBody>
      </p:sp>
      <p:sp>
        <p:nvSpPr>
          <p:cNvPr id="34" name="TextBox 33"/>
          <p:cNvSpPr txBox="1"/>
          <p:nvPr/>
        </p:nvSpPr>
        <p:spPr>
          <a:xfrm>
            <a:off x="11612880" y="6492240"/>
            <a:ext cx="457200" cy="274320"/>
          </a:xfrm>
          <a:prstGeom prst="rect">
            <a:avLst/>
          </a:prstGeom>
          <a:noFill/>
        </p:spPr>
        <p:txBody>
          <a:bodyPr wrap="square" anchor="t" lIns="0" rIns="0" tIns="0" bIns="0">
            <a:spAutoFit/>
          </a:bodyPr>
          <a:lstStyle/>
          <a:p>
            <a:pPr algn="r">
              <a:lnSpc>
                <a:spcPct val="100000"/>
              </a:lnSpc>
              <a:spcAft>
                <a:spcPts val="0"/>
              </a:spcAft>
            </a:pPr>
            <a:r>
              <a:rPr sz="1100" b="0" i="0">
                <a:solidFill>
                  <a:srgbClr val="777E8C"/>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pure-05.jp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109728" cy="68580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965960"/>
            <a:ext cx="5486400" cy="320040"/>
          </a:xfrm>
          <a:prstGeom prst="rect">
            <a:avLst/>
          </a:prstGeom>
          <a:noFill/>
        </p:spPr>
        <p:txBody>
          <a:bodyPr wrap="square" anchor="t" lIns="0" rIns="0" tIns="0" bIns="0">
            <a:spAutoFit/>
          </a:bodyPr>
          <a:lstStyle/>
          <a:p>
            <a:pPr algn="l">
              <a:lnSpc>
                <a:spcPct val="100000"/>
              </a:lnSpc>
              <a:spcAft>
                <a:spcPts val="0"/>
              </a:spcAft>
            </a:pPr>
            <a:r>
              <a:rPr sz="1300" b="1" i="0">
                <a:solidFill>
                  <a:srgbClr val="E8C99B"/>
                </a:solidFill>
                <a:latin typeface="Calibri"/>
              </a:rPr>
              <a:t>CONCLUSION</a:t>
            </a:r>
          </a:p>
        </p:txBody>
      </p:sp>
      <p:sp>
        <p:nvSpPr>
          <p:cNvPr id="5" name="TextBox 4"/>
          <p:cNvSpPr txBox="1"/>
          <p:nvPr/>
        </p:nvSpPr>
        <p:spPr>
          <a:xfrm>
            <a:off x="822960" y="2331720"/>
            <a:ext cx="9601200" cy="1554480"/>
          </a:xfrm>
          <a:prstGeom prst="rect">
            <a:avLst/>
          </a:prstGeom>
          <a:noFill/>
        </p:spPr>
        <p:txBody>
          <a:bodyPr wrap="square" anchor="t" lIns="0" rIns="0" tIns="0" bIns="0">
            <a:spAutoFit/>
          </a:bodyPr>
          <a:lstStyle/>
          <a:p>
            <a:pPr algn="l">
              <a:lnSpc>
                <a:spcPct val="105000"/>
              </a:lnSpc>
              <a:spcAft>
                <a:spcPts val="0"/>
              </a:spcAft>
            </a:pPr>
            <a:r>
              <a:rPr sz="4000" b="1" i="0">
                <a:solidFill>
                  <a:srgbClr val="FFFFFF"/>
                </a:solidFill>
                <a:latin typeface="Calibri"/>
              </a:rPr>
              <a:t>Purpose-Built Regressors,</a:t>
            </a:r>
          </a:p>
          <a:p>
            <a:pPr algn="l">
              <a:lnSpc>
                <a:spcPct val="105000"/>
              </a:lnSpc>
              <a:spcAft>
                <a:spcPts val="0"/>
              </a:spcAft>
            </a:pPr>
            <a:r>
              <a:rPr sz="4000" b="1" i="0">
                <a:solidFill>
                  <a:srgbClr val="FFFFFF"/>
                </a:solidFill>
                <a:latin typeface="Calibri"/>
              </a:rPr>
              <a:t>Not More Complexity</a:t>
            </a:r>
          </a:p>
        </p:txBody>
      </p:sp>
      <p:sp>
        <p:nvSpPr>
          <p:cNvPr id="6" name="Rectangle 5"/>
          <p:cNvSpPr/>
          <p:nvPr/>
        </p:nvSpPr>
        <p:spPr>
          <a:xfrm>
            <a:off x="822960" y="3794760"/>
            <a:ext cx="1463040" cy="38100"/>
          </a:xfrm>
          <a:prstGeom prst="rect">
            <a:avLst/>
          </a:prstGeom>
          <a:solidFill>
            <a:srgbClr val="C46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4023360"/>
            <a:ext cx="9144000" cy="822960"/>
          </a:xfrm>
          <a:prstGeom prst="rect">
            <a:avLst/>
          </a:prstGeom>
          <a:noFill/>
        </p:spPr>
        <p:txBody>
          <a:bodyPr wrap="square" anchor="t" lIns="0" rIns="0" tIns="0" bIns="0">
            <a:spAutoFit/>
          </a:bodyPr>
          <a:lstStyle/>
          <a:p>
            <a:pPr algn="l">
              <a:lnSpc>
                <a:spcPct val="130000"/>
              </a:lnSpc>
              <a:spcAft>
                <a:spcPts val="0"/>
              </a:spcAft>
            </a:pPr>
            <a:r>
              <a:rPr sz="1400" b="0" i="0">
                <a:solidFill>
                  <a:srgbClr val="A9AFBC"/>
                </a:solidFill>
                <a:latin typeface="Calibri"/>
              </a:rPr>
              <a:t>EDA and feature selection revealed weak, concentrated correlations that set a real ceiling on achievable accuracy. Every attempt to beat that ceiling with a more flexible model - XGBoost, LSTM, ARIMA - lost to HAR-RV-X's three theoretically-motivated regressors.</a:t>
            </a:r>
          </a:p>
        </p:txBody>
      </p:sp>
      <p:sp>
        <p:nvSpPr>
          <p:cNvPr id="8" name="TextBox 7"/>
          <p:cNvSpPr txBox="1"/>
          <p:nvPr/>
        </p:nvSpPr>
        <p:spPr>
          <a:xfrm>
            <a:off x="822960" y="5120640"/>
            <a:ext cx="9601200" cy="548640"/>
          </a:xfrm>
          <a:prstGeom prst="rect">
            <a:avLst/>
          </a:prstGeom>
          <a:noFill/>
        </p:spPr>
        <p:txBody>
          <a:bodyPr wrap="square" anchor="t" lIns="0" rIns="0" tIns="0" bIns="0">
            <a:spAutoFit/>
          </a:bodyPr>
          <a:lstStyle/>
          <a:p>
            <a:pPr algn="l">
              <a:lnSpc>
                <a:spcPct val="105000"/>
              </a:lnSpc>
            </a:pPr>
            <a:r>
              <a:rPr sz="1700" b="1">
                <a:solidFill>
                  <a:srgbClr val="FFFFFF"/>
                </a:solidFill>
                <a:latin typeface="Calibri"/>
              </a:rPr>
              <a:t>This is a feature-information problem, not a model-architecture problem.</a:t>
            </a:r>
          </a:p>
        </p:txBody>
      </p:sp>
      <p:sp>
        <p:nvSpPr>
          <p:cNvPr id="9" name="TextBox 8"/>
          <p:cNvSpPr txBox="1"/>
          <p:nvPr/>
        </p:nvSpPr>
        <p:spPr>
          <a:xfrm>
            <a:off x="11612880" y="6492240"/>
            <a:ext cx="457200" cy="274320"/>
          </a:xfrm>
          <a:prstGeom prst="rect">
            <a:avLst/>
          </a:prstGeom>
          <a:noFill/>
        </p:spPr>
        <p:txBody>
          <a:bodyPr wrap="square" anchor="t" lIns="0" rIns="0" tIns="0" bIns="0">
            <a:spAutoFit/>
          </a:bodyPr>
          <a:lstStyle/>
          <a:p>
            <a:pPr algn="r">
              <a:lnSpc>
                <a:spcPct val="100000"/>
              </a:lnSpc>
              <a:spcAft>
                <a:spcPts val="0"/>
              </a:spcAft>
            </a:pPr>
            <a:r>
              <a:rPr sz="1100" b="0" i="0">
                <a:solidFill>
                  <a:srgbClr val="777E8C"/>
                </a:solidFill>
                <a:latin typeface="Calibri"/>
              </a:rPr>
              <a:t>19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Bitcoin Volatility Prediction</dc:title>
  <dc:subject>Capstone Project</dc:subject>
  <dc:creator>Mohammed Hejairi</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