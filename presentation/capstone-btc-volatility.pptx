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9" r:id="rId20"/>
    <p:sldId id="270" r:id="rId21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2.xml"/><Relationship Id="rId21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548640"/>
            <a:ext cx="1371600" cy="1371600"/>
          </a:xfrm>
          <a:prstGeom prst="ellipse">
            <a:avLst/>
          </a:prstGeom>
          <a:solidFill>
            <a:srgbClr val="1B4965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0268712" y="965606"/>
            <a:ext cx="230429" cy="38404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499141" y="965606"/>
            <a:ext cx="153619" cy="46085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0652760" y="850392"/>
            <a:ext cx="192024" cy="576072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844784" y="850392"/>
            <a:ext cx="192024" cy="3456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945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CAPSTONE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651760"/>
            <a:ext cx="100584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Bitcoin Volatility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Prediction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731520" y="443484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 how much price will move — not where it will go.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58521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9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Mohammed Hejairi   ·   Cohort DSB2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project is, in one slide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40080" y="1673352"/>
            <a:ext cx="457200" cy="457200"/>
          </a:xfrm>
          <a:prstGeom prst="ellipse">
            <a:avLst/>
          </a:prstGeom>
          <a:solidFill>
            <a:srgbClr val="1B4965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6733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25880" y="1600200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Bitcoin swings hard, and it swings in bursts.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25880" y="1929384"/>
            <a:ext cx="10058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Calm stretches are punctuated by sharp spikes — a pattern called volatility clustering.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2788920"/>
            <a:ext cx="457200" cy="45720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788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25880" y="2715768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crypto projects predict price. This one doesn't.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25880" y="3044952"/>
            <a:ext cx="10058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direction in an efficient market is near-impossible. Predicting turbulence is tractable.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904488"/>
            <a:ext cx="457200" cy="457200"/>
          </a:xfrm>
          <a:prstGeom prst="ellipse">
            <a:avLst/>
          </a:prstGeom>
          <a:solidFill>
            <a:srgbClr val="1B4965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9044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25880" y="3831336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target: 7-day realised volatility, 168 hours ahead.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25880" y="4160520"/>
            <a:ext cx="10058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std. dev. of hourly returns over a 168-hour window — forecast 168 hours (7 days) into the future, not the next hour.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5020056"/>
            <a:ext cx="457200" cy="45720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50200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325880" y="4946904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Data: hourly BTC/USDT from Binance via CCXT, 2017–2026.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325880" y="5276088"/>
            <a:ext cx="10058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Fetched once, persisted to CSV, so every run is reproducible.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 + Aim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37160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536192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Raw Issue:  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Bitcoin's price swings unpredictably at short timescales, and traders, exchanges, and risk desks have no reliable way to anticipate how turbulent the next stretch of trading will be — leading to mispriced risk, thin margin buffers, and poorly-timed position sizing.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2971800"/>
            <a:ext cx="1106424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108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Structured Objective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2960" y="34290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— Business Objective — Measurable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" y="3767328"/>
            <a:ext cx="1051560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Bitcoin's 7-day realised volatility 168 hours (7 days) ahead of the features used to predict it (rolling std. dev. of hourly returns over 168 hours), using lagged price/volume history and technical indicators sourced via CCXT at hourly resolution. This gives traders and risk desks a continuous, hourly-updating estimate of next week's volatility usable directly in position-sizing and margin decisions, targeting an RMSE that beats both a naive-persistence baseline and a seasonality-aware Holt-Winters baseline.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22960" y="562356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F7931A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56235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PROBLEM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91840" y="5623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 users (Black-Scholes σ, VaR, position sizing) need the number — not a high/low category.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Summary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is, and what each record represents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40080" y="155448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6642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0080" y="237744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BTC/USDT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383280" y="155448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3280" y="16642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1h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3383280" y="237744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Granularity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candles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26480" y="155448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16642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8+ yr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6126480" y="237744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2026-01-01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869680" y="155448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69680" y="16642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168h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8869680" y="237744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window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7 days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3429000"/>
            <a:ext cx="539496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35661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one record is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68680" y="3931920"/>
            <a:ext cx="47548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hour of BTC trading: open, high, low, close, volume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engineered features: returns, rolling volatility, EMA, RSI, ATR, Bollinger width, MACD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feature is lagged 1–3 hours — the model only ever sees the past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= volatility_7d shifted 168 hours into the future, not the current value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217920" y="3429000"/>
            <a:ext cx="5394960" cy="2651760"/>
          </a:xfrm>
          <a:prstGeom prst="roundRect">
            <a:avLst>
              <a:gd name="adj" fmla="val 2759"/>
            </a:avLst>
          </a:prstGeom>
          <a:solidFill>
            <a:srgbClr val="0D1B2A"/>
          </a:solidFill>
          <a:ln/>
        </p:spPr>
      </p:sp>
      <p:sp>
        <p:nvSpPr>
          <p:cNvPr id="27" name="Text 25"/>
          <p:cNvSpPr/>
          <p:nvPr/>
        </p:nvSpPr>
        <p:spPr>
          <a:xfrm>
            <a:off x="6492240" y="35661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Reproducibility by design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537960" y="3931920"/>
            <a:ext cx="47548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fetched once, saved to btc_hourly_ohlcv.csv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later cells read the CSV, not the live API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CSV accumulates genuinely new candles for live testing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 — Key Findings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554480"/>
            <a:ext cx="3611880" cy="42976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155448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1B4965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554480"/>
            <a:ext cx="3611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Volatility clusters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77240" y="2331720"/>
            <a:ext cx="31546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target is right-skewed with fat tails: long calm stretches, sharp spikes. ACF decays slowly across many lags rather than dropping to zero — confirming autocorrelation is real and exploitable.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611880" cy="42976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343400" y="155448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0D1B2A"/>
          </a:solidFill>
          <a:ln/>
        </p:spPr>
      </p:sp>
      <p:sp>
        <p:nvSpPr>
          <p:cNvPr id="16" name="Text 14"/>
          <p:cNvSpPr/>
          <p:nvPr/>
        </p:nvSpPr>
        <p:spPr>
          <a:xfrm>
            <a:off x="4343400" y="1554480"/>
            <a:ext cx="3611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Range measures track the target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331720"/>
            <a:ext cx="31546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 and Bollinger width correlate strongly with volatility. Both are built from intraday high/low ranges, not close-to-close returns — genuinely independent signal, not a restatement of the target.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38160" y="1554480"/>
            <a:ext cx="3611880" cy="42976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38160" y="155448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F7931A"/>
          </a:solidFill>
          <a:ln/>
        </p:spPr>
      </p:sp>
      <p:sp>
        <p:nvSpPr>
          <p:cNvPr id="20" name="Text 18"/>
          <p:cNvSpPr/>
          <p:nvPr/>
        </p:nvSpPr>
        <p:spPr>
          <a:xfrm>
            <a:off x="8138160" y="1554480"/>
            <a:ext cx="3611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Session-time effects: not significant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366760" y="2331720"/>
            <a:ext cx="31546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does vary visually by hour of day in the boxplots, but chi-square found no significant association with volatility regime (p ≈ 1.0) — corroborated by Holt-Winters' own seasonal parameter converging to ≈0.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the ACF plot and correlation heatmap from the notebook here if presenting with visuals.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Modeling Approach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every model here is time-series-native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41732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0D1B2A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155448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Regression, Random Forest, and XGBoost were deliberately excluded. They have no internal notion of time — each row is an unordered bag of numbers, and time enters only through hand-engineered lag columns. Every model below has time built into its own mathematics.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2651760"/>
            <a:ext cx="361188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2651760"/>
            <a:ext cx="3611880" cy="530352"/>
          </a:xfrm>
          <a:prstGeom prst="roundRect">
            <a:avLst>
              <a:gd name="adj" fmla="val 13793"/>
            </a:avLst>
          </a:prstGeom>
          <a:solidFill>
            <a:srgbClr val="1B4965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2651760"/>
            <a:ext cx="3611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Preprocessing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04672" y="3337560"/>
            <a:ext cx="31089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 every feature 1–3 hours (no lookahead)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Zero-volume candles → inf guarded before rolling calcs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feature scaling needed — every model fits directly on returns or already-comparable regressors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transform tested for right-skewed target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43400" y="2651760"/>
            <a:ext cx="361188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343400" y="2651760"/>
            <a:ext cx="3611880" cy="530352"/>
          </a:xfrm>
          <a:prstGeom prst="roundRect">
            <a:avLst>
              <a:gd name="adj" fmla="val 13793"/>
            </a:avLst>
          </a:prstGeom>
          <a:solidFill>
            <a:srgbClr val="0D1B2A"/>
          </a:solidFill>
          <a:ln/>
        </p:spPr>
      </p:sp>
      <p:sp>
        <p:nvSpPr>
          <p:cNvPr id="19" name="Text 17"/>
          <p:cNvSpPr/>
          <p:nvPr/>
        </p:nvSpPr>
        <p:spPr>
          <a:xfrm>
            <a:off x="4343400" y="2651760"/>
            <a:ext cx="3611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99432" y="3337560"/>
            <a:ext cx="31089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chronological 80/20 split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TimeSeriesSplit for tuning — never random K-fold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Naive-persistence + Holt-Winters as baselines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live testing on genuinely unseen future data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38160" y="2651760"/>
            <a:ext cx="361188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38160" y="2651760"/>
            <a:ext cx="3611880" cy="530352"/>
          </a:xfrm>
          <a:prstGeom prst="roundRect">
            <a:avLst>
              <a:gd name="adj" fmla="val 13793"/>
            </a:avLst>
          </a:prstGeom>
          <a:solidFill>
            <a:srgbClr val="F7931A"/>
          </a:solidFill>
          <a:ln/>
        </p:spPr>
      </p:sp>
      <p:sp>
        <p:nvSpPr>
          <p:cNvPr id="23" name="Text 21"/>
          <p:cNvSpPr/>
          <p:nvPr/>
        </p:nvSpPr>
        <p:spPr>
          <a:xfrm>
            <a:off x="8138160" y="2651760"/>
            <a:ext cx="3611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394192" y="3337560"/>
            <a:ext cx="31089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GARCH(1,1) → EGARCH / GJR-GARCH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 → HAR-RV-X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(basic → tuned)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base version + improved version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1 — GARCH Family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version: EGARCH / GJR-GARCH, selected by AIC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0876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60020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version: GARCH(1,1)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189280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σ²ₜ = ω + α·ε²ₜ₋₁ + β·σ²ₜ₋₁  —  today's variance = baseline + reaction to yesterday's shock + persistence. Three parameters, fit by maximum likelihood.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83464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9260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Improvement: asymmetry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321868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GARCH treats −5% and +5% moves identically (shock enters squared). EGARCH and GJR add a leverage term so bad news raises volatility more than good news. This is an equation change, not a wider grid search.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25196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was selected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" y="454456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specifications scanned (EGARCH/GJR × normal/Student-t errors), chosen by lowest AIC — the right criterion for maximum-likelihood models, where a validation loss doesn't apply.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309360" y="15087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vs. Base Version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GARCH(1,1) — base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0.007293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0.007142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-20.3228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EGARCH / GJR — best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0.003876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0.003646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-5.0225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309360" y="318211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Selected: GJR-GARCH with Student-t errors — AIC 96,565 vs. 115,563 for basic GARCH(1,1).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309360" y="3520440"/>
            <a:ext cx="53035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10528" y="3611880"/>
            <a:ext cx="4901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drives the model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510528" y="3886200"/>
            <a:ext cx="490118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Interpretable by construction, but structurally weak at this horizon: GARCH's forecast mean-reverts toward a long-run average variance well before 168 hours are up — a documented property of GARCH at long horizons, not a defect in this implementation.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2 — HAR-RV / HAR-RV-X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version: HAR-RV-X with Ridge regularisation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0876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60020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version: HAR-RV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189280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Regresses volatility on volatility measured over three horizons — past day, past week, past month (24h / 168h / 720h). Captures long memory: different market participants act on different timescales.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83464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9260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Improvement: the 'X'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321868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ATR as a percentage of price (atr_14 / Close). The original raw-dollar ATR was a real bug: a ~45,000x scale mismatch against every other regressor that made HAR-RV-X score worse than plain HAR-RV until fixed.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25196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Plus regularisation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" y="454456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penalty tuned by GridSearchCV over TimeSeriesSplit. Needed because all four regressors measure volatility and are therefore correlated, making unpenalised coefficients unstable.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309360" y="15087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vs. Base Version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 — base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0.001513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0.001226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0.0710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— best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0.001418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0.001118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0.1840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309360" y="318211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alpha selected: 0.01. The ATR scale fix alone took R² from -0.65 to +0.18.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309360" y="3520440"/>
            <a:ext cx="53035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10528" y="3611880"/>
            <a:ext cx="4901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drives the model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510528" y="3886200"/>
            <a:ext cx="490118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model in this deck on both the historical split and live, unseen data — coefficients are directly readable, and the fix that got it here came from investigating a suspicious result rather than accepting it.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3 — EWMA (RiskMetrics)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version: λ backtested via TimeSeriesSplit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0876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60020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version: λ = 0.94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189280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RiskMetrics (J.P. Morgan, 1996) industry-standard decay factor, used exactly as published — zero fitting to this dataset. σ²(t) = λσ²(t−1) + (1−λ)r²(t−1).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83464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9260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Improvement: backtested λ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321868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search over λ (0.85–0.995 — widened after 0.99 won at the original grid's edge, a signal the true optimum was higher), scored via TimeSeriesSplit folds on the training period only.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25196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it's included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" y="454456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LSTM originally sat here; it was dropped for carrying no financial theory of its own. EWMA is the exact estimator risk desks already trust — one transparent parameter, no black box.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309360" y="15087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vs. Base Version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— basic (λ=0.94)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0.001964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0.001460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-0.5459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— tuned (λ=0.995)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0.001532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0.001145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0.0593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309360" y="318211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Selected: λ = 0.995 — confirmed as an interior optimum this time, not another edge case.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309360" y="3520440"/>
            <a:ext cx="53035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10528" y="3611880"/>
            <a:ext cx="4901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drives the model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510528" y="3886200"/>
            <a:ext cx="490118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single, fully transparent parameter: λ controls how much weight recent shocks get vs. long-run history. No hidden layers, nothing opaque.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Comparison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models scored on identical held-out data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Beats persistence?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persistence (baseline)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0.001649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0.001210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-0.0897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Holt-Winters (baseline)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0.002845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0.002057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-2.2448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 → EGARCH / GJR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0.003876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0.003646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-5.0225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 → HAR-RV-X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0.001418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0.001118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0.1840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548640" y="4279392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48640" y="4279392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(λ=0.995, tuned)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4023360" y="4279392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023360" y="4279392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0.001532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5486400" y="4279392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486400" y="4279392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0.001145</a:t>
            </a:r>
            <a:endParaRPr lang="en-US" sz="1150" dirty="0"/>
          </a:p>
        </p:txBody>
      </p:sp>
      <p:sp>
        <p:nvSpPr>
          <p:cNvPr id="67" name="Shape 65"/>
          <p:cNvSpPr/>
          <p:nvPr/>
        </p:nvSpPr>
        <p:spPr>
          <a:xfrm>
            <a:off x="6949440" y="4279392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949440" y="4279392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0.0593</a:t>
            </a:r>
            <a:endParaRPr lang="en-US" sz="1150" dirty="0"/>
          </a:p>
        </p:txBody>
      </p:sp>
      <p:sp>
        <p:nvSpPr>
          <p:cNvPr id="69" name="Shape 67"/>
          <p:cNvSpPr/>
          <p:nvPr/>
        </p:nvSpPr>
        <p:spPr>
          <a:xfrm>
            <a:off x="8412480" y="4279392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12480" y="427939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50" dirty="0"/>
          </a:p>
        </p:txBody>
      </p:sp>
      <p:sp>
        <p:nvSpPr>
          <p:cNvPr id="71" name="Text 69"/>
          <p:cNvSpPr/>
          <p:nvPr/>
        </p:nvSpPr>
        <p:spPr>
          <a:xfrm>
            <a:off x="548640" y="4956048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order as the preceding model sections; built directly from the notebook's results list, not typed by hand.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548640" y="534924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7931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822960" y="5468112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model: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(Tuned), by a margin of 14.0% lower RMSE than naive persistence — a genuine, working model, not an artifact. EWMA is a close second and also beats persistence. GARCH and Holt-Winters both underperform naive persistence badly at this horizon. The Live Testing section (next) checks whether this ranking holds on genuinely unseen data.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Testing on Unseen Data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stronger validation — 5,664 predictions across an 8-month window the models never saw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64592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64592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3152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Fetch the live-test period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2026-01-02 through yesterday — never fetched during training (which stops 2026-01-01).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38328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48056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48056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56616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56616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every hour in the window with the saved GARCH, HAR-RV-X, and EWMA models.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31520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1520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40080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 what's already elapsed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168-hour-ahead prediction can't be checked until 168 real hours pass. 5,496 of 5,664 predictions already have a real outcome; the rest will as more days go by.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05256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014984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014984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923544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 to the historical ranking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3544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— the historical winner — wins here too, on every metric.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429768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68680" y="448056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matters more than the historical split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68680" y="4846320"/>
            <a:ext cx="10424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historical hold-out can still flatter a model — through subtle leakage, or simply because the analyst iterated against that test set while developing. The live-test period was never fetched during training or tuning at all, so scoring against it is a genuine test of generalization, not just another historical split.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Test Results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on 2026-01-02 through yesterday — 5,496 of 5,664 predictions already checked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Beats persistence?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[live test]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0.001502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0.001259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0.0610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(λ=0.995) [live test]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0.001540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0.001112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0.0133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persistence [live test]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0.001676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0.001138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-0.1686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 [live test]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0.016385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0.016308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-110.6779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50" dirty="0"/>
          </a:p>
        </p:txBody>
      </p:sp>
      <p:sp>
        <p:nvSpPr>
          <p:cNvPr id="71" name="Text 69"/>
          <p:cNvSpPr/>
          <p:nvPr/>
        </p:nvSpPr>
        <p:spPr>
          <a:xfrm>
            <a:off x="548640" y="438912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 by RMSE; only the 3 purpose-built models tested prospectively (Holt-Winters was not).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548640" y="4782312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7931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822960" y="4901184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model: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HAR-RV-X, the strongest model on every metric on genuinely unseen data (RMSE 0.001502, R² 0.0610). EWMA is a close second and has the lowest MAPE of any model (22.90%). Naive persistence, no longer propped up by an easy horizon, posts a negative R². GARCH collapses entirely (R² -110.7, MAPE 409%) — a structural weakness at this horizon, not a bug.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Resolution Sensitivity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5-minute companion migration — does sampling frequency change the R² ceiling?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— hourly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0.001502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0.001259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0.0610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— 5-minute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0.019080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0.015477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0.2043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5-minute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— hourly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0.001540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0.001112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0.0133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— 5-minute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0.019755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0.013238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0.1470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5-minute</a:t>
            </a:r>
            <a:endParaRPr lang="en-US" sz="1150" dirty="0"/>
          </a:p>
        </p:txBody>
      </p:sp>
      <p:sp>
        <p:nvSpPr>
          <p:cNvPr id="71" name="Text 69"/>
          <p:cNvSpPr/>
          <p:nvPr/>
        </p:nvSpPr>
        <p:spPr>
          <a:xfrm>
            <a:off x="548640" y="438912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isn't directly comparable across resolutions — the target's absolute scale changes by construction. R² is the fair comparison. Documented as Check 11 in the main notebook — the one confirmed win among its eleven robustness checks.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548640" y="4782312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7931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822960" y="4901184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 both models improve substantially on live data at 5-minute resolution — HAR-RV-X's R² more than triples (0.061 → 0.204); EWMA's improves even more (0.013 → 0.147), closing most of the gap to HAR-RV-X. GARCH and Holt-Winters were not re-fit at this resolution (cost/benefit reasoning in the report).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Implications, limitations, and what comes next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5448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1554480"/>
            <a:ext cx="3611880" cy="548640"/>
          </a:xfrm>
          <a:prstGeom prst="roundRect">
            <a:avLst>
              <a:gd name="adj" fmla="val 13333"/>
            </a:avLst>
          </a:prstGeom>
          <a:solidFill>
            <a:srgbClr val="1B4965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1554480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implications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04672" y="2267712"/>
            <a:ext cx="31089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σ feeds directly into Black-Scholes option pricing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 Value-at-Risk and capital reserve calculations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Enables volatility-scaled position sizing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Informs exchange margin and liquidation thresholds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43400" y="155448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43400" y="1554480"/>
            <a:ext cx="3611880" cy="548640"/>
          </a:xfrm>
          <a:prstGeom prst="roundRect">
            <a:avLst>
              <a:gd name="adj" fmla="val 13333"/>
            </a:avLst>
          </a:prstGeom>
          <a:solidFill>
            <a:srgbClr val="0D1B2A"/>
          </a:solidFill>
          <a:ln/>
        </p:spPr>
      </p:sp>
      <p:sp>
        <p:nvSpPr>
          <p:cNvPr id="17" name="Text 15"/>
          <p:cNvSpPr/>
          <p:nvPr/>
        </p:nvSpPr>
        <p:spPr>
          <a:xfrm>
            <a:off x="4343400" y="1554480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99432" y="2267712"/>
            <a:ext cx="31089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is partly driven by news absent from price data — a hard accuracy ceiling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GARCH's forecast mean-reverts toward a long-run average well before 168 hours are up — a structural weakness at this horizon, not a bug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RSI/EMA/MACD/Bollinger width as extra regressors, and a HAR-RV-X + EWMA ensemble, were both tested and didn't survive proper validation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asset: no cross-asset spillover signal from other coins is used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38160" y="155448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138160" y="1554480"/>
            <a:ext cx="3611880" cy="548640"/>
          </a:xfrm>
          <a:prstGeom prst="roundRect">
            <a:avLst>
              <a:gd name="adj" fmla="val 13333"/>
            </a:avLst>
          </a:prstGeom>
          <a:solidFill>
            <a:srgbClr val="F7931A"/>
          </a:solidFill>
          <a:ln/>
        </p:spPr>
      </p:sp>
      <p:sp>
        <p:nvSpPr>
          <p:cNvPr id="21" name="Text 19"/>
          <p:cNvSpPr/>
          <p:nvPr/>
        </p:nvSpPr>
        <p:spPr>
          <a:xfrm>
            <a:off x="8138160" y="1554480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improvements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94192" y="2267712"/>
            <a:ext cx="31089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LLM-scored news sentiment as an added feature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Rolling/expanding-window GARCH refit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live testing on a schedule for a longer track record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genuine stacked ensemble (learned, not the fixed blend that failed validation)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23560" y="1280160"/>
            <a:ext cx="1371600" cy="1371600"/>
          </a:xfrm>
          <a:prstGeom prst="ellipse">
            <a:avLst/>
          </a:prstGeom>
          <a:solidFill>
            <a:srgbClr val="1B4965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5925312" y="1697126"/>
            <a:ext cx="230429" cy="38404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155741" y="1697126"/>
            <a:ext cx="153619" cy="46085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6309360" y="1581912"/>
            <a:ext cx="192024" cy="576072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01384" y="1581912"/>
            <a:ext cx="192024" cy="3456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108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731520" y="4069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2026-08-25T20:15:51Z</dcterms:created>
  <dcterms:modified xsi:type="dcterms:W3CDTF">2026-08-25T20:15:51Z</dcterms:modified>
</cp:coreProperties>
</file>