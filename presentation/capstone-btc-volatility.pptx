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70" r:id="rId21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54864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0268712" y="96560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99141" y="96560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52760" y="85039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44784" y="85039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94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CAPSTONE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Volatility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31520" y="4434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how much price will move — not where it will go.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Hejairi   ·   Cohort DSB2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is, in one slide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673352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73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25880" y="16002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swings hard, and it swings in bursts.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19293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stretches are punctuated by sharp spikes — a pattern called volatility clustering.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788920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2715768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crypto projects predict price. This one doesn't.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044952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direction in an efficient market is near-impossible. Predicting turbulence is tractable.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04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383133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target: 7-day realised volatility, 168 hours ahead.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160520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std. dev. of hourly returns over a 168-hour window — forecast 168 hours (7 days) into the future, not the next hour.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020056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50200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25880" y="49469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hourly BTC/USDT from Binance via CCXT, 2017–2026.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25880" y="5276088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once, persisted to CSV, so every run is reproducible.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+ Aim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536192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Issue: 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Bitcoin's price swings unpredictably at short timescales, and traders, exchanges, and risk desks have no reliable way to anticipate how turbulent the next stretch of trading will be — leading to mispriced risk, thin margin buffers, and poorly-timed position sizing.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110642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Structured Objective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— Business Objective — Measurable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67328"/>
            <a:ext cx="105156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Bitcoin's 7-day realised volatility 168 hours (7 days) ahead of the features used to predict it (rolling std. dev. of hourly returns over 168 hours), using lagged price/volume history and technical indicators sourced via CCXT at hourly resolution. This gives traders and risk desks a continuous, hourly-updating estimate of next week's volatility usable directly in position-sizing and margin decisions, targeting an RMSE that beats both a naive-persistence baseline and a seasonality-aware Holt-Winters baseline.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62356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623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PROBLEM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5623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users (Black-Scholes σ, VaR, position sizing) need the number — not a high/low category.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Summary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is, and what each record represents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00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BTC/USDT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1h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832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candles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2026-01-01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6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168h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88696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 days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record is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hour of BTC trading: open, high, low, close, volume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engineered features: returns, rolling volatility, EMA, RSI, ATR, Bollinger width, MACD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is lagged 1–3 hours — the model only ever sees the past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volatility_7d shifted 168 hours into the future, not the current value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0D1B2A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 by design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3796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fetched once, saved to btc_hourly_ohlcv.csv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later cells read the CSV, not the live API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CSV accumulates genuinely new candles for live testing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Key Findings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clusters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right-skewed with fat tails: long calm stretches, sharp spikes. ACF decays slowly across many lags rather than dropping to zero — confirming autocorrelation is real and exploitable.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4340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434340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measures track the target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 and Bollinger width correlate strongly with volatility. Both are built from intraday high/low ranges, not close-to-close returns — genuinely independent signal, not a restatement of the target.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7931A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Session-time effects: not significant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does vary visually by hour of day in the boxplots, but chi-square found no significant association with volatility regime (p ≈ 1.0) — corroborated by Holt-Winters' own seasonal parameter converging to ≈0.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the ACF plot and correlation heatmap from the notebook here if presenting with visuals.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Modeling Approach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model here is time-series-native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417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D1B2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Regression, Random Forest, and XGBoost were deliberately excluded. They have no internal notion of time — each row is an unordered bag of numbers, and time enters only through hand-engineered lag columns. Every model below has time built into its own mathematics.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1B496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every feature 1–3 hours (no lookahead)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Zero-volume candles → inf guarded before rolling calcs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scaling needed — every model fits directly on returns or already-comparable regressors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 tested for right-skewed target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4340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0D1B2A"/>
          </a:solidFill>
          <a:ln/>
        </p:spPr>
      </p:sp>
      <p:sp>
        <p:nvSpPr>
          <p:cNvPr id="19" name="Text 17"/>
          <p:cNvSpPr/>
          <p:nvPr/>
        </p:nvSpPr>
        <p:spPr>
          <a:xfrm>
            <a:off x="434340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9943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chronological 80/20 split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TimeSeriesSplit for tuning — never random K-fold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Naive-persistence + Holt-Winters as baselines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live testing on genuinely unseen future data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816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F7931A"/>
          </a:solidFill>
          <a:ln/>
        </p:spPr>
      </p:sp>
      <p:sp>
        <p:nvSpPr>
          <p:cNvPr id="23" name="Text 21"/>
          <p:cNvSpPr/>
          <p:nvPr/>
        </p:nvSpPr>
        <p:spPr>
          <a:xfrm>
            <a:off x="813816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9419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→ EGARCH / GJR-GARCH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(basic → tuned)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base version + improved version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 — GARCH Family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EGARCH / GJR-GARCH, selected by AIC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GARCH(1,1)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σ²ₜ = ω + α·ε²ₜ₋₁ + β·σ²ₜ₋₁  —  today's variance = baseline + reaction to yesterday's shock + persistence. Three parameters, fit by maximum likelihood.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asymmetry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GARCH treats −5% and +5% moves identically (shock enters squared). EGARCH and GJR add a leverage term so bad news raises volatility more than good news. This is an equation change, not a wider grid search.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was selected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specifications scanned (EGARCH/GJR × normal/Student-t errors), chosen by lowest AIC — the right criterion for maximum-likelihood models, where a validation loss doesn't apply.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0.007293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0.007142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-20.3228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EGARCH / GJR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GJR-GARCH with Student-t errors — AIC 96,565 vs. 115,563 for basic GARCH(1,1).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by construction, but structurally weak at this horizon: GARCH's forecast mean-reverts toward a long-run average variance well before 168 hours are up — a documented property of GARCH at long horizons, not a defect in this implementation.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2 — HAR-RV / HAR-RV-X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HAR-RV-X with Ridge regularisation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HAR-RV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Regresses volatility on volatility measured over three horizons — past day, past week, past month (24h / 168h / 720h). Captures long memory: different market participants act on different timescales.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the 'X'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ATR as a percentage of price (atr_14 / Close). The original raw-dollar ATR was a real bug: a ~45,000x scale mismatch against every other regressor that made HAR-RV-X score worse than plain HAR-RV until fixed.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regularisation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penalty tuned by GridSearchCV over TimeSeriesSplit. Needed because all four regressors measure volatility and are therefore correlated, making unpenalised coefficients unstable.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0.001513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0.001226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0.0710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0.001418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0.001118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0.1840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alpha selected: 0.01. The ATR scale fix alone took R² from -0.65 to +0.18.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in this deck on both the historical split and live, unseen data — coefficients are directly readable, and the fix that got it here came from investigating a suspicious result rather than accepting it. Later checks added two more regressors and a log(target) transform, both live-validated and found to stack — R² 0.2419 historical / 0.1779 live (slides 10, 12).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3 — EWMA (RiskMetrics)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λ backtested via TimeSeriesSplit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λ = 0.94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RiskMetrics (J.P. Morgan, 1996) industry-standard decay factor, used exactly as published — zero fitting to this dataset. σ²(t) = λσ²(t−1) + (1−λ)r²(t−1).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backtested 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 (0.85–0.995 — widened after 0.99 won at the original grid's edge, a signal the true optimum was higher), scored via TimeSeriesSplit folds on the training period only.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included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LSTM originally sat here; it was dropped for carrying no financial theory of its own. EWMA is the exact estimator risk desks already trust — one transparent parameter, no black box.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basic (λ=0.94)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0.001964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0.001460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-0.5459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tuned (λ=0.995)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λ = 0.995 — confirmed as an interior optimum this time, not another edge case.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fully transparent parameter: λ controls how much weight recent shocks get vs. long-run history. No hidden layers, nothing opaque.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scored on identical held-out 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(baseline)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0.001649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0.001210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-0.0897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Holt-Winters (baseline)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0.002845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0.002057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-2.2448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→ EGARCH / GJR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 (Final)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0.001367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0.001036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0.2419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(λ=0.995, tuned)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95604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order as the preceding model sections; built directly from the notebook's results list, not typed by hand.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546811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(Final, + EWMA_X + SKEW_X, log target), by a margin of 17.1% lower RMSE than naive persistence — a genuine, working model, not an artifact. EWMA is a close second and also beats persistence. GARCH and Holt-Winters both underperform naive persistence badly at this horizon. The Live Testing section (next) checks whether this ranking holds on genuinely unseen data.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Testing on Unseen Data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validation — 5,664 predictions across an 8-month window the models never saw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the live-test period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2026-01-02 through yesterday — never fetched during training (which stops 2026-01-01).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every hour in the window with the saved GARCH, HAR-RV-X, and EWMA models.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what's already elapsed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168-hour-ahead prediction can't be checked until 168 real hours pass. 5,496 of 5,664 predictions already have a real outcome; the rest will as more days go by.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the historical ranking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the historical winner — wins here too, on every metric.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more than the historical split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historical hold-out can still flatter a model — through subtle leakage, or simply because the analyst iterated against that test set while developing. The live-test period was never fetched during training or tuning at all, so scoring against it is a genuine test of generalization, not just another historical split.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 Results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2026-01-02 through yesterday — 5,496 of 5,664 predictions already checked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[live test]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0.001406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0.1779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(λ=0.995) [live test]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[live test]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0.001138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-0.1686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[live test]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0.016385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0.016308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-110.6779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RMSE; only the 3 purpose-built models tested prospectively (Holt-Winters was not).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(Final, + EWMA_X + SKEW_X, log target), the strongest model on every metric on genuinely unseen data (RMSE 0.001406, R² 0.1779). EWMA is a close second and has the lowest MAPE of any model (22.90%). Naive persistence, no longer propped up by an easy horizon, posts a negative R². GARCH collapses entirely (R² -110.7, MAPE 409%) — a structural weakness at this horizon, not a bug.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Resolution Sensitivity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5-minute companion migration — does sampling frequency change the R² ceiling?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hourly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0.001406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0.1779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5-minute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0.018645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0.014949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0.2401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hourly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5-minute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0.019755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0.013238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0.1470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isn't directly comparable across resolutions — the target's absolute scale changes by construction. R² is the fair comparison. Documented as Check 11 in the main notebook — one of four checks (of eighteen) that survived validation.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both models improve on live data at 5-minute resolution, though the gap has narrowed further since HAR-RV-X's hourly baseline picked up a log(target) transform that failed live-validation at 5-minute resolution and was rejected there (see the report). HAR-RV-X's R² goes from 0.178 to 0.240 (about 1.3x); EWMA's improves far more, from 0.013 to 0.147 (about 11x).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Implications, limitations, and what comes next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1B4965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implications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σ feeds directly into Black-Scholes option pricing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Value-at-Risk and capital reserve calculations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volatility-scaled position sizing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Informs exchange margin and liquidation thresholds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4340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0D1B2A"/>
          </a:solidFill>
          <a:ln/>
        </p:spPr>
      </p:sp>
      <p:sp>
        <p:nvSpPr>
          <p:cNvPr id="17" name="Text 15"/>
          <p:cNvSpPr/>
          <p:nvPr/>
        </p:nvSpPr>
        <p:spPr>
          <a:xfrm>
            <a:off x="434340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9943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is partly driven by news absent from price data — a hard accuracy ceiling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GARCH's forecast mean-reverts toward a long-run average well before 168 hours are up — a structural weakness at this horizon, not a bug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Eighteen robustness checks tested (XGBoost, LSTM, stacked ensembles, ETH spillover, winsorizing, and more) — four survived validation and were adopted, fourteen didn't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asset: no cross-asset spillover signal from other coins is used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7931A"/>
          </a:solidFill>
          <a:ln/>
        </p:spPr>
      </p:sp>
      <p:sp>
        <p:nvSpPr>
          <p:cNvPr id="21" name="Text 19"/>
          <p:cNvSpPr/>
          <p:nvPr/>
        </p:nvSpPr>
        <p:spPr>
          <a:xfrm>
            <a:off x="813816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improvements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9419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LLM-scored news sentiment as an added feature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Rolling/expanding-window GARCH refit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live testing on a schedule for a longer track record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metrics (exchange netflows, active addresses) — a genuinely independent information source, distinct from every price-history feature tested so far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23560" y="128016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5925312" y="169712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55741" y="169712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309360" y="158191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01384" y="158191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4069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2026-08-25T20:15:51Z</dcterms:created>
  <dcterms:modified xsi:type="dcterms:W3CDTF">2026-08-25T20:15:51Z</dcterms:modified>
</cp:coreProperties>
</file>