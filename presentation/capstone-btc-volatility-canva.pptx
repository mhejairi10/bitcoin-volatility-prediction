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286000"/>
            <a:ext cx="9144000" cy="1554480"/>
          </a:xfrm>
          <a:prstGeom prst="rect">
            <a:avLst/>
          </a:prstGeom>
          <a:noFill/>
        </p:spPr>
        <p:txBody>
          <a:bodyPr wrap="square" anchor="t" lIns="0" rIns="0" tIns="0" bIns="0">
            <a:spAutoFit/>
          </a:bodyPr>
          <a:lstStyle/>
          <a:p>
            <a:pPr algn="l">
              <a:lnSpc>
                <a:spcPct val="105000"/>
              </a:lnSpc>
              <a:spcAft>
                <a:spcPts val="0"/>
              </a:spcAft>
            </a:pPr>
            <a:r>
              <a:rPr sz="4600" b="1" i="0">
                <a:solidFill>
                  <a:srgbClr val="FFFFFF"/>
                </a:solidFill>
                <a:latin typeface="Calibri"/>
              </a:rPr>
              <a:t>Bitcoin Volatility</a:t>
            </a:r>
          </a:p>
          <a:p>
            <a:pPr algn="l">
              <a:lnSpc>
                <a:spcPct val="105000"/>
              </a:lnSpc>
              <a:spcAft>
                <a:spcPts val="0"/>
              </a:spcAft>
            </a:pPr>
            <a:r>
              <a:rPr sz="4600" b="1" i="0">
                <a:solidFill>
                  <a:srgbClr val="FFFFFF"/>
                </a:solidFill>
                <a:latin typeface="Calibri"/>
              </a:rPr>
              <a:t>Prediction</a:t>
            </a:r>
          </a:p>
        </p:txBody>
      </p:sp>
      <p:sp>
        <p:nvSpPr>
          <p:cNvPr id="4" name="TextBox 3"/>
          <p:cNvSpPr txBox="1"/>
          <p:nvPr/>
        </p:nvSpPr>
        <p:spPr>
          <a:xfrm>
            <a:off x="822960" y="3703320"/>
            <a:ext cx="8229600" cy="457200"/>
          </a:xfrm>
          <a:prstGeom prst="rect">
            <a:avLst/>
          </a:prstGeom>
          <a:noFill/>
        </p:spPr>
        <p:txBody>
          <a:bodyPr wrap="square" anchor="t" lIns="0" rIns="0" tIns="0" bIns="0">
            <a:spAutoFit/>
          </a:bodyPr>
          <a:lstStyle/>
          <a:p>
            <a:pPr algn="l">
              <a:lnSpc>
                <a:spcPct val="100000"/>
              </a:lnSpc>
              <a:spcAft>
                <a:spcPts val="0"/>
              </a:spcAft>
            </a:pPr>
            <a:r>
              <a:rPr sz="1700" b="0" i="0">
                <a:solidFill>
                  <a:srgbClr val="A9AFBC"/>
                </a:solidFill>
                <a:latin typeface="Calibri"/>
              </a:rPr>
              <a:t>A Time-Series Forecasting Analysis</a:t>
            </a:r>
          </a:p>
        </p:txBody>
      </p:sp>
      <p:sp>
        <p:nvSpPr>
          <p:cNvPr id="5" name="TextBox 4"/>
          <p:cNvSpPr txBox="1"/>
          <p:nvPr/>
        </p:nvSpPr>
        <p:spPr>
          <a:xfrm>
            <a:off x="822960" y="4114800"/>
            <a:ext cx="54864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73,000+ Hourly BTC/USDT Records</a:t>
            </a:r>
          </a:p>
        </p:txBody>
      </p:sp>
      <p:sp>
        <p:nvSpPr>
          <p:cNvPr id="6" name="TextBox 5"/>
          <p:cNvSpPr txBox="1"/>
          <p:nvPr/>
        </p:nvSpPr>
        <p:spPr>
          <a:xfrm>
            <a:off x="822960" y="6309360"/>
            <a:ext cx="3657600" cy="320040"/>
          </a:xfrm>
          <a:prstGeom prst="rect">
            <a:avLst/>
          </a:prstGeom>
          <a:noFill/>
        </p:spPr>
        <p:txBody>
          <a:bodyPr wrap="square" anchor="t" lIns="0" rIns="0" tIns="0" bIns="0">
            <a:spAutoFit/>
          </a:bodyPr>
          <a:lstStyle/>
          <a:p>
            <a:pPr algn="l">
              <a:lnSpc>
                <a:spcPct val="100000"/>
              </a:lnSpc>
              <a:spcAft>
                <a:spcPts val="0"/>
              </a:spcAft>
            </a:pPr>
            <a:r>
              <a:rPr sz="1150" b="0" i="0">
                <a:solidFill>
                  <a:srgbClr val="A9AFBC"/>
                </a:solidFill>
                <a:latin typeface="Calibri"/>
              </a:rPr>
              <a:t>MOHAMMED HEJAIRI  ·  DSB2</a:t>
            </a:r>
          </a:p>
        </p:txBody>
      </p:sp>
      <p:sp>
        <p:nvSpPr>
          <p:cNvPr id="7" name="TextBox 6"/>
          <p:cNvSpPr txBox="1"/>
          <p:nvPr/>
        </p:nvSpPr>
        <p:spPr>
          <a:xfrm>
            <a:off x="9601200" y="6309360"/>
            <a:ext cx="2103120" cy="320040"/>
          </a:xfrm>
          <a:prstGeom prst="rect">
            <a:avLst/>
          </a:prstGeom>
          <a:noFill/>
        </p:spPr>
        <p:txBody>
          <a:bodyPr wrap="square" anchor="t" lIns="0" rIns="0" tIns="0" bIns="0">
            <a:spAutoFit/>
          </a:bodyPr>
          <a:lstStyle/>
          <a:p>
            <a:pPr algn="r">
              <a:lnSpc>
                <a:spcPct val="100000"/>
              </a:lnSpc>
              <a:spcAft>
                <a:spcPts val="0"/>
              </a:spcAft>
            </a:pPr>
            <a:r>
              <a:rPr sz="1150" b="0" i="0">
                <a:solidFill>
                  <a:srgbClr val="A9AFBC"/>
                </a:solidFill>
                <a:latin typeface="Calibri"/>
              </a:rPr>
              <a:t>CAPSTONE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Introduction</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Why turbulence, not direction?</a:t>
            </a:r>
          </a:p>
        </p:txBody>
      </p:sp>
      <p:sp>
        <p:nvSpPr>
          <p:cNvPr id="6" name="TextBox 5"/>
          <p:cNvSpPr txBox="1"/>
          <p:nvPr/>
        </p:nvSpPr>
        <p:spPr>
          <a:xfrm>
            <a:off x="502920" y="1508760"/>
            <a:ext cx="10881360" cy="1188720"/>
          </a:xfrm>
          <a:prstGeom prst="rect">
            <a:avLst/>
          </a:prstGeom>
          <a:noFill/>
        </p:spPr>
        <p:txBody>
          <a:bodyPr wrap="square" anchor="t" lIns="0" rIns="0" tIns="0" bIns="0">
            <a:spAutoFit/>
          </a:bodyPr>
          <a:lstStyle/>
          <a:p>
            <a:pPr algn="l">
              <a:lnSpc>
                <a:spcPct val="130000"/>
              </a:lnSpc>
              <a:spcAft>
                <a:spcPts val="0"/>
              </a:spcAft>
            </a:pPr>
            <a:r>
              <a:rPr sz="1500" b="0" i="0">
                <a:solidFill>
                  <a:srgbClr val="A9AFBC"/>
                </a:solidFill>
                <a:latin typeface="Calibri"/>
              </a:rPr>
              <a:t>Bitcoin's price swings unpredictably at short, hourly timescales, and traders, exchanges, and risk desks have no reliable way to anticipate how turbulent the next stretch of trading will be. That leads to mispriced risk, thin margin buffers, and poorly-timed position sizing.</a:t>
            </a:r>
          </a:p>
        </p:txBody>
      </p:sp>
      <p:sp>
        <p:nvSpPr>
          <p:cNvPr id="7" name="Rectangle 6"/>
          <p:cNvSpPr/>
          <p:nvPr/>
        </p:nvSpPr>
        <p:spPr>
          <a:xfrm>
            <a:off x="502920" y="2880360"/>
            <a:ext cx="1088136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880360"/>
            <a:ext cx="45720" cy="12344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00837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AN ANALOGY</a:t>
            </a:r>
          </a:p>
        </p:txBody>
      </p:sp>
      <p:sp>
        <p:nvSpPr>
          <p:cNvPr id="10" name="TextBox 9"/>
          <p:cNvSpPr txBox="1"/>
          <p:nvPr/>
        </p:nvSpPr>
        <p:spPr>
          <a:xfrm>
            <a:off x="777240" y="3300984"/>
            <a:ext cx="1033272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Forecasting price is like predicting exactly where a boat will be tomorrow. Forecasting volatility is like predicting how rough the sea will be. The second question is more tractable - and for anyone managing risk, it's usually the more useful one.</a:t>
            </a:r>
          </a:p>
        </p:txBody>
      </p:sp>
      <p:sp>
        <p:nvSpPr>
          <p:cNvPr id="11" name="TextBox 10"/>
          <p:cNvSpPr txBox="1"/>
          <p:nvPr/>
        </p:nvSpPr>
        <p:spPr>
          <a:xfrm>
            <a:off x="502920" y="4434840"/>
            <a:ext cx="54864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Why Volatility, Not Price</a:t>
            </a:r>
          </a:p>
        </p:txBody>
      </p:sp>
      <p:graphicFrame>
        <p:nvGraphicFramePr>
          <p:cNvPr id="12" name="Table 11"/>
          <p:cNvGraphicFramePr>
            <a:graphicFrameLocks noGrp="1"/>
          </p:cNvGraphicFramePr>
          <p:nvPr/>
        </p:nvGraphicFramePr>
        <p:xfrm>
          <a:off x="502920" y="4800600"/>
          <a:ext cx="10881360" cy="1737360"/>
        </p:xfrm>
        <a:graphic>
          <a:graphicData uri="http://schemas.openxmlformats.org/drawingml/2006/table">
            <a:tbl>
              <a:tblPr firstRow="0" bandRow="0">
                <a:tableStyleId>{5C22544A-7EE6-4342-B048-85BDC9FD1C3A}</a:tableStyleId>
              </a:tblPr>
              <a:tblGrid>
                <a:gridCol w="3108960"/>
                <a:gridCol w="7772400"/>
              </a:tblGrid>
              <a:tr h="347472">
                <a:tc>
                  <a:txBody>
                    <a:bodyPr wrap="square"/>
                    <a:lstStyle/>
                    <a:p>
                      <a:r>
                        <a:rPr sz="1300" b="1">
                          <a:solidFill>
                            <a:srgbClr val="FFFFFF"/>
                          </a:solidFill>
                          <a:latin typeface="Calibri"/>
                        </a:rPr>
                        <a:t>Use Case</a:t>
                      </a:r>
                    </a:p>
                  </a:txBody>
                  <a:tcPr marL="109728" marR="109728" marT="36576" marB="36576" anchor="ctr">
                    <a:solidFill>
                      <a:srgbClr val="000000"/>
                    </a:solidFill>
                  </a:tcPr>
                </a:tc>
                <a:tc>
                  <a:txBody>
                    <a:bodyPr wrap="square"/>
                    <a:lstStyle/>
                    <a:p>
                      <a:r>
                        <a:rPr sz="1300" b="1">
                          <a:solidFill>
                            <a:srgbClr val="FFFFFF"/>
                          </a:solidFill>
                          <a:latin typeface="Calibri"/>
                        </a:rPr>
                        <a:t>How Volatility Enters</a:t>
                      </a:r>
                    </a:p>
                  </a:txBody>
                  <a:tcPr marL="109728" marR="109728" marT="36576" marB="36576" anchor="ctr">
                    <a:solidFill>
                      <a:srgbClr val="000000"/>
                    </a:solidFill>
                  </a:tcPr>
                </a:tc>
              </a:tr>
              <a:tr h="347472">
                <a:tc>
                  <a:txBody>
                    <a:bodyPr wrap="square"/>
                    <a:lstStyle/>
                    <a:p>
                      <a:r>
                        <a:rPr sz="1200" b="0">
                          <a:solidFill>
                            <a:srgbClr val="A9AFBC"/>
                          </a:solidFill>
                          <a:latin typeface="Calibri"/>
                        </a:rPr>
                        <a:t>Option pricing</a:t>
                      </a:r>
                    </a:p>
                  </a:txBody>
                  <a:tcPr marL="109728" marR="109728" marT="36576" marB="36576" anchor="ctr">
                    <a:solidFill>
                      <a:srgbClr val="12151C"/>
                    </a:solidFill>
                  </a:tcPr>
                </a:tc>
                <a:tc>
                  <a:txBody>
                    <a:bodyPr wrap="square"/>
                    <a:lstStyle/>
                    <a:p>
                      <a:r>
                        <a:rPr sz="1200" b="0">
                          <a:solidFill>
                            <a:srgbClr val="A9AFBC"/>
                          </a:solidFill>
                          <a:latin typeface="Calibri"/>
                        </a:rPr>
                        <a:t>Black-Scholes takes sigma as a required input</a:t>
                      </a:r>
                    </a:p>
                  </a:txBody>
                  <a:tcPr marL="109728" marR="109728" marT="36576" marB="36576" anchor="ctr">
                    <a:solidFill>
                      <a:srgbClr val="12151C"/>
                    </a:solidFill>
                  </a:tcPr>
                </a:tc>
              </a:tr>
              <a:tr h="347472">
                <a:tc>
                  <a:txBody>
                    <a:bodyPr wrap="square"/>
                    <a:lstStyle/>
                    <a:p>
                      <a:r>
                        <a:rPr sz="1200" b="0">
                          <a:solidFill>
                            <a:srgbClr val="A9AFBC"/>
                          </a:solidFill>
                          <a:latin typeface="Calibri"/>
                        </a:rPr>
                        <a:t>Value-at-Risk</a:t>
                      </a:r>
                    </a:p>
                  </a:txBody>
                  <a:tcPr marL="109728" marR="109728" marT="36576" marB="36576" anchor="ctr">
                    <a:solidFill>
                      <a:srgbClr val="0E1117"/>
                    </a:solidFill>
                  </a:tcPr>
                </a:tc>
                <a:tc>
                  <a:txBody>
                    <a:bodyPr wrap="square"/>
                    <a:lstStyle/>
                    <a:p>
                      <a:r>
                        <a:rPr sz="1200" b="0">
                          <a:solidFill>
                            <a:srgbClr val="A9AFBC"/>
                          </a:solidFill>
                          <a:latin typeface="Calibri"/>
                        </a:rPr>
                        <a:t>Loss estimates scale directly with sigma</a:t>
                      </a:r>
                    </a:p>
                  </a:txBody>
                  <a:tcPr marL="109728" marR="109728" marT="36576" marB="36576" anchor="ctr">
                    <a:solidFill>
                      <a:srgbClr val="0E1117"/>
                    </a:solidFill>
                  </a:tcPr>
                </a:tc>
              </a:tr>
              <a:tr h="347472">
                <a:tc>
                  <a:txBody>
                    <a:bodyPr wrap="square"/>
                    <a:lstStyle/>
                    <a:p>
                      <a:r>
                        <a:rPr sz="1200" b="0">
                          <a:solidFill>
                            <a:srgbClr val="A9AFBC"/>
                          </a:solidFill>
                          <a:latin typeface="Calibri"/>
                        </a:rPr>
                        <a:t>Position sizing</a:t>
                      </a:r>
                    </a:p>
                  </a:txBody>
                  <a:tcPr marL="109728" marR="109728" marT="36576" marB="36576" anchor="ctr">
                    <a:solidFill>
                      <a:srgbClr val="12151C"/>
                    </a:solidFill>
                  </a:tcPr>
                </a:tc>
                <a:tc>
                  <a:txBody>
                    <a:bodyPr wrap="square"/>
                    <a:lstStyle/>
                    <a:p>
                      <a:r>
                        <a:rPr sz="1200" b="0">
                          <a:solidFill>
                            <a:srgbClr val="A9AFBC"/>
                          </a:solidFill>
                          <a:latin typeface="Calibri"/>
                        </a:rPr>
                        <a:t>Trade smaller when choppy, larger when calm</a:t>
                      </a:r>
                    </a:p>
                  </a:txBody>
                  <a:tcPr marL="109728" marR="109728" marT="36576" marB="36576" anchor="ctr">
                    <a:solidFill>
                      <a:srgbClr val="12151C"/>
                    </a:solidFill>
                  </a:tcPr>
                </a:tc>
              </a:tr>
              <a:tr h="347472">
                <a:tc>
                  <a:txBody>
                    <a:bodyPr wrap="square"/>
                    <a:lstStyle/>
                    <a:p>
                      <a:r>
                        <a:rPr sz="1200" b="0">
                          <a:solidFill>
                            <a:srgbClr val="A9AFBC"/>
                          </a:solidFill>
                          <a:latin typeface="Calibri"/>
                        </a:rPr>
                        <a:t>Exchange margin</a:t>
                      </a:r>
                    </a:p>
                  </a:txBody>
                  <a:tcPr marL="109728" marR="109728" marT="36576" marB="36576" anchor="ctr">
                    <a:solidFill>
                      <a:srgbClr val="0E1117"/>
                    </a:solidFill>
                  </a:tcPr>
                </a:tc>
                <a:tc>
                  <a:txBody>
                    <a:bodyPr wrap="square"/>
                    <a:lstStyle/>
                    <a:p>
                      <a:r>
                        <a:rPr sz="1200" b="0">
                          <a:solidFill>
                            <a:srgbClr val="A9AFBC"/>
                          </a:solidFill>
                          <a:latin typeface="Calibri"/>
                        </a:rPr>
                        <a:t>Collateral requirements rise with volatility</a:t>
                      </a:r>
                    </a:p>
                  </a:txBody>
                  <a:tcPr marL="109728" marR="109728" marT="36576" marB="36576" anchor="ctr">
                    <a:solidFill>
                      <a:srgbClr val="0E1117"/>
                    </a:solidFill>
                  </a:tcPr>
                </a:tc>
              </a:tr>
            </a:tbl>
          </a:graphicData>
        </a:graphic>
      </p:graphicFrame>
      <p:sp>
        <p:nvSpPr>
          <p:cNvPr id="13" name="TextBox 12"/>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Problem Statement</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From a vague question to a testable target</a:t>
            </a:r>
          </a:p>
        </p:txBody>
      </p:sp>
      <p:sp>
        <p:nvSpPr>
          <p:cNvPr id="6" name="Rectangle 5"/>
          <p:cNvSpPr/>
          <p:nvPr/>
        </p:nvSpPr>
        <p:spPr>
          <a:xfrm>
            <a:off x="502920" y="1463040"/>
            <a:ext cx="10881360" cy="14173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63040"/>
            <a:ext cx="45720" cy="1417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9105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THE AIM</a:t>
            </a:r>
          </a:p>
        </p:txBody>
      </p:sp>
      <p:sp>
        <p:nvSpPr>
          <p:cNvPr id="9" name="TextBox 8"/>
          <p:cNvSpPr txBox="1"/>
          <p:nvPr/>
        </p:nvSpPr>
        <p:spPr>
          <a:xfrm>
            <a:off x="777240" y="1883664"/>
            <a:ext cx="10332720" cy="8686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Predict Bitcoin's 7-day realized volatility - the rolling standard deviation of hourly returns over a 168-hour window - 168 hours ahead of the features used to predict it. This gives traders and risk desks a continuous, hour-by-hour-updating estimate of next week's volatility, usable directly in position-sizing and margin decisions.</a:t>
            </a:r>
          </a:p>
        </p:txBody>
      </p:sp>
      <p:sp>
        <p:nvSpPr>
          <p:cNvPr id="10" name="TextBox 9"/>
          <p:cNvSpPr txBox="1"/>
          <p:nvPr/>
        </p:nvSpPr>
        <p:spPr>
          <a:xfrm>
            <a:off x="502920" y="31546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Target Definition</a:t>
            </a:r>
          </a:p>
        </p:txBody>
      </p:sp>
      <p:sp>
        <p:nvSpPr>
          <p:cNvPr id="11" name="TextBox 10"/>
          <p:cNvSpPr txBox="1"/>
          <p:nvPr/>
        </p:nvSpPr>
        <p:spPr>
          <a:xfrm>
            <a:off x="502920" y="356616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Target</a:t>
            </a:r>
          </a:p>
        </p:txBody>
      </p:sp>
      <p:sp>
        <p:nvSpPr>
          <p:cNvPr id="12" name="TextBox 11"/>
          <p:cNvSpPr txBox="1"/>
          <p:nvPr/>
        </p:nvSpPr>
        <p:spPr>
          <a:xfrm>
            <a:off x="502920" y="3566160"/>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volatility_7d, 168h ahead of the features</a:t>
            </a:r>
          </a:p>
        </p:txBody>
      </p:sp>
      <p:sp>
        <p:nvSpPr>
          <p:cNvPr id="13" name="Rectangle 12"/>
          <p:cNvSpPr/>
          <p:nvPr/>
        </p:nvSpPr>
        <p:spPr>
          <a:xfrm>
            <a:off x="502920" y="3931920"/>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50791"/>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Horizon</a:t>
            </a:r>
          </a:p>
        </p:txBody>
      </p:sp>
      <p:sp>
        <p:nvSpPr>
          <p:cNvPr id="15" name="TextBox 14"/>
          <p:cNvSpPr txBox="1"/>
          <p:nvPr/>
        </p:nvSpPr>
        <p:spPr>
          <a:xfrm>
            <a:off x="502920" y="4050791"/>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168 hours (7 days) - never the next hour</a:t>
            </a:r>
          </a:p>
        </p:txBody>
      </p:sp>
      <p:sp>
        <p:nvSpPr>
          <p:cNvPr id="16" name="Rectangle 15"/>
          <p:cNvSpPr/>
          <p:nvPr/>
        </p:nvSpPr>
        <p:spPr>
          <a:xfrm>
            <a:off x="502920" y="4416552"/>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535424"/>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Features</a:t>
            </a:r>
          </a:p>
        </p:txBody>
      </p:sp>
      <p:sp>
        <p:nvSpPr>
          <p:cNvPr id="18" name="TextBox 17"/>
          <p:cNvSpPr txBox="1"/>
          <p:nvPr/>
        </p:nvSpPr>
        <p:spPr>
          <a:xfrm>
            <a:off x="502920" y="4535424"/>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Lagged price/volume history + technical indicators</a:t>
            </a:r>
          </a:p>
        </p:txBody>
      </p:sp>
      <p:sp>
        <p:nvSpPr>
          <p:cNvPr id="19" name="Rectangle 18"/>
          <p:cNvSpPr/>
          <p:nvPr/>
        </p:nvSpPr>
        <p:spPr>
          <a:xfrm>
            <a:off x="502920" y="4901184"/>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5020056"/>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Success bar</a:t>
            </a:r>
          </a:p>
        </p:txBody>
      </p:sp>
      <p:sp>
        <p:nvSpPr>
          <p:cNvPr id="21" name="TextBox 20"/>
          <p:cNvSpPr txBox="1"/>
          <p:nvPr/>
        </p:nvSpPr>
        <p:spPr>
          <a:xfrm>
            <a:off x="502920" y="5020056"/>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Beat naive persistence and Holt-Winters baselines</a:t>
            </a:r>
          </a:p>
        </p:txBody>
      </p:sp>
      <p:sp>
        <p:nvSpPr>
          <p:cNvPr id="22" name="Rectangle 21"/>
          <p:cNvSpPr/>
          <p:nvPr/>
        </p:nvSpPr>
        <p:spPr>
          <a:xfrm>
            <a:off x="502920" y="5385816"/>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35040" y="3154680"/>
            <a:ext cx="5349240" cy="2331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3383280"/>
            <a:ext cx="4846320" cy="365760"/>
          </a:xfrm>
          <a:prstGeom prst="rect">
            <a:avLst/>
          </a:prstGeom>
          <a:noFill/>
        </p:spPr>
        <p:txBody>
          <a:bodyPr wrap="square" anchor="t" lIns="0" rIns="0" tIns="0" bIns="0">
            <a:spAutoFit/>
          </a:bodyPr>
          <a:lstStyle/>
          <a:p>
            <a:pPr algn="l">
              <a:lnSpc>
                <a:spcPct val="100000"/>
              </a:lnSpc>
              <a:spcAft>
                <a:spcPts val="0"/>
              </a:spcAft>
            </a:pPr>
            <a:r>
              <a:rPr sz="1500" b="1" i="0">
                <a:solidFill>
                  <a:srgbClr val="E8C99B"/>
                </a:solidFill>
                <a:latin typeface="Calibri"/>
              </a:rPr>
              <a:t>PROBLEM TYPE: REGRESSION</a:t>
            </a:r>
          </a:p>
        </p:txBody>
      </p:sp>
      <p:sp>
        <p:nvSpPr>
          <p:cNvPr id="25" name="TextBox 24"/>
          <p:cNvSpPr txBox="1"/>
          <p:nvPr/>
        </p:nvSpPr>
        <p:spPr>
          <a:xfrm>
            <a:off x="6309360" y="3886200"/>
            <a:ext cx="4846320" cy="1463040"/>
          </a:xfrm>
          <a:prstGeom prst="rect">
            <a:avLst/>
          </a:prstGeom>
          <a:noFill/>
        </p:spPr>
        <p:txBody>
          <a:bodyPr wrap="square" anchor="t" lIns="0" rIns="0" tIns="0" bIns="0">
            <a:spAutoFit/>
          </a:bodyPr>
          <a:lstStyle/>
          <a:p>
            <a:pPr algn="l">
              <a:lnSpc>
                <a:spcPct val="125000"/>
              </a:lnSpc>
              <a:spcAft>
                <a:spcPts val="0"/>
              </a:spcAft>
            </a:pPr>
            <a:r>
              <a:rPr sz="1300" b="0" i="0">
                <a:solidFill>
                  <a:srgbClr val="A9AFBC"/>
                </a:solidFill>
                <a:latin typeface="Calibri"/>
              </a:rPr>
              <a:t>Downstream consumers of a volatility number - Black-Scholes sigma, Value-at-Risk, position-sizing formulas - need an actual continuous estimate, not a high/low category. That rules out classification from the outset.</a:t>
            </a:r>
          </a:p>
        </p:txBody>
      </p:sp>
      <p:sp>
        <p:nvSpPr>
          <p:cNvPr id="26" name="TextBox 2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Objective: 7-Day Volatility Forecasting</a:t>
            </a:r>
          </a:p>
        </p:txBody>
      </p:sp>
      <p:sp>
        <p:nvSpPr>
          <p:cNvPr id="5" name="Rectangle 4"/>
          <p:cNvSpPr/>
          <p:nvPr/>
        </p:nvSpPr>
        <p:spPr>
          <a:xfrm>
            <a:off x="502920" y="1371600"/>
            <a:ext cx="1088136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371600"/>
            <a:ext cx="45720" cy="105156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9961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GOAL</a:t>
            </a:r>
          </a:p>
        </p:txBody>
      </p:sp>
      <p:sp>
        <p:nvSpPr>
          <p:cNvPr id="8" name="TextBox 7"/>
          <p:cNvSpPr txBox="1"/>
          <p:nvPr/>
        </p:nvSpPr>
        <p:spPr>
          <a:xfrm>
            <a:off x="777240" y="1792224"/>
            <a:ext cx="1033272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Forecast Bitcoin's 7-day realized volatility from hourly price data. The key objective is not to claim a perfect crystal ball, but to show how EDA and feature engineering set realistic expectations, justify modeling choices, and clearly explain what this workflow can and cannot deliver.</a:t>
            </a:r>
          </a:p>
        </p:txBody>
      </p:sp>
      <p:sp>
        <p:nvSpPr>
          <p:cNvPr id="9" name="TextBox 8"/>
          <p:cNvSpPr txBox="1"/>
          <p:nvPr/>
        </p:nvSpPr>
        <p:spPr>
          <a:xfrm>
            <a:off x="502920" y="2788920"/>
            <a:ext cx="54864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Workflow Stages</a:t>
            </a:r>
          </a:p>
        </p:txBody>
      </p:sp>
      <p:sp>
        <p:nvSpPr>
          <p:cNvPr id="10" name="TextBox 9"/>
          <p:cNvSpPr txBox="1"/>
          <p:nvPr/>
        </p:nvSpPr>
        <p:spPr>
          <a:xfrm>
            <a:off x="502920" y="32461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1. EDA Insights: </a:t>
            </a:r>
            <a:r>
              <a:rPr sz="1450" b="0">
                <a:solidFill>
                  <a:srgbClr val="A9AFBC"/>
                </a:solidFill>
                <a:latin typeface="Calibri"/>
              </a:rPr>
              <a:t>What patterns does volatility actually follow?</a:t>
            </a:r>
          </a:p>
        </p:txBody>
      </p:sp>
      <p:sp>
        <p:nvSpPr>
          <p:cNvPr id="11" name="TextBox 10"/>
          <p:cNvSpPr txBox="1"/>
          <p:nvPr/>
        </p:nvSpPr>
        <p:spPr>
          <a:xfrm>
            <a:off x="502920" y="37033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2. Feature Engineering: </a:t>
            </a:r>
            <a:r>
              <a:rPr sz="1450" b="0">
                <a:solidFill>
                  <a:srgbClr val="A9AFBC"/>
                </a:solidFill>
                <a:latin typeface="Calibri"/>
              </a:rPr>
              <a:t>Which signals carry real, non-redundant information?</a:t>
            </a:r>
          </a:p>
        </p:txBody>
      </p:sp>
      <p:sp>
        <p:nvSpPr>
          <p:cNvPr id="12" name="TextBox 11"/>
          <p:cNvSpPr txBox="1"/>
          <p:nvPr/>
        </p:nvSpPr>
        <p:spPr>
          <a:xfrm>
            <a:off x="502920" y="41605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3. Modeling &amp; Results: </a:t>
            </a:r>
            <a:r>
              <a:rPr sz="1450" b="0">
                <a:solidFill>
                  <a:srgbClr val="A9AFBC"/>
                </a:solidFill>
                <a:latin typeface="Calibri"/>
              </a:rPr>
              <a:t>Can that signal be turned into a working forecast?</a:t>
            </a:r>
          </a:p>
        </p:txBody>
      </p:sp>
      <p:sp>
        <p:nvSpPr>
          <p:cNvPr id="13" name="TextBox 12"/>
          <p:cNvSpPr txBox="1"/>
          <p:nvPr/>
        </p:nvSpPr>
        <p:spPr>
          <a:xfrm>
            <a:off x="502920" y="46177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4. Limitations &amp; Recommendations: </a:t>
            </a:r>
            <a:r>
              <a:rPr sz="1450" b="0">
                <a:solidFill>
                  <a:srgbClr val="A9AFBC"/>
                </a:solidFill>
                <a:latin typeface="Calibri"/>
              </a:rPr>
              <a:t>What would genuinely move the needle further?</a:t>
            </a:r>
          </a:p>
        </p:txBody>
      </p:sp>
      <p:sp>
        <p:nvSpPr>
          <p:cNvPr id="14" name="TextBox 1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 Overview &amp; Feature Dictionary</a:t>
            </a:r>
          </a:p>
        </p:txBody>
      </p:sp>
      <p:sp>
        <p:nvSpPr>
          <p:cNvPr id="5" name="TextBox 4"/>
          <p:cNvSpPr txBox="1"/>
          <p:nvPr/>
        </p:nvSpPr>
        <p:spPr>
          <a:xfrm>
            <a:off x="50292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DATASET:  </a:t>
            </a:r>
            <a:r>
              <a:rPr sz="1250" b="0">
                <a:solidFill>
                  <a:srgbClr val="A9AFBC"/>
                </a:solidFill>
                <a:latin typeface="Calibri"/>
              </a:rPr>
              <a:t>73,000+ hourly BTC/USDT records</a:t>
            </a:r>
          </a:p>
        </p:txBody>
      </p:sp>
      <p:sp>
        <p:nvSpPr>
          <p:cNvPr id="6" name="TextBox 5"/>
          <p:cNvSpPr txBox="1"/>
          <p:nvPr/>
        </p:nvSpPr>
        <p:spPr>
          <a:xfrm>
            <a:off x="420624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FEATURES:  </a:t>
            </a:r>
            <a:r>
              <a:rPr sz="1250" b="0">
                <a:solidFill>
                  <a:srgbClr val="A9AFBC"/>
                </a:solidFill>
                <a:latin typeface="Calibri"/>
              </a:rPr>
              <a:t>Price, volume, and engineered volatility regressors</a:t>
            </a:r>
          </a:p>
        </p:txBody>
      </p:sp>
      <p:sp>
        <p:nvSpPr>
          <p:cNvPr id="7" name="TextBox 6"/>
          <p:cNvSpPr txBox="1"/>
          <p:nvPr/>
        </p:nvSpPr>
        <p:spPr>
          <a:xfrm>
            <a:off x="7909559"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TARGET:  </a:t>
            </a:r>
            <a:r>
              <a:rPr sz="1250" b="0">
                <a:solidFill>
                  <a:srgbClr val="A9AFBC"/>
                </a:solidFill>
                <a:latin typeface="Calibri"/>
              </a:rPr>
              <a:t>7-day realized volatility, 168 hours ahead</a:t>
            </a:r>
          </a:p>
        </p:txBody>
      </p:sp>
      <p:graphicFrame>
        <p:nvGraphicFramePr>
          <p:cNvPr id="8" name="Table 7"/>
          <p:cNvGraphicFramePr>
            <a:graphicFrameLocks noGrp="1"/>
          </p:cNvGraphicFramePr>
          <p:nvPr/>
        </p:nvGraphicFramePr>
        <p:xfrm>
          <a:off x="502920" y="2057400"/>
          <a:ext cx="11155680" cy="4096512"/>
        </p:xfrm>
        <a:graphic>
          <a:graphicData uri="http://schemas.openxmlformats.org/drawingml/2006/table">
            <a:tbl>
              <a:tblPr firstRow="0" bandRow="0">
                <a:tableStyleId>{5C22544A-7EE6-4342-B048-85BDC9FD1C3A}</a:tableStyleId>
              </a:tblPr>
              <a:tblGrid>
                <a:gridCol w="4023360"/>
                <a:gridCol w="5852160"/>
                <a:gridCol w="1280160"/>
              </a:tblGrid>
              <a:tr h="512064">
                <a:tc>
                  <a:txBody>
                    <a:bodyPr wrap="square"/>
                    <a:lstStyle/>
                    <a:p>
                      <a:r>
                        <a:rPr sz="1350" b="1">
                          <a:solidFill>
                            <a:srgbClr val="FFFFFF"/>
                          </a:solidFill>
                          <a:latin typeface="Calibri"/>
                        </a:rPr>
                        <a:t>Feature</a:t>
                      </a:r>
                    </a:p>
                  </a:txBody>
                  <a:tcPr marL="109728" marR="109728" marT="36576" marB="36576" anchor="ctr">
                    <a:solidFill>
                      <a:srgbClr val="000000"/>
                    </a:solidFill>
                  </a:tcPr>
                </a:tc>
                <a:tc>
                  <a:txBody>
                    <a:bodyPr wrap="square"/>
                    <a:lstStyle/>
                    <a:p>
                      <a:r>
                        <a:rPr sz="1350" b="1">
                          <a:solidFill>
                            <a:srgbClr val="FFFFFF"/>
                          </a:solidFill>
                          <a:latin typeface="Calibri"/>
                        </a:rPr>
                        <a:t>Description</a:t>
                      </a:r>
                    </a:p>
                  </a:txBody>
                  <a:tcPr marL="109728" marR="109728" marT="36576" marB="36576" anchor="ctr">
                    <a:solidFill>
                      <a:srgbClr val="000000"/>
                    </a:solidFill>
                  </a:tcPr>
                </a:tc>
                <a:tc>
                  <a:txBody>
                    <a:bodyPr wrap="square"/>
                    <a:lstStyle/>
                    <a:p>
                      <a:r>
                        <a:rPr sz="1350" b="1">
                          <a:solidFill>
                            <a:srgbClr val="FFFFFF"/>
                          </a:solidFill>
                          <a:latin typeface="Calibri"/>
                        </a:rPr>
                        <a:t>Type</a:t>
                      </a:r>
                    </a:p>
                  </a:txBody>
                  <a:tcPr marL="109728" marR="109728" marT="36576" marB="36576" anchor="ctr">
                    <a:solidFill>
                      <a:srgbClr val="000000"/>
                    </a:solidFill>
                  </a:tcPr>
                </a:tc>
              </a:tr>
              <a:tr h="512064">
                <a:tc>
                  <a:txBody>
                    <a:bodyPr wrap="square"/>
                    <a:lstStyle/>
                    <a:p>
                      <a:r>
                        <a:rPr sz="1250" b="0">
                          <a:solidFill>
                            <a:srgbClr val="A9AFBC"/>
                          </a:solidFill>
                          <a:latin typeface="Calibri"/>
                        </a:rPr>
                        <a:t>RV_day / RV_week / RV_month</a:t>
                      </a:r>
                    </a:p>
                  </a:txBody>
                  <a:tcPr marL="109728" marR="109728" marT="36576" marB="36576" anchor="ctr">
                    <a:solidFill>
                      <a:srgbClr val="12151C"/>
                    </a:solidFill>
                  </a:tcPr>
                </a:tc>
                <a:tc>
                  <a:txBody>
                    <a:bodyPr wrap="square"/>
                    <a:lstStyle/>
                    <a:p>
                      <a:r>
                        <a:rPr sz="1250" b="0">
                          <a:solidFill>
                            <a:srgbClr val="A9AFBC"/>
                          </a:solidFill>
                          <a:latin typeface="Calibri"/>
                        </a:rPr>
                        <a:t>Volatility over the past day / week / month (HAR horizons)</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ATR_X</a:t>
                      </a:r>
                    </a:p>
                  </a:txBody>
                  <a:tcPr marL="109728" marR="109728" marT="36576" marB="36576" anchor="ctr">
                    <a:solidFill>
                      <a:srgbClr val="0E1117"/>
                    </a:solidFill>
                  </a:tcPr>
                </a:tc>
                <a:tc>
                  <a:txBody>
                    <a:bodyPr wrap="square"/>
                    <a:lstStyle/>
                    <a:p>
                      <a:r>
                        <a:rPr sz="1250" b="0">
                          <a:solidFill>
                            <a:srgbClr val="A9AFBC"/>
                          </a:solidFill>
                          <a:latin typeface="Calibri"/>
                        </a:rPr>
                        <a:t>Average true range, as a % of price</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EWMA_X</a:t>
                      </a:r>
                    </a:p>
                  </a:txBody>
                  <a:tcPr marL="109728" marR="109728" marT="36576" marB="36576" anchor="ctr">
                    <a:solidFill>
                      <a:srgbClr val="12151C"/>
                    </a:solidFill>
                  </a:tcPr>
                </a:tc>
                <a:tc>
                  <a:txBody>
                    <a:bodyPr wrap="square"/>
                    <a:lstStyle/>
                    <a:p>
                      <a:r>
                        <a:rPr sz="1250" b="0">
                          <a:solidFill>
                            <a:srgbClr val="A9AFBC"/>
                          </a:solidFill>
                          <a:latin typeface="Calibri"/>
                        </a:rPr>
                        <a:t>EWMA-smoothed volatility (lambda = 0.995)</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SKEW_X</a:t>
                      </a:r>
                    </a:p>
                  </a:txBody>
                  <a:tcPr marL="109728" marR="109728" marT="36576" marB="36576" anchor="ctr">
                    <a:solidFill>
                      <a:srgbClr val="0E1117"/>
                    </a:solidFill>
                  </a:tcPr>
                </a:tc>
                <a:tc>
                  <a:txBody>
                    <a:bodyPr wrap="square"/>
                    <a:lstStyle/>
                    <a:p>
                      <a:r>
                        <a:rPr sz="1250" b="0">
                          <a:solidFill>
                            <a:srgbClr val="A9AFBC"/>
                          </a:solidFill>
                          <a:latin typeface="Calibri"/>
                        </a:rPr>
                        <a:t>Realized skewness of hourly returns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hourly_return</a:t>
                      </a:r>
                    </a:p>
                  </a:txBody>
                  <a:tcPr marL="109728" marR="109728" marT="36576" marB="36576" anchor="ctr">
                    <a:solidFill>
                      <a:srgbClr val="12151C"/>
                    </a:solidFill>
                  </a:tcPr>
                </a:tc>
                <a:tc>
                  <a:txBody>
                    <a:bodyPr wrap="square"/>
                    <a:lstStyle/>
                    <a:p>
                      <a:r>
                        <a:rPr sz="1250" b="0">
                          <a:solidFill>
                            <a:srgbClr val="A9AFBC"/>
                          </a:solidFill>
                          <a:latin typeface="Calibri"/>
                        </a:rPr>
                        <a:t>Hour-over-hour price return</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rsi_14 / macd_hist / bb_width</a:t>
                      </a:r>
                    </a:p>
                  </a:txBody>
                  <a:tcPr marL="109728" marR="109728" marT="36576" marB="36576" anchor="ctr">
                    <a:solidFill>
                      <a:srgbClr val="0E1117"/>
                    </a:solidFill>
                  </a:tcPr>
                </a:tc>
                <a:tc>
                  <a:txBody>
                    <a:bodyPr wrap="square"/>
                    <a:lstStyle/>
                    <a:p>
                      <a:r>
                        <a:rPr sz="1250" b="0">
                          <a:solidFill>
                            <a:srgbClr val="A9AFBC"/>
                          </a:solidFill>
                          <a:latin typeface="Calibri"/>
                        </a:rPr>
                        <a:t>Momentum and dispersion indicators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volatility_7d (target)</a:t>
                      </a:r>
                    </a:p>
                  </a:txBody>
                  <a:tcPr marL="109728" marR="109728" marT="36576" marB="36576" anchor="ctr">
                    <a:solidFill>
                      <a:srgbClr val="12151C"/>
                    </a:solidFill>
                  </a:tcPr>
                </a:tc>
                <a:tc>
                  <a:txBody>
                    <a:bodyPr wrap="square"/>
                    <a:lstStyle/>
                    <a:p>
                      <a:r>
                        <a:rPr sz="1250" b="0">
                          <a:solidFill>
                            <a:srgbClr val="A9AFBC"/>
                          </a:solidFill>
                          <a:latin typeface="Calibri"/>
                        </a:rPr>
                        <a:t>7-day realized volatility, 168h ahead of the features</a:t>
                      </a:r>
                    </a:p>
                  </a:txBody>
                  <a:tcPr marL="109728" marR="109728" marT="36576" marB="36576" anchor="ctr">
                    <a:solidFill>
                      <a:srgbClr val="12151C"/>
                    </a:solidFill>
                  </a:tcPr>
                </a:tc>
                <a:tc>
                  <a:txBody>
                    <a:bodyPr wrap="square"/>
                    <a:lstStyle/>
                    <a:p>
                      <a:r>
                        <a:rPr sz="1250" b="0">
                          <a:solidFill>
                            <a:srgbClr val="A9AFBC"/>
                          </a:solidFill>
                          <a:latin typeface="Calibri"/>
                        </a:rPr>
                        <a:t>Target</a:t>
                      </a:r>
                    </a:p>
                  </a:txBody>
                  <a:tcPr marL="109728" marR="109728" marT="36576" marB="36576" anchor="ctr">
                    <a:solidFill>
                      <a:srgbClr val="12151C"/>
                    </a:solidFill>
                  </a:tcPr>
                </a:tc>
              </a:tr>
            </a:tbl>
          </a:graphicData>
        </a:graphic>
      </p:graphicFrame>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Dataset &amp; Data Cleaning</a:t>
            </a:r>
          </a:p>
        </p:txBody>
      </p:sp>
      <p:sp>
        <p:nvSpPr>
          <p:cNvPr id="5" name="TextBox 4"/>
          <p:cNvSpPr txBox="1"/>
          <p:nvPr/>
        </p:nvSpPr>
        <p:spPr>
          <a:xfrm>
            <a:off x="502920" y="1417320"/>
            <a:ext cx="50292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Data Cleaning Steps</a:t>
            </a:r>
          </a:p>
        </p:txBody>
      </p:sp>
      <p:sp>
        <p:nvSpPr>
          <p:cNvPr id="6" name="Rectangle 5"/>
          <p:cNvSpPr/>
          <p:nvPr/>
        </p:nvSpPr>
        <p:spPr>
          <a:xfrm>
            <a:off x="502920" y="182880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2996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0253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1</a:t>
            </a:r>
          </a:p>
        </p:txBody>
      </p:sp>
      <p:sp>
        <p:nvSpPr>
          <p:cNvPr id="9" name="TextBox 8"/>
          <p:cNvSpPr txBox="1"/>
          <p:nvPr/>
        </p:nvSpPr>
        <p:spPr>
          <a:xfrm>
            <a:off x="1097280" y="182880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Removed non-trading gaps and invalid candles (28 timestamp gaps identified)</a:t>
            </a:r>
          </a:p>
        </p:txBody>
      </p:sp>
      <p:sp>
        <p:nvSpPr>
          <p:cNvPr id="10" name="Rectangle 9"/>
          <p:cNvSpPr/>
          <p:nvPr/>
        </p:nvSpPr>
        <p:spPr>
          <a:xfrm>
            <a:off x="502920" y="260604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0720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77977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2</a:t>
            </a:r>
          </a:p>
        </p:txBody>
      </p:sp>
      <p:sp>
        <p:nvSpPr>
          <p:cNvPr id="13" name="TextBox 12"/>
          <p:cNvSpPr txBox="1"/>
          <p:nvPr/>
        </p:nvSpPr>
        <p:spPr>
          <a:xfrm>
            <a:off x="1097280" y="260604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Guarded zero-volume candles before rolling calculations</a:t>
            </a:r>
          </a:p>
        </p:txBody>
      </p:sp>
      <p:sp>
        <p:nvSpPr>
          <p:cNvPr id="14" name="Rectangle 13"/>
          <p:cNvSpPr/>
          <p:nvPr/>
        </p:nvSpPr>
        <p:spPr>
          <a:xfrm>
            <a:off x="502920" y="338328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58444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5701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3</a:t>
            </a:r>
          </a:p>
        </p:txBody>
      </p:sp>
      <p:sp>
        <p:nvSpPr>
          <p:cNvPr id="17" name="TextBox 16"/>
          <p:cNvSpPr txBox="1"/>
          <p:nvPr/>
        </p:nvSpPr>
        <p:spPr>
          <a:xfrm>
            <a:off x="1097280" y="338328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Standardized hourly timestamp frequency across the full history</a:t>
            </a:r>
          </a:p>
        </p:txBody>
      </p:sp>
      <p:sp>
        <p:nvSpPr>
          <p:cNvPr id="18" name="Rectangle 17"/>
          <p:cNvSpPr/>
          <p:nvPr/>
        </p:nvSpPr>
        <p:spPr>
          <a:xfrm>
            <a:off x="502920" y="416052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6168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3425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4</a:t>
            </a:r>
          </a:p>
        </p:txBody>
      </p:sp>
      <p:sp>
        <p:nvSpPr>
          <p:cNvPr id="21" name="TextBox 20"/>
          <p:cNvSpPr txBox="1"/>
          <p:nvPr/>
        </p:nvSpPr>
        <p:spPr>
          <a:xfrm>
            <a:off x="1097280" y="416052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Dropped rolling-window warm-up rows (first ~30 days of history)</a:t>
            </a:r>
          </a:p>
        </p:txBody>
      </p:sp>
      <p:pic>
        <p:nvPicPr>
          <p:cNvPr id="22" name="Picture 21" descr="vol_hist.png"/>
          <p:cNvPicPr>
            <a:picLocks noChangeAspect="1"/>
          </p:cNvPicPr>
          <p:nvPr/>
        </p:nvPicPr>
        <p:blipFill>
          <a:blip r:embed="rId2"/>
          <a:stretch>
            <a:fillRect/>
          </a:stretch>
        </p:blipFill>
        <p:spPr>
          <a:xfrm>
            <a:off x="6035040" y="1417320"/>
            <a:ext cx="5577840" cy="3749039"/>
          </a:xfrm>
          <a:prstGeom prst="rect">
            <a:avLst/>
          </a:prstGeom>
        </p:spPr>
      </p:pic>
      <p:sp>
        <p:nvSpPr>
          <p:cNvPr id="23" name="TextBox 22"/>
          <p:cNvSpPr txBox="1"/>
          <p:nvPr/>
        </p:nvSpPr>
        <p:spPr>
          <a:xfrm>
            <a:off x="6035040" y="5257800"/>
            <a:ext cx="36576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Regime Mapping</a:t>
            </a:r>
          </a:p>
        </p:txBody>
      </p:sp>
      <p:graphicFrame>
        <p:nvGraphicFramePr>
          <p:cNvPr id="24" name="Table 23"/>
          <p:cNvGraphicFramePr>
            <a:graphicFrameLocks noGrp="1"/>
          </p:cNvGraphicFramePr>
          <p:nvPr/>
        </p:nvGraphicFramePr>
        <p:xfrm>
          <a:off x="6035040" y="5623560"/>
          <a:ext cx="5577840" cy="1170432"/>
        </p:xfrm>
        <a:graphic>
          <a:graphicData uri="http://schemas.openxmlformats.org/drawingml/2006/table">
            <a:tbl>
              <a:tblPr firstRow="0" bandRow="0">
                <a:tableStyleId>{5C22544A-7EE6-4342-B048-85BDC9FD1C3A}</a:tableStyleId>
              </a:tblPr>
              <a:tblGrid>
                <a:gridCol w="1188720"/>
                <a:gridCol w="2377440"/>
                <a:gridCol w="2011680"/>
              </a:tblGrid>
              <a:tr h="292608">
                <a:tc>
                  <a:txBody>
                    <a:bodyPr wrap="square"/>
                    <a:lstStyle/>
                    <a:p>
                      <a:r>
                        <a:rPr sz="1250" b="1">
                          <a:solidFill>
                            <a:srgbClr val="FFFFFF"/>
                          </a:solidFill>
                          <a:latin typeface="Calibri"/>
                        </a:rPr>
                        <a:t>Level</a:t>
                      </a:r>
                    </a:p>
                  </a:txBody>
                  <a:tcPr marL="109728" marR="109728" marT="36576" marB="36576" anchor="ctr">
                    <a:solidFill>
                      <a:srgbClr val="000000"/>
                    </a:solidFill>
                  </a:tcPr>
                </a:tc>
                <a:tc>
                  <a:txBody>
                    <a:bodyPr wrap="square"/>
                    <a:lstStyle/>
                    <a:p>
                      <a:r>
                        <a:rPr sz="1250" b="1">
                          <a:solidFill>
                            <a:srgbClr val="FFFFFF"/>
                          </a:solidFill>
                          <a:latin typeface="Calibri"/>
                        </a:rPr>
                        <a:t>Regime</a:t>
                      </a:r>
                    </a:p>
                  </a:txBody>
                  <a:tcPr marL="109728" marR="109728" marT="36576" marB="36576" anchor="ctr">
                    <a:solidFill>
                      <a:srgbClr val="000000"/>
                    </a:solidFill>
                  </a:tcPr>
                </a:tc>
                <a:tc>
                  <a:txBody>
                    <a:bodyPr wrap="square"/>
                    <a:lstStyle/>
                    <a:p>
                      <a:r>
                        <a:rPr sz="1250" b="1">
                          <a:solidFill>
                            <a:srgbClr val="FFFFFF"/>
                          </a:solidFill>
                          <a:latin typeface="Calibri"/>
                        </a:rPr>
                        <a:t>Tertile</a:t>
                      </a:r>
                    </a:p>
                  </a:txBody>
                  <a:tcPr marL="109728" marR="109728" marT="36576" marB="36576" anchor="ctr">
                    <a:solidFill>
                      <a:srgbClr val="000000"/>
                    </a:solidFill>
                  </a:tcPr>
                </a:tc>
              </a:tr>
              <a:tr h="292608">
                <a:tc>
                  <a:txBody>
                    <a:bodyPr wrap="square"/>
                    <a:lstStyle/>
                    <a:p>
                      <a:r>
                        <a:rPr sz="1150" b="0">
                          <a:solidFill>
                            <a:srgbClr val="A9AFBC"/>
                          </a:solidFill>
                          <a:latin typeface="Calibri"/>
                        </a:rPr>
                        <a:t>0</a:t>
                      </a:r>
                    </a:p>
                  </a:txBody>
                  <a:tcPr marL="109728" marR="109728" marT="36576" marB="36576" anchor="ctr">
                    <a:solidFill>
                      <a:srgbClr val="12151C"/>
                    </a:solidFill>
                  </a:tcPr>
                </a:tc>
                <a:tc>
                  <a:txBody>
                    <a:bodyPr wrap="square"/>
                    <a:lstStyle/>
                    <a:p>
                      <a:r>
                        <a:rPr sz="1150" b="0">
                          <a:solidFill>
                            <a:srgbClr val="A9AFBC"/>
                          </a:solidFill>
                          <a:latin typeface="Calibri"/>
                        </a:rPr>
                        <a:t>Low</a:t>
                      </a:r>
                    </a:p>
                  </a:txBody>
                  <a:tcPr marL="109728" marR="109728" marT="36576" marB="36576" anchor="ctr">
                    <a:solidFill>
                      <a:srgbClr val="12151C"/>
                    </a:solidFill>
                  </a:tcPr>
                </a:tc>
                <a:tc>
                  <a:txBody>
                    <a:bodyPr wrap="square"/>
                    <a:lstStyle/>
                    <a:p>
                      <a:r>
                        <a:rPr sz="1150" b="0">
                          <a:solidFill>
                            <a:srgbClr val="A9AFBC"/>
                          </a:solidFill>
                          <a:latin typeface="Calibri"/>
                        </a:rPr>
                        <a:t>&lt;= 0.0047</a:t>
                      </a:r>
                    </a:p>
                  </a:txBody>
                  <a:tcPr marL="109728" marR="109728" marT="36576" marB="36576" anchor="ctr">
                    <a:solidFill>
                      <a:srgbClr val="12151C"/>
                    </a:solidFill>
                  </a:tcPr>
                </a:tc>
              </a:tr>
              <a:tr h="292608">
                <a:tc>
                  <a:txBody>
                    <a:bodyPr wrap="square"/>
                    <a:lstStyle/>
                    <a:p>
                      <a:r>
                        <a:rPr sz="1150" b="0">
                          <a:solidFill>
                            <a:srgbClr val="A9AFBC"/>
                          </a:solidFill>
                          <a:latin typeface="Calibri"/>
                        </a:rPr>
                        <a:t>1</a:t>
                      </a:r>
                    </a:p>
                  </a:txBody>
                  <a:tcPr marL="109728" marR="109728" marT="36576" marB="36576" anchor="ctr">
                    <a:solidFill>
                      <a:srgbClr val="0E1117"/>
                    </a:solidFill>
                  </a:tcPr>
                </a:tc>
                <a:tc>
                  <a:txBody>
                    <a:bodyPr wrap="square"/>
                    <a:lstStyle/>
                    <a:p>
                      <a:r>
                        <a:rPr sz="1150" b="0">
                          <a:solidFill>
                            <a:srgbClr val="A9AFBC"/>
                          </a:solidFill>
                          <a:latin typeface="Calibri"/>
                        </a:rPr>
                        <a:t>Moderate</a:t>
                      </a:r>
                    </a:p>
                  </a:txBody>
                  <a:tcPr marL="109728" marR="109728" marT="36576" marB="36576" anchor="ctr">
                    <a:solidFill>
                      <a:srgbClr val="0E1117"/>
                    </a:solidFill>
                  </a:tcPr>
                </a:tc>
                <a:tc>
                  <a:txBody>
                    <a:bodyPr wrap="square"/>
                    <a:lstStyle/>
                    <a:p>
                      <a:r>
                        <a:rPr sz="1150" b="0">
                          <a:solidFill>
                            <a:srgbClr val="A9AFBC"/>
                          </a:solidFill>
                          <a:latin typeface="Calibri"/>
                        </a:rPr>
                        <a:t>0.0047 - 0.0070</a:t>
                      </a:r>
                    </a:p>
                  </a:txBody>
                  <a:tcPr marL="109728" marR="109728" marT="36576" marB="36576" anchor="ctr">
                    <a:solidFill>
                      <a:srgbClr val="0E1117"/>
                    </a:solidFill>
                  </a:tcPr>
                </a:tc>
              </a:tr>
              <a:tr h="292608">
                <a:tc>
                  <a:txBody>
                    <a:bodyPr wrap="square"/>
                    <a:lstStyle/>
                    <a:p>
                      <a:r>
                        <a:rPr sz="1150" b="0">
                          <a:solidFill>
                            <a:srgbClr val="A9AFBC"/>
                          </a:solidFill>
                          <a:latin typeface="Calibri"/>
                        </a:rPr>
                        <a:t>2</a:t>
                      </a:r>
                    </a:p>
                  </a:txBody>
                  <a:tcPr marL="109728" marR="109728" marT="36576" marB="36576" anchor="ctr">
                    <a:solidFill>
                      <a:srgbClr val="12151C"/>
                    </a:solidFill>
                  </a:tcPr>
                </a:tc>
                <a:tc>
                  <a:txBody>
                    <a:bodyPr wrap="square"/>
                    <a:lstStyle/>
                    <a:p>
                      <a:r>
                        <a:rPr sz="1150" b="0">
                          <a:solidFill>
                            <a:srgbClr val="A9AFBC"/>
                          </a:solidFill>
                          <a:latin typeface="Calibri"/>
                        </a:rPr>
                        <a:t>High</a:t>
                      </a:r>
                    </a:p>
                  </a:txBody>
                  <a:tcPr marL="109728" marR="109728" marT="36576" marB="36576" anchor="ctr">
                    <a:solidFill>
                      <a:srgbClr val="12151C"/>
                    </a:solidFill>
                  </a:tcPr>
                </a:tc>
                <a:tc>
                  <a:txBody>
                    <a:bodyPr wrap="square"/>
                    <a:lstStyle/>
                    <a:p>
                      <a:r>
                        <a:rPr sz="1150" b="0">
                          <a:solidFill>
                            <a:srgbClr val="A9AFBC"/>
                          </a:solidFill>
                          <a:latin typeface="Calibri"/>
                        </a:rPr>
                        <a:t>&gt; 0.0070</a:t>
                      </a:r>
                    </a:p>
                  </a:txBody>
                  <a:tcPr marL="109728" marR="109728" marT="36576" marB="36576" anchor="ctr">
                    <a:solidFill>
                      <a:srgbClr val="12151C"/>
                    </a:solidFill>
                  </a:tcPr>
                </a:tc>
              </a:tr>
            </a:tbl>
          </a:graphicData>
        </a:graphic>
      </p:graphicFrame>
      <p:sp>
        <p:nvSpPr>
          <p:cNvPr id="25" name="TextBox 24"/>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Engineering</a:t>
            </a:r>
          </a:p>
        </p:txBody>
      </p:sp>
      <p:sp>
        <p:nvSpPr>
          <p:cNvPr id="5" name="Rectangle 4"/>
          <p:cNvSpPr/>
          <p:nvPr/>
        </p:nvSpPr>
        <p:spPr>
          <a:xfrm>
            <a:off x="50292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01</a:t>
            </a:r>
          </a:p>
        </p:txBody>
      </p:sp>
      <p:sp>
        <p:nvSpPr>
          <p:cNvPr id="7" name="TextBox 6"/>
          <p:cNvSpPr txBox="1"/>
          <p:nvPr/>
        </p:nvSpPr>
        <p:spPr>
          <a:xfrm>
            <a:off x="79552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HAR Horizons</a:t>
            </a:r>
          </a:p>
        </p:txBody>
      </p:sp>
      <p:sp>
        <p:nvSpPr>
          <p:cNvPr id="8" name="TextBox 7"/>
          <p:cNvSpPr txBox="1"/>
          <p:nvPr/>
        </p:nvSpPr>
        <p:spPr>
          <a:xfrm>
            <a:off x="79552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Aggregated volatility at day / week / month windows to capture the long-memory pattern realized-volatility literature expects (Corsi, 2009).</a:t>
            </a:r>
          </a:p>
        </p:txBody>
      </p:sp>
      <p:sp>
        <p:nvSpPr>
          <p:cNvPr id="9" name="Rectangle 8"/>
          <p:cNvSpPr/>
          <p:nvPr/>
        </p:nvSpPr>
        <p:spPr>
          <a:xfrm>
            <a:off x="617220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480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02</a:t>
            </a:r>
          </a:p>
        </p:txBody>
      </p:sp>
      <p:sp>
        <p:nvSpPr>
          <p:cNvPr id="11" name="TextBox 10"/>
          <p:cNvSpPr txBox="1"/>
          <p:nvPr/>
        </p:nvSpPr>
        <p:spPr>
          <a:xfrm>
            <a:off x="646480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ATR as % of Price</a:t>
            </a:r>
          </a:p>
        </p:txBody>
      </p:sp>
      <p:sp>
        <p:nvSpPr>
          <p:cNvPr id="12" name="TextBox 11"/>
          <p:cNvSpPr txBox="1"/>
          <p:nvPr/>
        </p:nvSpPr>
        <p:spPr>
          <a:xfrm>
            <a:off x="646480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Fixed a real bug: raw dollar-terms ATR was a ~45,000x scale mismatch against every other regressor. Fixing it was the single biggest gain in the project.</a:t>
            </a:r>
          </a:p>
        </p:txBody>
      </p:sp>
      <p:sp>
        <p:nvSpPr>
          <p:cNvPr id="13" name="Rectangle 12"/>
          <p:cNvSpPr/>
          <p:nvPr/>
        </p:nvSpPr>
        <p:spPr>
          <a:xfrm>
            <a:off x="50292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03</a:t>
            </a:r>
          </a:p>
        </p:txBody>
      </p:sp>
      <p:sp>
        <p:nvSpPr>
          <p:cNvPr id="15" name="TextBox 14"/>
          <p:cNvSpPr txBox="1"/>
          <p:nvPr/>
        </p:nvSpPr>
        <p:spPr>
          <a:xfrm>
            <a:off x="79552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EWMA Smoothing</a:t>
            </a:r>
          </a:p>
        </p:txBody>
      </p:sp>
      <p:sp>
        <p:nvSpPr>
          <p:cNvPr id="16" name="TextBox 15"/>
          <p:cNvSpPr txBox="1"/>
          <p:nvPr/>
        </p:nvSpPr>
        <p:spPr>
          <a:xfrm>
            <a:off x="79552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Backtested the industry-standard exponential decay factor (lambda = 0.995) and added it as its own regressor, not just a separate model.</a:t>
            </a:r>
          </a:p>
        </p:txBody>
      </p:sp>
      <p:sp>
        <p:nvSpPr>
          <p:cNvPr id="17" name="Rectangle 16"/>
          <p:cNvSpPr/>
          <p:nvPr/>
        </p:nvSpPr>
        <p:spPr>
          <a:xfrm>
            <a:off x="617220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04</a:t>
            </a:r>
          </a:p>
        </p:txBody>
      </p:sp>
      <p:sp>
        <p:nvSpPr>
          <p:cNvPr id="19" name="TextBox 18"/>
          <p:cNvSpPr txBox="1"/>
          <p:nvPr/>
        </p:nvSpPr>
        <p:spPr>
          <a:xfrm>
            <a:off x="646480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Realized Skewness</a:t>
            </a:r>
          </a:p>
        </p:txBody>
      </p:sp>
      <p:sp>
        <p:nvSpPr>
          <p:cNvPr id="20" name="TextBox 19"/>
          <p:cNvSpPr txBox="1"/>
          <p:nvPr/>
        </p:nvSpPr>
        <p:spPr>
          <a:xfrm>
            <a:off x="646480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Captures return-distribution shape, not just magnitude - a genuinely different signal from the volatility-level regressors above.</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Temporal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Does volatility have memory - and is that memory usable?</a:t>
            </a:r>
          </a:p>
        </p:txBody>
      </p:sp>
      <p:sp>
        <p:nvSpPr>
          <p:cNvPr id="6" name="TextBox 5"/>
          <p:cNvSpPr txBox="1"/>
          <p:nvPr/>
        </p:nvSpPr>
        <p:spPr>
          <a:xfrm>
            <a:off x="50292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Autocorrelation (Primary Signal)</a:t>
            </a:r>
          </a:p>
        </p:txBody>
      </p:sp>
      <p:sp>
        <p:nvSpPr>
          <p:cNvPr id="7" name="Rectangle 6"/>
          <p:cNvSpPr/>
          <p:nvPr/>
        </p:nvSpPr>
        <p:spPr>
          <a:xfrm>
            <a:off x="502920" y="1965960"/>
            <a:ext cx="5212080" cy="21488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965960"/>
            <a:ext cx="45720" cy="21488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9397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ACF DECAYS SLOWLY</a:t>
            </a:r>
          </a:p>
        </p:txBody>
      </p:sp>
      <p:sp>
        <p:nvSpPr>
          <p:cNvPr id="10" name="TextBox 9"/>
          <p:cNvSpPr txBox="1"/>
          <p:nvPr/>
        </p:nvSpPr>
        <p:spPr>
          <a:xfrm>
            <a:off x="777240" y="2386584"/>
            <a:ext cx="4663440" cy="16002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The target's autocorrelation function decays slowly across many lags rather than dropping to zero quickly - confirmation that volatility clustering is real and exploitable, not noise. This is the signal HAR-RV-X's three time horizons are built to capture.</a:t>
            </a:r>
          </a:p>
        </p:txBody>
      </p:sp>
      <p:sp>
        <p:nvSpPr>
          <p:cNvPr id="11" name="Rectangle 10"/>
          <p:cNvSpPr/>
          <p:nvPr/>
        </p:nvSpPr>
        <p:spPr>
          <a:xfrm>
            <a:off x="502920" y="4251960"/>
            <a:ext cx="5212080" cy="178308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4251960"/>
            <a:ext cx="45720" cy="178308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37997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STATIONARITY CONFIRMED</a:t>
            </a:r>
          </a:p>
        </p:txBody>
      </p:sp>
      <p:sp>
        <p:nvSpPr>
          <p:cNvPr id="14" name="TextBox 13"/>
          <p:cNvSpPr txBox="1"/>
          <p:nvPr/>
        </p:nvSpPr>
        <p:spPr>
          <a:xfrm>
            <a:off x="777240" y="4672584"/>
            <a:ext cx="4663440" cy="123444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Augmented Dickey-Fuller test: statistic = -9.24, p &lt; 0.0001. The unit-root null is rejected at essentially any conventional level - volatility_7d is stationary, consistent with the ACF/PACF plots decaying rather than staying persistently high.</a:t>
            </a:r>
          </a:p>
        </p:txBody>
      </p:sp>
      <p:sp>
        <p:nvSpPr>
          <p:cNvPr id="15" name="TextBox 14"/>
          <p:cNvSpPr txBox="1"/>
          <p:nvPr/>
        </p:nvSpPr>
        <p:spPr>
          <a:xfrm>
            <a:off x="603504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ACF / PACF (48 Lags)</a:t>
            </a:r>
          </a:p>
        </p:txBody>
      </p:sp>
      <p:pic>
        <p:nvPicPr>
          <p:cNvPr id="16" name="Picture 15" descr="acf_plot.png"/>
          <p:cNvPicPr>
            <a:picLocks noChangeAspect="1"/>
          </p:cNvPicPr>
          <p:nvPr/>
        </p:nvPicPr>
        <p:blipFill>
          <a:blip r:embed="rId2"/>
          <a:stretch>
            <a:fillRect/>
          </a:stretch>
        </p:blipFill>
        <p:spPr>
          <a:xfrm>
            <a:off x="5989320" y="1965960"/>
            <a:ext cx="5349240" cy="2651760"/>
          </a:xfrm>
          <a:prstGeom prst="rect">
            <a:avLst/>
          </a:prstGeom>
        </p:spPr>
      </p:pic>
      <p:sp>
        <p:nvSpPr>
          <p:cNvPr id="17" name="Rectangle 16"/>
          <p:cNvSpPr/>
          <p:nvPr/>
        </p:nvSpPr>
        <p:spPr>
          <a:xfrm>
            <a:off x="6035040" y="4892040"/>
            <a:ext cx="5212080" cy="11430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35040" y="4892040"/>
            <a:ext cx="45720" cy="114300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502005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TAKEAWAY</a:t>
            </a:r>
          </a:p>
        </p:txBody>
      </p:sp>
      <p:sp>
        <p:nvSpPr>
          <p:cNvPr id="20" name="TextBox 19"/>
          <p:cNvSpPr txBox="1"/>
          <p:nvPr/>
        </p:nvSpPr>
        <p:spPr>
          <a:xfrm>
            <a:off x="6309360" y="5312664"/>
            <a:ext cx="4663440" cy="5943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Volatility's own recent history carries real, persistent signal - exactly why HAR-RV-X's regressors are all volatility measures at different time horizons, not calendar features.</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Range &amp; Dispersion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Range-based measures (ATR, Bollinger width) vs. the target.</a:t>
            </a:r>
          </a:p>
        </p:txBody>
      </p:sp>
      <p:sp>
        <p:nvSpPr>
          <p:cNvPr id="6" name="Rectangle 5"/>
          <p:cNvSpPr/>
          <p:nvPr/>
        </p:nvSpPr>
        <p:spPr>
          <a:xfrm>
            <a:off x="502920" y="155448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Two Independent-Looking Measures</a:t>
            </a:r>
          </a:p>
        </p:txBody>
      </p:sp>
      <p:sp>
        <p:nvSpPr>
          <p:cNvPr id="8" name="TextBox 7"/>
          <p:cNvSpPr txBox="1"/>
          <p:nvPr/>
        </p:nvSpPr>
        <p:spPr>
          <a:xfrm>
            <a:off x="731520" y="186537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ATR and Bollinger width are both built from intraday high/low ranges, not close-to-close returns - a genuinely different signal from simple returns.</a:t>
            </a:r>
          </a:p>
        </p:txBody>
      </p:sp>
      <p:sp>
        <p:nvSpPr>
          <p:cNvPr id="9" name="Rectangle 8"/>
          <p:cNvSpPr/>
          <p:nvPr/>
        </p:nvSpPr>
        <p:spPr>
          <a:xfrm>
            <a:off x="502920" y="251460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1460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Correlation With Target</a:t>
            </a:r>
          </a:p>
        </p:txBody>
      </p:sp>
      <p:sp>
        <p:nvSpPr>
          <p:cNvPr id="11" name="TextBox 10"/>
          <p:cNvSpPr txBox="1"/>
          <p:nvPr/>
        </p:nvSpPr>
        <p:spPr>
          <a:xfrm>
            <a:off x="731520" y="282549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bb_width correlates at +0.588; atr_14 at +0.142. Both real, but likely overlapping with each other, not two independent sources of signal.</a:t>
            </a:r>
          </a:p>
        </p:txBody>
      </p:sp>
      <p:sp>
        <p:nvSpPr>
          <p:cNvPr id="12" name="Rectangle 11"/>
          <p:cNvSpPr/>
          <p:nvPr/>
        </p:nvSpPr>
        <p:spPr>
          <a:xfrm>
            <a:off x="502920" y="347472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47472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Redundancy, Not Independence</a:t>
            </a:r>
          </a:p>
        </p:txBody>
      </p:sp>
      <p:sp>
        <p:nvSpPr>
          <p:cNvPr id="14" name="TextBox 13"/>
          <p:cNvSpPr txBox="1"/>
          <p:nvPr/>
        </p:nvSpPr>
        <p:spPr>
          <a:xfrm>
            <a:off x="731520" y="3785615"/>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Bollinger width is largely redundant with ATR - both are range-based dispersion measures built from the same underlying price action.</a:t>
            </a:r>
          </a:p>
        </p:txBody>
      </p:sp>
      <p:sp>
        <p:nvSpPr>
          <p:cNvPr id="15" name="Rectangle 14"/>
          <p:cNvSpPr/>
          <p:nvPr/>
        </p:nvSpPr>
        <p:spPr>
          <a:xfrm>
            <a:off x="502920" y="4709160"/>
            <a:ext cx="5577840" cy="11887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709160"/>
            <a:ext cx="45720" cy="11887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837176"/>
            <a:ext cx="50292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EDA TAKEAWAY</a:t>
            </a:r>
          </a:p>
        </p:txBody>
      </p:sp>
      <p:sp>
        <p:nvSpPr>
          <p:cNvPr id="18" name="TextBox 17"/>
          <p:cNvSpPr txBox="1"/>
          <p:nvPr/>
        </p:nvSpPr>
        <p:spPr>
          <a:xfrm>
            <a:off x="777240" y="5129784"/>
            <a:ext cx="5029200" cy="6400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Range-based features carry the strongest raw correlation with the target of anything tested - but that signal is concentrated, not spread across many independent features.</a:t>
            </a:r>
          </a:p>
        </p:txBody>
      </p:sp>
      <p:graphicFrame>
        <p:nvGraphicFramePr>
          <p:cNvPr id="19" name="Table 18"/>
          <p:cNvGraphicFramePr>
            <a:graphicFrameLocks noGrp="1"/>
          </p:cNvGraphicFramePr>
          <p:nvPr/>
        </p:nvGraphicFramePr>
        <p:xfrm>
          <a:off x="6400800" y="1554480"/>
          <a:ext cx="4892040" cy="1152144"/>
        </p:xfrm>
        <a:graphic>
          <a:graphicData uri="http://schemas.openxmlformats.org/drawingml/2006/table">
            <a:tbl>
              <a:tblPr firstRow="0" bandRow="0">
                <a:tableStyleId>{5C22544A-7EE6-4342-B048-85BDC9FD1C3A}</a:tableStyleId>
              </a:tblPr>
              <a:tblGrid>
                <a:gridCol w="2606040"/>
                <a:gridCol w="2286000"/>
              </a:tblGrid>
              <a:tr h="384048">
                <a:tc>
                  <a:txBody>
                    <a:bodyPr wrap="square"/>
                    <a:lstStyle/>
                    <a:p>
                      <a:r>
                        <a:rPr sz="1400" b="1">
                          <a:solidFill>
                            <a:srgbClr val="FFFFFF"/>
                          </a:solidFill>
                          <a:latin typeface="Calibri"/>
                        </a:rPr>
                        <a:t>Feature</a:t>
                      </a:r>
                    </a:p>
                  </a:txBody>
                  <a:tcPr marL="109728" marR="109728" marT="36576" marB="36576" anchor="ctr">
                    <a:solidFill>
                      <a:srgbClr val="000000"/>
                    </a:solidFill>
                  </a:tcPr>
                </a:tc>
                <a:tc>
                  <a:txBody>
                    <a:bodyPr wrap="square"/>
                    <a:lstStyle/>
                    <a:p>
                      <a:r>
                        <a:rPr sz="1400" b="1">
                          <a:solidFill>
                            <a:srgbClr val="FFFFFF"/>
                          </a:solidFill>
                          <a:latin typeface="Calibri"/>
                        </a:rPr>
                        <a:t>Correlation with Target</a:t>
                      </a:r>
                    </a:p>
                  </a:txBody>
                  <a:tcPr marL="109728" marR="109728" marT="36576" marB="36576" anchor="ctr">
                    <a:solidFill>
                      <a:srgbClr val="000000"/>
                    </a:solidFill>
                  </a:tcPr>
                </a:tc>
              </a:tr>
              <a:tr h="384048">
                <a:tc>
                  <a:txBody>
                    <a:bodyPr wrap="square"/>
                    <a:lstStyle/>
                    <a:p>
                      <a:r>
                        <a:rPr sz="1300" b="0">
                          <a:solidFill>
                            <a:srgbClr val="A9AFBC"/>
                          </a:solidFill>
                          <a:latin typeface="Calibri"/>
                        </a:rPr>
                        <a:t>bb_width</a:t>
                      </a:r>
                    </a:p>
                  </a:txBody>
                  <a:tcPr marL="109728" marR="109728" marT="36576" marB="36576" anchor="ctr">
                    <a:solidFill>
                      <a:srgbClr val="12151C"/>
                    </a:solidFill>
                  </a:tcPr>
                </a:tc>
                <a:tc>
                  <a:txBody>
                    <a:bodyPr wrap="square"/>
                    <a:lstStyle/>
                    <a:p>
                      <a:r>
                        <a:rPr sz="1300" b="0">
                          <a:solidFill>
                            <a:srgbClr val="A9AFBC"/>
                          </a:solidFill>
                          <a:latin typeface="Calibri"/>
                        </a:rPr>
                        <a:t>+0.588</a:t>
                      </a:r>
                    </a:p>
                  </a:txBody>
                  <a:tcPr marL="109728" marR="109728" marT="36576" marB="36576" anchor="ctr">
                    <a:solidFill>
                      <a:srgbClr val="12151C"/>
                    </a:solidFill>
                  </a:tcPr>
                </a:tc>
              </a:tr>
              <a:tr h="384048">
                <a:tc>
                  <a:txBody>
                    <a:bodyPr wrap="square"/>
                    <a:lstStyle/>
                    <a:p>
                      <a:r>
                        <a:rPr sz="1300" b="0">
                          <a:solidFill>
                            <a:srgbClr val="A9AFBC"/>
                          </a:solidFill>
                          <a:latin typeface="Calibri"/>
                        </a:rPr>
                        <a:t>atr_14</a:t>
                      </a:r>
                    </a:p>
                  </a:txBody>
                  <a:tcPr marL="109728" marR="109728" marT="36576" marB="36576" anchor="ctr">
                    <a:solidFill>
                      <a:srgbClr val="0E1117"/>
                    </a:solidFill>
                  </a:tcPr>
                </a:tc>
                <a:tc>
                  <a:txBody>
                    <a:bodyPr wrap="square"/>
                    <a:lstStyle/>
                    <a:p>
                      <a:r>
                        <a:rPr sz="1300" b="0">
                          <a:solidFill>
                            <a:srgbClr val="A9AFBC"/>
                          </a:solidFill>
                          <a:latin typeface="Calibri"/>
                        </a:rPr>
                        <a:t>+0.142</a:t>
                      </a:r>
                    </a:p>
                  </a:txBody>
                  <a:tcPr marL="109728" marR="109728" marT="36576" marB="36576" anchor="ctr">
                    <a:solidFill>
                      <a:srgbClr val="0E1117"/>
                    </a:solidFill>
                  </a:tcPr>
                </a:tc>
              </a:tr>
            </a:tbl>
          </a:graphicData>
        </a:graphic>
      </p:graphicFrame>
      <p:sp>
        <p:nvSpPr>
          <p:cNvPr id="20" name="TextBox 19"/>
          <p:cNvSpPr txBox="1"/>
          <p:nvPr/>
        </p:nvSpPr>
        <p:spPr>
          <a:xfrm>
            <a:off x="6400800" y="3246120"/>
            <a:ext cx="4892040" cy="2286000"/>
          </a:xfrm>
          <a:prstGeom prst="rect">
            <a:avLst/>
          </a:prstGeom>
          <a:noFill/>
        </p:spPr>
        <p:txBody>
          <a:bodyPr wrap="square" anchor="t" lIns="0" rIns="0" tIns="0" bIns="0">
            <a:spAutoFit/>
          </a:bodyPr>
          <a:lstStyle/>
          <a:p>
            <a:pPr algn="l">
              <a:lnSpc>
                <a:spcPct val="125000"/>
              </a:lnSpc>
              <a:spcAft>
                <a:spcPts val="0"/>
              </a:spcAft>
            </a:pPr>
            <a:r>
              <a:rPr sz="1250" b="0" i="0">
                <a:solidFill>
                  <a:srgbClr val="A9AFBC"/>
                </a:solidFill>
                <a:latin typeface="Calibri"/>
              </a:rPr>
              <a:t>Both range measures show dependence with the target, but bb_width's strength is mostly explained by its overlap with atr_14, not by adding new information. This is confirmed directly in Feature Selection (next).</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Volatility Clustering</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 calm and turbulent periods actually separate cleanly?</a:t>
            </a:r>
          </a:p>
        </p:txBody>
      </p:sp>
      <p:sp>
        <p:nvSpPr>
          <p:cNvPr id="6" name="TextBox 5"/>
          <p:cNvSpPr txBox="1"/>
          <p:nvPr/>
        </p:nvSpPr>
        <p:spPr>
          <a:xfrm>
            <a:off x="502920" y="1600200"/>
            <a:ext cx="10607040" cy="822960"/>
          </a:xfrm>
          <a:prstGeom prst="rect">
            <a:avLst/>
          </a:prstGeom>
          <a:noFill/>
        </p:spPr>
        <p:txBody>
          <a:bodyPr wrap="square" anchor="t" lIns="0" rIns="0" tIns="0" bIns="0">
            <a:spAutoFit/>
          </a:bodyPr>
          <a:lstStyle/>
          <a:p>
            <a:pPr algn="ctr">
              <a:lnSpc>
                <a:spcPct val="130000"/>
              </a:lnSpc>
              <a:spcAft>
                <a:spcPts val="0"/>
              </a:spcAft>
            </a:pPr>
            <a:r>
              <a:rPr sz="1400" b="0" i="1">
                <a:solidFill>
                  <a:srgbClr val="A9AFBC"/>
                </a:solidFill>
                <a:latin typeface="Calibri"/>
              </a:rPr>
              <a:t>Certain stretches of history show clearly higher volatility than others, and the target's fat right tail (long calm stretches, sharp spikes) is visible directly in its own distribution (Slide 4). But the boundary between “calm” and “turbulent” is fuzzy, not sharp: regimes cluster in time, but overlap substantially at any given threshold.</a:t>
            </a:r>
          </a:p>
        </p:txBody>
      </p:sp>
      <p:pic>
        <p:nvPicPr>
          <p:cNvPr id="7" name="Picture 6" descr="vol_hist.png"/>
          <p:cNvPicPr>
            <a:picLocks noChangeAspect="1"/>
          </p:cNvPicPr>
          <p:nvPr/>
        </p:nvPicPr>
        <p:blipFill>
          <a:blip r:embed="rId2"/>
          <a:stretch>
            <a:fillRect/>
          </a:stretch>
        </p:blipFill>
        <p:spPr>
          <a:xfrm>
            <a:off x="3337560" y="2606040"/>
            <a:ext cx="5486400" cy="3063240"/>
          </a:xfrm>
          <a:prstGeom prst="rect">
            <a:avLst/>
          </a:prstGeom>
        </p:spPr>
      </p:pic>
      <p:sp>
        <p:nvSpPr>
          <p:cNvPr id="8" name="Rectangle 7"/>
          <p:cNvSpPr/>
          <p:nvPr/>
        </p:nvSpPr>
        <p:spPr>
          <a:xfrm>
            <a:off x="502920" y="5806440"/>
            <a:ext cx="11155680" cy="9144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5806440"/>
            <a:ext cx="45720" cy="91440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9344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TAKEAWAY</a:t>
            </a:r>
          </a:p>
        </p:txBody>
      </p:sp>
      <p:sp>
        <p:nvSpPr>
          <p:cNvPr id="11" name="TextBox 10"/>
          <p:cNvSpPr txBox="1"/>
          <p:nvPr/>
        </p:nvSpPr>
        <p:spPr>
          <a:xfrm>
            <a:off x="777240" y="6227064"/>
            <a:ext cx="10607040" cy="3657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Clustering is real and exploitable (HAR-RV-X leans on it directly), but it does not uniquely determine severity - a ceiling on achievable accuracy, not a guarantee of it.</a:t>
            </a:r>
          </a:p>
        </p:txBody>
      </p:sp>
      <p:sp>
        <p:nvSpPr>
          <p:cNvPr id="12" name="TextBox 11"/>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Selection: Correlation &amp; Effect Sizes</a:t>
            </a:r>
          </a:p>
        </p:txBody>
      </p:sp>
      <p:sp>
        <p:nvSpPr>
          <p:cNvPr id="5" name="TextBox 4"/>
          <p:cNvSpPr txBox="1"/>
          <p:nvPr/>
        </p:nvSpPr>
        <p:spPr>
          <a:xfrm>
            <a:off x="502920" y="1417320"/>
            <a:ext cx="10789920" cy="548640"/>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Correlation Analysis:  </a:t>
            </a:r>
            <a:r>
              <a:rPr sz="1300" b="0">
                <a:solidFill>
                  <a:srgbClr val="A9AFBC"/>
                </a:solidFill>
                <a:latin typeface="Calibri"/>
              </a:rPr>
              <a:t>all continuous features tested against the target - the strongest are theoretically motivated, not just statistically convenient.</a:t>
            </a:r>
          </a:p>
        </p:txBody>
      </p:sp>
      <p:sp>
        <p:nvSpPr>
          <p:cNvPr id="6" name="TextBox 5"/>
          <p:cNvSpPr txBox="1"/>
          <p:nvPr/>
        </p:nvSpPr>
        <p:spPr>
          <a:xfrm>
            <a:off x="50292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E8C99B"/>
                </a:solidFill>
                <a:latin typeface="Calibri"/>
              </a:rPr>
              <a:t>Retained (used by HAR-RV-X)</a:t>
            </a:r>
          </a:p>
        </p:txBody>
      </p:sp>
      <p:sp>
        <p:nvSpPr>
          <p:cNvPr id="7" name="Rectangle 6"/>
          <p:cNvSpPr/>
          <p:nvPr/>
        </p:nvSpPr>
        <p:spPr>
          <a:xfrm>
            <a:off x="502920" y="2560320"/>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RV_day / RV_week / RV_month</a:t>
            </a:r>
          </a:p>
        </p:txBody>
      </p:sp>
      <p:sp>
        <p:nvSpPr>
          <p:cNvPr id="9" name="TextBox 8"/>
          <p:cNvSpPr txBox="1"/>
          <p:nvPr/>
        </p:nvSpPr>
        <p:spPr>
          <a:xfrm>
            <a:off x="71323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Theoretically motivated (Corsi 2009)</a:t>
            </a:r>
          </a:p>
        </p:txBody>
      </p:sp>
      <p:sp>
        <p:nvSpPr>
          <p:cNvPr id="10" name="Rectangle 9"/>
          <p:cNvSpPr/>
          <p:nvPr/>
        </p:nvSpPr>
        <p:spPr>
          <a:xfrm>
            <a:off x="502920" y="3090672"/>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ATR_X</a:t>
            </a:r>
          </a:p>
        </p:txBody>
      </p:sp>
      <p:sp>
        <p:nvSpPr>
          <p:cNvPr id="12" name="TextBox 11"/>
          <p:cNvSpPr txBox="1"/>
          <p:nvPr/>
        </p:nvSpPr>
        <p:spPr>
          <a:xfrm>
            <a:off x="71323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0.142, scale-fixed</a:t>
            </a:r>
          </a:p>
        </p:txBody>
      </p:sp>
      <p:sp>
        <p:nvSpPr>
          <p:cNvPr id="13" name="Rectangle 12"/>
          <p:cNvSpPr/>
          <p:nvPr/>
        </p:nvSpPr>
        <p:spPr>
          <a:xfrm>
            <a:off x="502920" y="3621024"/>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EWMA_X</a:t>
            </a:r>
          </a:p>
        </p:txBody>
      </p:sp>
      <p:sp>
        <p:nvSpPr>
          <p:cNvPr id="15" name="TextBox 14"/>
          <p:cNvSpPr txBox="1"/>
          <p:nvPr/>
        </p:nvSpPr>
        <p:spPr>
          <a:xfrm>
            <a:off x="71323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backtested smoothing</a:t>
            </a:r>
          </a:p>
        </p:txBody>
      </p:sp>
      <p:sp>
        <p:nvSpPr>
          <p:cNvPr id="16" name="Rectangle 15"/>
          <p:cNvSpPr/>
          <p:nvPr/>
        </p:nvSpPr>
        <p:spPr>
          <a:xfrm>
            <a:off x="502920" y="4151376"/>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SKEW_X</a:t>
            </a:r>
          </a:p>
        </p:txBody>
      </p:sp>
      <p:sp>
        <p:nvSpPr>
          <p:cNvPr id="18" name="TextBox 17"/>
          <p:cNvSpPr txBox="1"/>
          <p:nvPr/>
        </p:nvSpPr>
        <p:spPr>
          <a:xfrm>
            <a:off x="71323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distribution shape, not magnitude</a:t>
            </a:r>
          </a:p>
        </p:txBody>
      </p:sp>
      <p:sp>
        <p:nvSpPr>
          <p:cNvPr id="19" name="TextBox 18"/>
          <p:cNvSpPr txBox="1"/>
          <p:nvPr/>
        </p:nvSpPr>
        <p:spPr>
          <a:xfrm>
            <a:off x="603504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C4645A"/>
                </a:solidFill>
                <a:latin typeface="Calibri"/>
              </a:rPr>
              <a:t>Dropped (weak or redundant)</a:t>
            </a:r>
          </a:p>
        </p:txBody>
      </p:sp>
      <p:sp>
        <p:nvSpPr>
          <p:cNvPr id="20" name="Rectangle 19"/>
          <p:cNvSpPr/>
          <p:nvPr/>
        </p:nvSpPr>
        <p:spPr>
          <a:xfrm>
            <a:off x="6035040" y="2560320"/>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rsi_14</a:t>
            </a:r>
          </a:p>
        </p:txBody>
      </p:sp>
      <p:sp>
        <p:nvSpPr>
          <p:cNvPr id="22" name="TextBox 21"/>
          <p:cNvSpPr txBox="1"/>
          <p:nvPr/>
        </p:nvSpPr>
        <p:spPr>
          <a:xfrm>
            <a:off x="624535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0.004</a:t>
            </a:r>
          </a:p>
        </p:txBody>
      </p:sp>
      <p:sp>
        <p:nvSpPr>
          <p:cNvPr id="23" name="Rectangle 22"/>
          <p:cNvSpPr/>
          <p:nvPr/>
        </p:nvSpPr>
        <p:spPr>
          <a:xfrm>
            <a:off x="6035040" y="3090672"/>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4535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macd_hist</a:t>
            </a:r>
          </a:p>
        </p:txBody>
      </p:sp>
      <p:sp>
        <p:nvSpPr>
          <p:cNvPr id="25" name="TextBox 24"/>
          <p:cNvSpPr txBox="1"/>
          <p:nvPr/>
        </p:nvSpPr>
        <p:spPr>
          <a:xfrm>
            <a:off x="624535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0.013</a:t>
            </a:r>
          </a:p>
        </p:txBody>
      </p:sp>
      <p:sp>
        <p:nvSpPr>
          <p:cNvPr id="26" name="Rectangle 25"/>
          <p:cNvSpPr/>
          <p:nvPr/>
        </p:nvSpPr>
        <p:spPr>
          <a:xfrm>
            <a:off x="6035040" y="3621024"/>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volume_chg</a:t>
            </a:r>
          </a:p>
        </p:txBody>
      </p:sp>
      <p:sp>
        <p:nvSpPr>
          <p:cNvPr id="28" name="TextBox 27"/>
          <p:cNvSpPr txBox="1"/>
          <p:nvPr/>
        </p:nvSpPr>
        <p:spPr>
          <a:xfrm>
            <a:off x="624535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0.002</a:t>
            </a:r>
          </a:p>
        </p:txBody>
      </p:sp>
      <p:sp>
        <p:nvSpPr>
          <p:cNvPr id="29" name="Rectangle 28"/>
          <p:cNvSpPr/>
          <p:nvPr/>
        </p:nvSpPr>
        <p:spPr>
          <a:xfrm>
            <a:off x="6035040" y="4151376"/>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35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Close / ma_7d (raw levels)</a:t>
            </a:r>
          </a:p>
        </p:txBody>
      </p:sp>
      <p:sp>
        <p:nvSpPr>
          <p:cNvPr id="31" name="TextBox 30"/>
          <p:cNvSpPr txBox="1"/>
          <p:nvPr/>
        </p:nvSpPr>
        <p:spPr>
          <a:xfrm>
            <a:off x="624535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-0.26, non-stationary, spurious</a:t>
            </a:r>
          </a:p>
        </p:txBody>
      </p:sp>
      <p:sp>
        <p:nvSpPr>
          <p:cNvPr id="32" name="Rectangle 31"/>
          <p:cNvSpPr/>
          <p:nvPr/>
        </p:nvSpPr>
        <p:spPr>
          <a:xfrm>
            <a:off x="502920" y="5166360"/>
            <a:ext cx="1074420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1663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29437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CRITICAL FINDING</a:t>
            </a:r>
          </a:p>
        </p:txBody>
      </p:sp>
      <p:sp>
        <p:nvSpPr>
          <p:cNvPr id="35" name="TextBox 34"/>
          <p:cNvSpPr txBox="1"/>
          <p:nvPr/>
        </p:nvSpPr>
        <p:spPr>
          <a:xfrm>
            <a:off x="777240" y="5586984"/>
            <a:ext cx="1019556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Even the strongest raw correlation (bb_width, +0.588) is largely redundant with ATR, not new information. This is why R2 tops out around 0.24, not 0.9 - a ceiling set by the data itself, not by model choice.</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Relationships: Correlation Analysis</a:t>
            </a:r>
          </a:p>
        </p:txBody>
      </p:sp>
      <p:sp>
        <p:nvSpPr>
          <p:cNvPr id="5" name="TextBox 4"/>
          <p:cNvSpPr txBox="1"/>
          <p:nvPr/>
        </p:nvSpPr>
        <p:spPr>
          <a:xfrm>
            <a:off x="502920" y="146304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Statistical Measure</a:t>
            </a:r>
          </a:p>
        </p:txBody>
      </p:sp>
      <p:sp>
        <p:nvSpPr>
          <p:cNvPr id="6" name="TextBox 5"/>
          <p:cNvSpPr txBox="1"/>
          <p:nvPr/>
        </p:nvSpPr>
        <p:spPr>
          <a:xfrm>
            <a:off x="502920" y="1810512"/>
            <a:ext cx="5120640" cy="68580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Pearson correlation measures the linear relationship between each continuous feature and the target, on a scale from -1 to +1.</a:t>
            </a:r>
          </a:p>
        </p:txBody>
      </p:sp>
      <p:sp>
        <p:nvSpPr>
          <p:cNvPr id="7" name="TextBox 6"/>
          <p:cNvSpPr txBox="1"/>
          <p:nvPr/>
        </p:nvSpPr>
        <p:spPr>
          <a:xfrm>
            <a:off x="502920" y="269748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Key Finding</a:t>
            </a:r>
          </a:p>
        </p:txBody>
      </p:sp>
      <p:sp>
        <p:nvSpPr>
          <p:cNvPr id="8" name="TextBox 7"/>
          <p:cNvSpPr txBox="1"/>
          <p:nvPr/>
        </p:nvSpPr>
        <p:spPr>
          <a:xfrm>
            <a:off x="502920" y="3044952"/>
            <a:ext cx="512064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Only range-based features (bb_width, atr_14) show meaningful correlation. Every other continuous feature sits below |0.05| - essentially no linear relationship with the target at all.</a:t>
            </a:r>
          </a:p>
        </p:txBody>
      </p:sp>
      <p:sp>
        <p:nvSpPr>
          <p:cNvPr id="9" name="Rectangle 8"/>
          <p:cNvSpPr/>
          <p:nvPr/>
        </p:nvSpPr>
        <p:spPr>
          <a:xfrm>
            <a:off x="502920" y="4069080"/>
            <a:ext cx="41148" cy="14630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069080"/>
            <a:ext cx="4937760" cy="320040"/>
          </a:xfrm>
          <a:prstGeom prst="rect">
            <a:avLst/>
          </a:prstGeom>
          <a:noFill/>
        </p:spPr>
        <p:txBody>
          <a:bodyPr wrap="square" anchor="t" lIns="0" rIns="0" tIns="0" bIns="0">
            <a:spAutoFit/>
          </a:bodyPr>
          <a:lstStyle/>
          <a:p>
            <a:pPr algn="l">
              <a:lnSpc>
                <a:spcPct val="100000"/>
              </a:lnSpc>
              <a:spcAft>
                <a:spcPts val="0"/>
              </a:spcAft>
            </a:pPr>
            <a:r>
              <a:rPr sz="1300" b="1" i="0">
                <a:solidFill>
                  <a:srgbClr val="C4645A"/>
                </a:solidFill>
                <a:latin typeface="Calibri"/>
              </a:rPr>
              <a:t>Performance Ceiling</a:t>
            </a:r>
          </a:p>
        </p:txBody>
      </p:sp>
      <p:sp>
        <p:nvSpPr>
          <p:cNvPr id="11" name="TextBox 10"/>
          <p:cNvSpPr txBox="1"/>
          <p:nvPr/>
        </p:nvSpPr>
        <p:spPr>
          <a:xfrm>
            <a:off x="731520" y="4416552"/>
            <a:ext cx="4892040" cy="109728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This result alone suggested - before any modeling - that performance would be limited. Models cannot exceed the information content of their features.</a:t>
            </a:r>
          </a:p>
        </p:txBody>
      </p:sp>
      <p:pic>
        <p:nvPicPr>
          <p:cNvPr id="12" name="Picture 11" descr="corr_bar.png"/>
          <p:cNvPicPr>
            <a:picLocks noChangeAspect="1"/>
          </p:cNvPicPr>
          <p:nvPr/>
        </p:nvPicPr>
        <p:blipFill>
          <a:blip r:embed="rId2"/>
          <a:stretch>
            <a:fillRect/>
          </a:stretch>
        </p:blipFill>
        <p:spPr>
          <a:xfrm>
            <a:off x="5989320" y="1417320"/>
            <a:ext cx="5669280" cy="3566160"/>
          </a:xfrm>
          <a:prstGeom prst="rect">
            <a:avLst/>
          </a:prstGeom>
        </p:spPr>
      </p:pic>
      <p:sp>
        <p:nvSpPr>
          <p:cNvPr id="13" name="TextBox 12"/>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1: GARCH</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GJR-GARCH with Student-t Errors (Tuned)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Vol Model</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GJR-GARCH</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Distribution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Student's t</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p / o / q</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1 / 1 / 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AIC (Tuned)</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96,564.5</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-5.02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0.003876</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90.54%</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GARCH's forecast mean-reverts toward a long-run average well before 168 hours are up - a structural weakness at this horizon, not an implementation bug. It degrades even further on live data (R2 = -110.68).</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2: HAR-RV-X</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Regression on Realized-Volatility Horizons, Ridge-Regularized (Final)</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Regressors</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6 (RV horizons, ATR_X, EWMA_X, SKEW_X)</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Regularization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Ridge</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Alpha</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0.01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Target Transform</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log(target)</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0.242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0.001367</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22.83%</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Best performer among all models, on both historical and genuinely unseen live data (R2 = 0.178 live). A real scale bug fix in ATR_X (a ~45,000x mismatch) was the single largest driver of this result.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3: EWMA</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RiskMetrics-Style Exponential Smoothing (Backtested)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Formula</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RiskMetrics (J.P. Morgan, 1996)</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Lambda (Backtested)</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0.995</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Search Range</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0.85 - 0.995</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Selection</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TimeSeriesSplit CV</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0.059</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0.001532</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23.71%</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A single, fully transparent parameter - no hidden layers, nothing opaque. A solid runner-up, and the risk desk's own trusted estimator, but not as sharp as HAR-RV-X's multi-horizon regressors.</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Comparison</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Historical Test-Set Performance Across All Models</a:t>
            </a:r>
          </a:p>
        </p:txBody>
      </p:sp>
      <p:graphicFrame>
        <p:nvGraphicFramePr>
          <p:cNvPr id="6" name="Table 5"/>
          <p:cNvGraphicFramePr>
            <a:graphicFrameLocks noGrp="1"/>
          </p:cNvGraphicFramePr>
          <p:nvPr/>
        </p:nvGraphicFramePr>
        <p:xfrm>
          <a:off x="502920" y="1508760"/>
          <a:ext cx="11155680" cy="2852928"/>
        </p:xfrm>
        <a:graphic>
          <a:graphicData uri="http://schemas.openxmlformats.org/drawingml/2006/table">
            <a:tbl>
              <a:tblPr firstRow="0" bandRow="0">
                <a:tableStyleId>{5C22544A-7EE6-4342-B048-85BDC9FD1C3A}</a:tableStyleId>
              </a:tblPr>
              <a:tblGrid>
                <a:gridCol w="3383280"/>
                <a:gridCol w="1737360"/>
                <a:gridCol w="1554480"/>
                <a:gridCol w="1737360"/>
                <a:gridCol w="2743200"/>
              </a:tblGrid>
              <a:tr h="475488">
                <a:tc>
                  <a:txBody>
                    <a:bodyPr wrap="square"/>
                    <a:lstStyle/>
                    <a:p>
                      <a:r>
                        <a:rPr sz="1400" b="1">
                          <a:solidFill>
                            <a:srgbClr val="FFFFFF"/>
                          </a:solidFill>
                          <a:latin typeface="Calibri"/>
                        </a:rPr>
                        <a:t>Model</a:t>
                      </a:r>
                    </a:p>
                  </a:txBody>
                  <a:tcPr marL="109728" marR="109728" marT="36576" marB="36576" anchor="ctr">
                    <a:solidFill>
                      <a:srgbClr val="000000"/>
                    </a:solidFill>
                  </a:tcPr>
                </a:tc>
                <a:tc>
                  <a:txBody>
                    <a:bodyPr wrap="square"/>
                    <a:lstStyle/>
                    <a:p>
                      <a:r>
                        <a:rPr sz="1400" b="1">
                          <a:solidFill>
                            <a:srgbClr val="FFFFFF"/>
                          </a:solidFill>
                          <a:latin typeface="Calibri"/>
                        </a:rPr>
                        <a:t>RMSE</a:t>
                      </a:r>
                    </a:p>
                  </a:txBody>
                  <a:tcPr marL="109728" marR="109728" marT="36576" marB="36576" anchor="ctr">
                    <a:solidFill>
                      <a:srgbClr val="000000"/>
                    </a:solidFill>
                  </a:tcPr>
                </a:tc>
                <a:tc>
                  <a:txBody>
                    <a:bodyPr wrap="square"/>
                    <a:lstStyle/>
                    <a:p>
                      <a:r>
                        <a:rPr sz="1400" b="1">
                          <a:solidFill>
                            <a:srgbClr val="FFFFFF"/>
                          </a:solidFill>
                          <a:latin typeface="Calibri"/>
                        </a:rPr>
                        <a:t>R2</a:t>
                      </a:r>
                    </a:p>
                  </a:txBody>
                  <a:tcPr marL="109728" marR="109728" marT="36576" marB="36576" anchor="ctr">
                    <a:solidFill>
                      <a:srgbClr val="000000"/>
                    </a:solidFill>
                  </a:tcPr>
                </a:tc>
                <a:tc>
                  <a:txBody>
                    <a:bodyPr wrap="square"/>
                    <a:lstStyle/>
                    <a:p>
                      <a:r>
                        <a:rPr sz="1400" b="1">
                          <a:solidFill>
                            <a:srgbClr val="FFFFFF"/>
                          </a:solidFill>
                          <a:latin typeface="Calibri"/>
                        </a:rPr>
                        <a:t>MAPE</a:t>
                      </a:r>
                    </a:p>
                  </a:txBody>
                  <a:tcPr marL="109728" marR="109728" marT="36576" marB="36576" anchor="ctr">
                    <a:solidFill>
                      <a:srgbClr val="000000"/>
                    </a:solidFill>
                  </a:tcPr>
                </a:tc>
                <a:tc>
                  <a:txBody>
                    <a:bodyPr wrap="square"/>
                    <a:lstStyle/>
                    <a:p>
                      <a:r>
                        <a:rPr sz="1400" b="1">
                          <a:solidFill>
                            <a:srgbClr val="FFFFFF"/>
                          </a:solidFill>
                          <a:latin typeface="Calibri"/>
                        </a:rPr>
                        <a:t>Beats Persistence?</a:t>
                      </a:r>
                    </a:p>
                  </a:txBody>
                  <a:tcPr marL="109728" marR="109728" marT="36576" marB="36576" anchor="ctr">
                    <a:solidFill>
                      <a:srgbClr val="000000"/>
                    </a:solidFill>
                  </a:tcPr>
                </a:tc>
              </a:tr>
              <a:tr h="475488">
                <a:tc>
                  <a:txBody>
                    <a:bodyPr wrap="square"/>
                    <a:lstStyle/>
                    <a:p>
                      <a:r>
                        <a:rPr sz="1300" b="0">
                          <a:solidFill>
                            <a:srgbClr val="A9AFBC"/>
                          </a:solidFill>
                          <a:latin typeface="Calibri"/>
                        </a:rPr>
                        <a:t>Naive Persistence (baseline)</a:t>
                      </a:r>
                    </a:p>
                  </a:txBody>
                  <a:tcPr marL="109728" marR="109728" marT="36576" marB="36576" anchor="ctr">
                    <a:solidFill>
                      <a:srgbClr val="12151C"/>
                    </a:solidFill>
                  </a:tcPr>
                </a:tc>
                <a:tc>
                  <a:txBody>
                    <a:bodyPr wrap="square"/>
                    <a:lstStyle/>
                    <a:p>
                      <a:r>
                        <a:rPr sz="1300" b="0">
                          <a:solidFill>
                            <a:srgbClr val="A9AFBC"/>
                          </a:solidFill>
                          <a:latin typeface="Calibri"/>
                        </a:rPr>
                        <a:t>0.001649</a:t>
                      </a:r>
                    </a:p>
                  </a:txBody>
                  <a:tcPr marL="109728" marR="109728" marT="36576" marB="36576" anchor="ctr">
                    <a:solidFill>
                      <a:srgbClr val="12151C"/>
                    </a:solidFill>
                  </a:tcPr>
                </a:tc>
                <a:tc>
                  <a:txBody>
                    <a:bodyPr wrap="square"/>
                    <a:lstStyle/>
                    <a:p>
                      <a:r>
                        <a:rPr sz="1300" b="0">
                          <a:solidFill>
                            <a:srgbClr val="A9AFBC"/>
                          </a:solidFill>
                          <a:latin typeface="Calibri"/>
                        </a:rPr>
                        <a:t>-0.090</a:t>
                      </a:r>
                    </a:p>
                  </a:txBody>
                  <a:tcPr marL="109728" marR="109728" marT="36576" marB="36576" anchor="ctr">
                    <a:solidFill>
                      <a:srgbClr val="12151C"/>
                    </a:solidFill>
                  </a:tcPr>
                </a:tc>
                <a:tc>
                  <a:txBody>
                    <a:bodyPr wrap="square"/>
                    <a:lstStyle/>
                    <a:p>
                      <a:r>
                        <a:rPr sz="1300" b="0">
                          <a:solidFill>
                            <a:srgbClr val="A9AFBC"/>
                          </a:solidFill>
                          <a:latin typeface="Calibri"/>
                        </a:rPr>
                        <a:t>24.41%</a:t>
                      </a:r>
                    </a:p>
                  </a:txBody>
                  <a:tcPr marL="109728" marR="109728" marT="36576" marB="36576" anchor="ctr">
                    <a:solidFill>
                      <a:srgbClr val="12151C"/>
                    </a:solidFill>
                  </a:tcPr>
                </a:tc>
                <a:tc>
                  <a:txBody>
                    <a:bodyPr wrap="square"/>
                    <a:lstStyle/>
                    <a:p>
                      <a:r>
                        <a:rPr sz="1300" b="0">
                          <a:solidFill>
                            <a:srgbClr val="A9AFBC"/>
                          </a:solidFill>
                          <a:latin typeface="Calibri"/>
                        </a:rPr>
                        <a:t>Baseline</a:t>
                      </a:r>
                    </a:p>
                  </a:txBody>
                  <a:tcPr marL="109728" marR="109728" marT="36576" marB="36576" anchor="ctr">
                    <a:solidFill>
                      <a:srgbClr val="12151C"/>
                    </a:solidFill>
                  </a:tcPr>
                </a:tc>
              </a:tr>
              <a:tr h="475488">
                <a:tc>
                  <a:txBody>
                    <a:bodyPr wrap="square"/>
                    <a:lstStyle/>
                    <a:p>
                      <a:r>
                        <a:rPr sz="1300" b="0">
                          <a:solidFill>
                            <a:srgbClr val="A9AFBC"/>
                          </a:solidFill>
                          <a:latin typeface="Calibri"/>
                        </a:rPr>
                        <a:t>Holt-Winters (baseline)</a:t>
                      </a:r>
                    </a:p>
                  </a:txBody>
                  <a:tcPr marL="109728" marR="109728" marT="36576" marB="36576" anchor="ctr">
                    <a:solidFill>
                      <a:srgbClr val="0E1117"/>
                    </a:solidFill>
                  </a:tcPr>
                </a:tc>
                <a:tc>
                  <a:txBody>
                    <a:bodyPr wrap="square"/>
                    <a:lstStyle/>
                    <a:p>
                      <a:r>
                        <a:rPr sz="1300" b="0">
                          <a:solidFill>
                            <a:srgbClr val="A9AFBC"/>
                          </a:solidFill>
                          <a:latin typeface="Calibri"/>
                        </a:rPr>
                        <a:t>0.002845</a:t>
                      </a:r>
                    </a:p>
                  </a:txBody>
                  <a:tcPr marL="109728" marR="109728" marT="36576" marB="36576" anchor="ctr">
                    <a:solidFill>
                      <a:srgbClr val="0E1117"/>
                    </a:solidFill>
                  </a:tcPr>
                </a:tc>
                <a:tc>
                  <a:txBody>
                    <a:bodyPr wrap="square"/>
                    <a:lstStyle/>
                    <a:p>
                      <a:r>
                        <a:rPr sz="1300" b="0">
                          <a:solidFill>
                            <a:srgbClr val="A9AFBC"/>
                          </a:solidFill>
                          <a:latin typeface="Calibri"/>
                        </a:rPr>
                        <a:t>-2.245</a:t>
                      </a:r>
                    </a:p>
                  </a:txBody>
                  <a:tcPr marL="109728" marR="109728" marT="36576" marB="36576" anchor="ctr">
                    <a:solidFill>
                      <a:srgbClr val="0E1117"/>
                    </a:solidFill>
                  </a:tcPr>
                </a:tc>
                <a:tc>
                  <a:txBody>
                    <a:bodyPr wrap="square"/>
                    <a:lstStyle/>
                    <a:p>
                      <a:r>
                        <a:rPr sz="1300" b="0">
                          <a:solidFill>
                            <a:srgbClr val="A9AFBC"/>
                          </a:solidFill>
                          <a:latin typeface="Calibri"/>
                        </a:rPr>
                        <a:t>43.20%</a:t>
                      </a:r>
                    </a:p>
                  </a:txBody>
                  <a:tcPr marL="109728" marR="109728" marT="36576" marB="36576" anchor="ctr">
                    <a:solidFill>
                      <a:srgbClr val="0E1117"/>
                    </a:solidFill>
                  </a:tcPr>
                </a:tc>
                <a:tc>
                  <a:txBody>
                    <a:bodyPr wrap="square"/>
                    <a:lstStyle/>
                    <a:p>
                      <a:r>
                        <a:rPr sz="1300" b="0">
                          <a:solidFill>
                            <a:srgbClr val="A9AFBC"/>
                          </a:solidFill>
                          <a:latin typeface="Calibri"/>
                        </a:rPr>
                        <a:t>No</a:t>
                      </a:r>
                    </a:p>
                  </a:txBody>
                  <a:tcPr marL="109728" marR="109728" marT="36576" marB="36576" anchor="ctr">
                    <a:solidFill>
                      <a:srgbClr val="0E1117"/>
                    </a:solidFill>
                  </a:tcPr>
                </a:tc>
              </a:tr>
              <a:tr h="475488">
                <a:tc>
                  <a:txBody>
                    <a:bodyPr wrap="square"/>
                    <a:lstStyle/>
                    <a:p>
                      <a:r>
                        <a:rPr sz="1300" b="0">
                          <a:solidFill>
                            <a:srgbClr val="A9AFBC"/>
                          </a:solidFill>
                          <a:latin typeface="Calibri"/>
                        </a:rPr>
                        <a:t>GARCH (GJR, Tuned)</a:t>
                      </a:r>
                    </a:p>
                  </a:txBody>
                  <a:tcPr marL="109728" marR="109728" marT="36576" marB="36576" anchor="ctr">
                    <a:solidFill>
                      <a:srgbClr val="12151C"/>
                    </a:solidFill>
                  </a:tcPr>
                </a:tc>
                <a:tc>
                  <a:txBody>
                    <a:bodyPr wrap="square"/>
                    <a:lstStyle/>
                    <a:p>
                      <a:r>
                        <a:rPr sz="1300" b="0">
                          <a:solidFill>
                            <a:srgbClr val="A9AFBC"/>
                          </a:solidFill>
                          <a:latin typeface="Calibri"/>
                        </a:rPr>
                        <a:t>0.003876</a:t>
                      </a:r>
                    </a:p>
                  </a:txBody>
                  <a:tcPr marL="109728" marR="109728" marT="36576" marB="36576" anchor="ctr">
                    <a:solidFill>
                      <a:srgbClr val="331E1E"/>
                    </a:solidFill>
                  </a:tcPr>
                </a:tc>
                <a:tc>
                  <a:txBody>
                    <a:bodyPr wrap="square"/>
                    <a:lstStyle/>
                    <a:p>
                      <a:r>
                        <a:rPr sz="1300" b="0">
                          <a:solidFill>
                            <a:srgbClr val="A9AFBC"/>
                          </a:solidFill>
                          <a:latin typeface="Calibri"/>
                        </a:rPr>
                        <a:t>-5.023</a:t>
                      </a:r>
                    </a:p>
                  </a:txBody>
                  <a:tcPr marL="109728" marR="109728" marT="36576" marB="36576" anchor="ctr">
                    <a:solidFill>
                      <a:srgbClr val="331E1E"/>
                    </a:solidFill>
                  </a:tcPr>
                </a:tc>
                <a:tc>
                  <a:txBody>
                    <a:bodyPr wrap="square"/>
                    <a:lstStyle/>
                    <a:p>
                      <a:r>
                        <a:rPr sz="1300" b="0">
                          <a:solidFill>
                            <a:srgbClr val="A9AFBC"/>
                          </a:solidFill>
                          <a:latin typeface="Calibri"/>
                        </a:rPr>
                        <a:t>90.54%</a:t>
                      </a:r>
                    </a:p>
                  </a:txBody>
                  <a:tcPr marL="109728" marR="109728" marT="36576" marB="36576" anchor="ctr">
                    <a:solidFill>
                      <a:srgbClr val="12151C"/>
                    </a:solidFill>
                  </a:tcPr>
                </a:tc>
                <a:tc>
                  <a:txBody>
                    <a:bodyPr wrap="square"/>
                    <a:lstStyle/>
                    <a:p>
                      <a:r>
                        <a:rPr sz="1300" b="0">
                          <a:solidFill>
                            <a:srgbClr val="A9AFBC"/>
                          </a:solidFill>
                          <a:latin typeface="Calibri"/>
                        </a:rPr>
                        <a:t>No</a:t>
                      </a:r>
                    </a:p>
                  </a:txBody>
                  <a:tcPr marL="109728" marR="109728" marT="36576" marB="36576" anchor="ctr">
                    <a:solidFill>
                      <a:srgbClr val="12151C"/>
                    </a:solidFill>
                  </a:tcPr>
                </a:tc>
              </a:tr>
              <a:tr h="475488">
                <a:tc>
                  <a:txBody>
                    <a:bodyPr wrap="square"/>
                    <a:lstStyle/>
                    <a:p>
                      <a:r>
                        <a:rPr sz="1300" b="0">
                          <a:solidFill>
                            <a:srgbClr val="A9AFBC"/>
                          </a:solidFill>
                          <a:latin typeface="Calibri"/>
                        </a:rPr>
                        <a:t>HAR-RV-X (Final)</a:t>
                      </a:r>
                    </a:p>
                  </a:txBody>
                  <a:tcPr marL="109728" marR="109728" marT="36576" marB="36576" anchor="ctr">
                    <a:solidFill>
                      <a:srgbClr val="0E1117"/>
                    </a:solidFill>
                  </a:tcPr>
                </a:tc>
                <a:tc>
                  <a:txBody>
                    <a:bodyPr wrap="square"/>
                    <a:lstStyle/>
                    <a:p>
                      <a:r>
                        <a:rPr sz="1300" b="0">
                          <a:solidFill>
                            <a:srgbClr val="A9AFBC"/>
                          </a:solidFill>
                          <a:latin typeface="Calibri"/>
                        </a:rPr>
                        <a:t>0.001367</a:t>
                      </a:r>
                    </a:p>
                  </a:txBody>
                  <a:tcPr marL="109728" marR="109728" marT="36576" marB="36576" anchor="ctr">
                    <a:solidFill>
                      <a:srgbClr val="2A3322"/>
                    </a:solidFill>
                  </a:tcPr>
                </a:tc>
                <a:tc>
                  <a:txBody>
                    <a:bodyPr wrap="square"/>
                    <a:lstStyle/>
                    <a:p>
                      <a:r>
                        <a:rPr sz="1300" b="0">
                          <a:solidFill>
                            <a:srgbClr val="A9AFBC"/>
                          </a:solidFill>
                          <a:latin typeface="Calibri"/>
                        </a:rPr>
                        <a:t>0.242</a:t>
                      </a:r>
                    </a:p>
                  </a:txBody>
                  <a:tcPr marL="109728" marR="109728" marT="36576" marB="36576" anchor="ctr">
                    <a:solidFill>
                      <a:srgbClr val="2A3322"/>
                    </a:solidFill>
                  </a:tcPr>
                </a:tc>
                <a:tc>
                  <a:txBody>
                    <a:bodyPr wrap="square"/>
                    <a:lstStyle/>
                    <a:p>
                      <a:r>
                        <a:rPr sz="1300" b="0">
                          <a:solidFill>
                            <a:srgbClr val="A9AFBC"/>
                          </a:solidFill>
                          <a:latin typeface="Calibri"/>
                        </a:rPr>
                        <a:t>22.83%</a:t>
                      </a:r>
                    </a:p>
                  </a:txBody>
                  <a:tcPr marL="109728" marR="109728" marT="36576" marB="36576" anchor="ctr">
                    <a:solidFill>
                      <a:srgbClr val="0E1117"/>
                    </a:solidFill>
                  </a:tcPr>
                </a:tc>
                <a:tc>
                  <a:txBody>
                    <a:bodyPr wrap="square"/>
                    <a:lstStyle/>
                    <a:p>
                      <a:r>
                        <a:rPr sz="1300" b="0">
                          <a:solidFill>
                            <a:srgbClr val="A9AFBC"/>
                          </a:solidFill>
                          <a:latin typeface="Calibri"/>
                        </a:rPr>
                        <a:t>Yes</a:t>
                      </a:r>
                    </a:p>
                  </a:txBody>
                  <a:tcPr marL="109728" marR="109728" marT="36576" marB="36576" anchor="ctr">
                    <a:solidFill>
                      <a:srgbClr val="0E1117"/>
                    </a:solidFill>
                  </a:tcPr>
                </a:tc>
              </a:tr>
              <a:tr h="475488">
                <a:tc>
                  <a:txBody>
                    <a:bodyPr wrap="square"/>
                    <a:lstStyle/>
                    <a:p>
                      <a:r>
                        <a:rPr sz="1300" b="0">
                          <a:solidFill>
                            <a:srgbClr val="A9AFBC"/>
                          </a:solidFill>
                          <a:latin typeface="Calibri"/>
                        </a:rPr>
                        <a:t>EWMA (lambda=0.995)</a:t>
                      </a:r>
                    </a:p>
                  </a:txBody>
                  <a:tcPr marL="109728" marR="109728" marT="36576" marB="36576" anchor="ctr">
                    <a:solidFill>
                      <a:srgbClr val="12151C"/>
                    </a:solidFill>
                  </a:tcPr>
                </a:tc>
                <a:tc>
                  <a:txBody>
                    <a:bodyPr wrap="square"/>
                    <a:lstStyle/>
                    <a:p>
                      <a:r>
                        <a:rPr sz="1300" b="0">
                          <a:solidFill>
                            <a:srgbClr val="A9AFBC"/>
                          </a:solidFill>
                          <a:latin typeface="Calibri"/>
                        </a:rPr>
                        <a:t>0.001532</a:t>
                      </a:r>
                    </a:p>
                  </a:txBody>
                  <a:tcPr marL="109728" marR="109728" marT="36576" marB="36576" anchor="ctr">
                    <a:solidFill>
                      <a:srgbClr val="12151C"/>
                    </a:solidFill>
                  </a:tcPr>
                </a:tc>
                <a:tc>
                  <a:txBody>
                    <a:bodyPr wrap="square"/>
                    <a:lstStyle/>
                    <a:p>
                      <a:r>
                        <a:rPr sz="1300" b="0">
                          <a:solidFill>
                            <a:srgbClr val="A9AFBC"/>
                          </a:solidFill>
                          <a:latin typeface="Calibri"/>
                        </a:rPr>
                        <a:t>0.059</a:t>
                      </a:r>
                    </a:p>
                  </a:txBody>
                  <a:tcPr marL="109728" marR="109728" marT="36576" marB="36576" anchor="ctr">
                    <a:solidFill>
                      <a:srgbClr val="12151C"/>
                    </a:solidFill>
                  </a:tcPr>
                </a:tc>
                <a:tc>
                  <a:txBody>
                    <a:bodyPr wrap="square"/>
                    <a:lstStyle/>
                    <a:p>
                      <a:r>
                        <a:rPr sz="1300" b="0">
                          <a:solidFill>
                            <a:srgbClr val="A9AFBC"/>
                          </a:solidFill>
                          <a:latin typeface="Calibri"/>
                        </a:rPr>
                        <a:t>23.71%</a:t>
                      </a:r>
                    </a:p>
                  </a:txBody>
                  <a:tcPr marL="109728" marR="109728" marT="36576" marB="36576" anchor="ctr">
                    <a:solidFill>
                      <a:srgbClr val="12151C"/>
                    </a:solidFill>
                  </a:tcPr>
                </a:tc>
                <a:tc>
                  <a:txBody>
                    <a:bodyPr wrap="square"/>
                    <a:lstStyle/>
                    <a:p>
                      <a:r>
                        <a:rPr sz="1300" b="0">
                          <a:solidFill>
                            <a:srgbClr val="A9AFBC"/>
                          </a:solidFill>
                          <a:latin typeface="Calibri"/>
                        </a:rPr>
                        <a:t>Yes</a:t>
                      </a:r>
                    </a:p>
                  </a:txBody>
                  <a:tcPr marL="109728" marR="109728" marT="36576" marB="36576" anchor="ctr">
                    <a:solidFill>
                      <a:srgbClr val="12151C"/>
                    </a:solidFill>
                  </a:tcPr>
                </a:tc>
              </a:tr>
            </a:tbl>
          </a:graphicData>
        </a:graphic>
      </p:graphicFrame>
      <p:sp>
        <p:nvSpPr>
          <p:cNvPr id="7" name="Rectangle 6"/>
          <p:cNvSpPr/>
          <p:nvPr/>
        </p:nvSpPr>
        <p:spPr>
          <a:xfrm>
            <a:off x="502920" y="4892040"/>
            <a:ext cx="11155680" cy="13716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892040"/>
            <a:ext cx="45720" cy="137160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0200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FINDING</a:t>
            </a:r>
          </a:p>
        </p:txBody>
      </p:sp>
      <p:sp>
        <p:nvSpPr>
          <p:cNvPr id="10" name="TextBox 9"/>
          <p:cNvSpPr txBox="1"/>
          <p:nvPr/>
        </p:nvSpPr>
        <p:spPr>
          <a:xfrm>
            <a:off x="777240" y="5312664"/>
            <a:ext cx="10607040" cy="8229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HAR-RV-X (Final) wins on every metric, beating naive persistence by 17.1% lower RMSE. Both HAR-RV-X and EWMA clear the persistence bar; GARCH and Holt-Winters do not. This gap holds up on genuinely unseen live data too (Section: Live Testing), not just this historical split.</a:t>
            </a:r>
          </a:p>
        </p:txBody>
      </p:sp>
      <p:sp>
        <p:nvSpPr>
          <p:cNvPr id="11" name="TextBox 1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Limitations</a:t>
            </a:r>
          </a:p>
        </p:txBody>
      </p:sp>
      <p:sp>
        <p:nvSpPr>
          <p:cNvPr id="5" name="Rectangle 4"/>
          <p:cNvSpPr/>
          <p:nvPr/>
        </p:nvSpPr>
        <p:spPr>
          <a:xfrm>
            <a:off x="50292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01</a:t>
            </a:r>
          </a:p>
        </p:txBody>
      </p:sp>
      <p:sp>
        <p:nvSpPr>
          <p:cNvPr id="7" name="TextBox 6"/>
          <p:cNvSpPr txBox="1"/>
          <p:nvPr/>
        </p:nvSpPr>
        <p:spPr>
          <a:xfrm>
            <a:off x="75895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Data Constraints</a:t>
            </a:r>
          </a:p>
        </p:txBody>
      </p:sp>
      <p:sp>
        <p:nvSpPr>
          <p:cNvPr id="8" name="TextBox 7"/>
          <p:cNvSpPr txBox="1"/>
          <p:nvPr/>
        </p:nvSpPr>
        <p:spPr>
          <a:xfrm>
            <a:off x="75895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9" name="TextBox 8"/>
          <p:cNvSpPr txBox="1"/>
          <p:nvPr/>
        </p:nvSpPr>
        <p:spPr>
          <a:xfrm>
            <a:off x="96012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No fundamental or on-chain signals (only price/volume history).</a:t>
            </a:r>
          </a:p>
        </p:txBody>
      </p:sp>
      <p:sp>
        <p:nvSpPr>
          <p:cNvPr id="10" name="TextBox 9"/>
          <p:cNvSpPr txBox="1"/>
          <p:nvPr/>
        </p:nvSpPr>
        <p:spPr>
          <a:xfrm>
            <a:off x="75895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1" name="TextBox 10"/>
          <p:cNvSpPr txBox="1"/>
          <p:nvPr/>
        </p:nvSpPr>
        <p:spPr>
          <a:xfrm>
            <a:off x="96012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News, regulation, and macro shocks are invisible to the model.</a:t>
            </a:r>
          </a:p>
        </p:txBody>
      </p:sp>
      <p:sp>
        <p:nvSpPr>
          <p:cNvPr id="12" name="TextBox 11"/>
          <p:cNvSpPr txBox="1"/>
          <p:nvPr/>
        </p:nvSpPr>
        <p:spPr>
          <a:xfrm>
            <a:off x="75895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3" name="TextBox 12"/>
          <p:cNvSpPr txBox="1"/>
          <p:nvPr/>
        </p:nvSpPr>
        <p:spPr>
          <a:xfrm>
            <a:off x="96012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Single asset - no cross-crypto spillover signal used.</a:t>
            </a:r>
          </a:p>
        </p:txBody>
      </p:sp>
      <p:sp>
        <p:nvSpPr>
          <p:cNvPr id="14" name="Rectangle 13"/>
          <p:cNvSpPr/>
          <p:nvPr/>
        </p:nvSpPr>
        <p:spPr>
          <a:xfrm>
            <a:off x="429768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02</a:t>
            </a:r>
          </a:p>
        </p:txBody>
      </p:sp>
      <p:sp>
        <p:nvSpPr>
          <p:cNvPr id="16" name="TextBox 15"/>
          <p:cNvSpPr txBox="1"/>
          <p:nvPr/>
        </p:nvSpPr>
        <p:spPr>
          <a:xfrm>
            <a:off x="455371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Modeling Constraints</a:t>
            </a:r>
          </a:p>
        </p:txBody>
      </p:sp>
      <p:sp>
        <p:nvSpPr>
          <p:cNvPr id="17" name="TextBox 16"/>
          <p:cNvSpPr txBox="1"/>
          <p:nvPr/>
        </p:nvSpPr>
        <p:spPr>
          <a:xfrm>
            <a:off x="455371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8" name="TextBox 17"/>
          <p:cNvSpPr txBox="1"/>
          <p:nvPr/>
        </p:nvSpPr>
        <p:spPr>
          <a:xfrm>
            <a:off x="475488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GARCH's mean-reversion is structural, not tunable away.</a:t>
            </a:r>
          </a:p>
        </p:txBody>
      </p:sp>
      <p:sp>
        <p:nvSpPr>
          <p:cNvPr id="19" name="TextBox 18"/>
          <p:cNvSpPr txBox="1"/>
          <p:nvPr/>
        </p:nvSpPr>
        <p:spPr>
          <a:xfrm>
            <a:off x="455371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0" name="TextBox 19"/>
          <p:cNvSpPr txBox="1"/>
          <p:nvPr/>
        </p:nvSpPr>
        <p:spPr>
          <a:xfrm>
            <a:off x="475488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Twenty-two robustness checks tested; most did not beat HAR-RV-X.</a:t>
            </a:r>
          </a:p>
        </p:txBody>
      </p:sp>
      <p:sp>
        <p:nvSpPr>
          <p:cNvPr id="21" name="TextBox 20"/>
          <p:cNvSpPr txBox="1"/>
          <p:nvPr/>
        </p:nvSpPr>
        <p:spPr>
          <a:xfrm>
            <a:off x="455371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2" name="TextBox 21"/>
          <p:cNvSpPr txBox="1"/>
          <p:nvPr/>
        </p:nvSpPr>
        <p:spPr>
          <a:xfrm>
            <a:off x="475488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Hardware/time limited exhaustive deep-learning exploration.</a:t>
            </a:r>
          </a:p>
        </p:txBody>
      </p:sp>
      <p:sp>
        <p:nvSpPr>
          <p:cNvPr id="23" name="Rectangle 22"/>
          <p:cNvSpPr/>
          <p:nvPr/>
        </p:nvSpPr>
        <p:spPr>
          <a:xfrm>
            <a:off x="809244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4847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03</a:t>
            </a:r>
          </a:p>
        </p:txBody>
      </p:sp>
      <p:sp>
        <p:nvSpPr>
          <p:cNvPr id="25" name="TextBox 24"/>
          <p:cNvSpPr txBox="1"/>
          <p:nvPr/>
        </p:nvSpPr>
        <p:spPr>
          <a:xfrm>
            <a:off x="834847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Statistical Ceiling</a:t>
            </a:r>
          </a:p>
        </p:txBody>
      </p:sp>
      <p:sp>
        <p:nvSpPr>
          <p:cNvPr id="26" name="TextBox 25"/>
          <p:cNvSpPr txBox="1"/>
          <p:nvPr/>
        </p:nvSpPr>
        <p:spPr>
          <a:xfrm>
            <a:off x="834847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7" name="TextBox 26"/>
          <p:cNvSpPr txBox="1"/>
          <p:nvPr/>
        </p:nvSpPr>
        <p:spPr>
          <a:xfrm>
            <a:off x="854964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Feature correlations with the target are inherently weak.</a:t>
            </a:r>
          </a:p>
        </p:txBody>
      </p:sp>
      <p:sp>
        <p:nvSpPr>
          <p:cNvPr id="28" name="TextBox 27"/>
          <p:cNvSpPr txBox="1"/>
          <p:nvPr/>
        </p:nvSpPr>
        <p:spPr>
          <a:xfrm>
            <a:off x="834847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9" name="TextBox 28"/>
          <p:cNvSpPr txBox="1"/>
          <p:nvPr/>
        </p:nvSpPr>
        <p:spPr>
          <a:xfrm>
            <a:off x="854964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Models cannot exceed the information content of their inputs.</a:t>
            </a:r>
          </a:p>
        </p:txBody>
      </p:sp>
      <p:sp>
        <p:nvSpPr>
          <p:cNvPr id="30" name="TextBox 29"/>
          <p:cNvSpPr txBox="1"/>
          <p:nvPr/>
        </p:nvSpPr>
        <p:spPr>
          <a:xfrm>
            <a:off x="834847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31" name="TextBox 30"/>
          <p:cNvSpPr txBox="1"/>
          <p:nvPr/>
        </p:nvSpPr>
        <p:spPr>
          <a:xfrm>
            <a:off x="854964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 modest R2 ceiling is a predictable result of that signal, not a bug.</a:t>
            </a:r>
          </a:p>
        </p:txBody>
      </p:sp>
      <p:sp>
        <p:nvSpPr>
          <p:cNvPr id="32" name="Rectangle 31"/>
          <p:cNvSpPr/>
          <p:nvPr/>
        </p:nvSpPr>
        <p:spPr>
          <a:xfrm>
            <a:off x="502920" y="4937760"/>
            <a:ext cx="1115568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377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6577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TAKEAWAY</a:t>
            </a:r>
          </a:p>
        </p:txBody>
      </p:sp>
      <p:sp>
        <p:nvSpPr>
          <p:cNvPr id="35" name="TextBox 34"/>
          <p:cNvSpPr txBox="1"/>
          <p:nvPr/>
        </p:nvSpPr>
        <p:spPr>
          <a:xfrm>
            <a:off x="777240" y="5358384"/>
            <a:ext cx="1060704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Meaningful improvement needs genuinely new information (news sentiment, on-chain metrics), not further tuning of what's already here. Neither more model complexity nor more compute alone is sufficient.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Operational Implications</a:t>
            </a:r>
          </a:p>
        </p:txBody>
      </p:sp>
      <p:sp>
        <p:nvSpPr>
          <p:cNvPr id="5" name="TextBox 4"/>
          <p:cNvSpPr txBox="1"/>
          <p:nvPr/>
        </p:nvSpPr>
        <p:spPr>
          <a:xfrm>
            <a:off x="685800" y="1005840"/>
            <a:ext cx="8229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Where a 0.24 R2 forecast is genuinely useful - and where it is not.</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5B7FA8"/>
                </a:solidFill>
                <a:latin typeface="Calibri"/>
              </a:rPr>
              <a:t>Appropriate Uses</a:t>
            </a:r>
          </a:p>
        </p:txBody>
      </p:sp>
      <p:sp>
        <p:nvSpPr>
          <p:cNvPr id="7" name="TextBox 6"/>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C4645A"/>
                </a:solidFill>
                <a:latin typeface="Calibri"/>
              </a:rPr>
              <a:t>Inappropriate Uses</a:t>
            </a:r>
          </a:p>
        </p:txBody>
      </p:sp>
      <p:sp>
        <p:nvSpPr>
          <p:cNvPr id="8" name="Rectangle 7"/>
          <p:cNvSpPr/>
          <p:nvPr/>
        </p:nvSpPr>
        <p:spPr>
          <a:xfrm>
            <a:off x="50292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1168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Position Sizing</a:t>
            </a:r>
          </a:p>
        </p:txBody>
      </p:sp>
      <p:sp>
        <p:nvSpPr>
          <p:cNvPr id="11" name="TextBox 10"/>
          <p:cNvSpPr txBox="1"/>
          <p:nvPr/>
        </p:nvSpPr>
        <p:spPr>
          <a:xfrm>
            <a:off x="73152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Scale trade size to the forecast - bigger expected move, smaller position.</a:t>
            </a:r>
          </a:p>
        </p:txBody>
      </p:sp>
      <p:sp>
        <p:nvSpPr>
          <p:cNvPr id="12" name="Rectangle 11"/>
          <p:cNvSpPr/>
          <p:nvPr/>
        </p:nvSpPr>
        <p:spPr>
          <a:xfrm>
            <a:off x="50292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Options Pricing Input</a:t>
            </a:r>
          </a:p>
        </p:txBody>
      </p:sp>
      <p:sp>
        <p:nvSpPr>
          <p:cNvPr id="15" name="TextBox 14"/>
          <p:cNvSpPr txBox="1"/>
          <p:nvPr/>
        </p:nvSpPr>
        <p:spPr>
          <a:xfrm>
            <a:off x="73152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One data-driven volatility estimate to compare against market pricing.</a:t>
            </a:r>
          </a:p>
        </p:txBody>
      </p:sp>
      <p:sp>
        <p:nvSpPr>
          <p:cNvPr id="16" name="Rectangle 15"/>
          <p:cNvSpPr/>
          <p:nvPr/>
        </p:nvSpPr>
        <p:spPr>
          <a:xfrm>
            <a:off x="50292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93192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Risk Reporting</a:t>
            </a:r>
          </a:p>
        </p:txBody>
      </p:sp>
      <p:sp>
        <p:nvSpPr>
          <p:cNvPr id="19" name="TextBox 18"/>
          <p:cNvSpPr txBox="1"/>
          <p:nvPr/>
        </p:nvSpPr>
        <p:spPr>
          <a:xfrm>
            <a:off x="73152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continuous VaR input for weekly risk reviews, not a single trade call.</a:t>
            </a:r>
          </a:p>
        </p:txBody>
      </p:sp>
      <p:sp>
        <p:nvSpPr>
          <p:cNvPr id="20" name="Rectangle 19"/>
          <p:cNvSpPr/>
          <p:nvPr/>
        </p:nvSpPr>
        <p:spPr>
          <a:xfrm>
            <a:off x="603504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Sole Trading Signal</a:t>
            </a:r>
          </a:p>
        </p:txBody>
      </p:sp>
      <p:sp>
        <p:nvSpPr>
          <p:cNvPr id="23" name="TextBox 22"/>
          <p:cNvSpPr txBox="1"/>
          <p:nvPr/>
        </p:nvSpPr>
        <p:spPr>
          <a:xfrm>
            <a:off x="626364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Explains ~24% of variance - never trade on this number alone.</a:t>
            </a:r>
          </a:p>
        </p:txBody>
      </p:sp>
      <p:sp>
        <p:nvSpPr>
          <p:cNvPr id="24" name="Rectangle 23"/>
          <p:cNvSpPr/>
          <p:nvPr/>
        </p:nvSpPr>
        <p:spPr>
          <a:xfrm>
            <a:off x="603504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297180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Real-Time Execution</a:t>
            </a:r>
          </a:p>
        </p:txBody>
      </p:sp>
      <p:sp>
        <p:nvSpPr>
          <p:cNvPr id="27" name="TextBox 26"/>
          <p:cNvSpPr txBox="1"/>
          <p:nvPr/>
        </p:nvSpPr>
        <p:spPr>
          <a:xfrm>
            <a:off x="626364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Not built or tested for split-second, automated trade triggers.</a:t>
            </a:r>
          </a:p>
        </p:txBody>
      </p:sp>
      <p:sp>
        <p:nvSpPr>
          <p:cNvPr id="28" name="Rectangle 27"/>
          <p:cNvSpPr/>
          <p:nvPr/>
        </p:nvSpPr>
        <p:spPr>
          <a:xfrm>
            <a:off x="603504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393192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Certainty in Legal/Compliance Filings</a:t>
            </a:r>
          </a:p>
        </p:txBody>
      </p:sp>
      <p:sp>
        <p:nvSpPr>
          <p:cNvPr id="31" name="TextBox 30"/>
          <p:cNvSpPr txBox="1"/>
          <p:nvPr/>
        </p:nvSpPr>
        <p:spPr>
          <a:xfrm>
            <a:off x="626364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forecast with real error bars, not a guarantee.</a:t>
            </a:r>
          </a:p>
        </p:txBody>
      </p:sp>
      <p:sp>
        <p:nvSpPr>
          <p:cNvPr id="32" name="Rectangle 31"/>
          <p:cNvSpPr/>
          <p:nvPr/>
        </p:nvSpPr>
        <p:spPr>
          <a:xfrm>
            <a:off x="502920" y="5074920"/>
            <a:ext cx="10744200" cy="685800"/>
          </a:xfrm>
          <a:prstGeom prst="rect">
            <a:avLst/>
          </a:prstGeom>
          <a:solidFill>
            <a:srgbClr val="080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074920"/>
            <a:ext cx="10744200" cy="685800"/>
          </a:xfrm>
          <a:prstGeom prst="rect">
            <a:avLst/>
          </a:prstGeom>
          <a:noFill/>
        </p:spPr>
        <p:txBody>
          <a:bodyPr wrap="square" anchor="ctr" lIns="0" rIns="0" tIns="0" bIns="0">
            <a:spAutoFit/>
          </a:bodyPr>
          <a:lstStyle/>
          <a:p>
            <a:pPr algn="ctr">
              <a:lnSpc>
                <a:spcPct val="100000"/>
              </a:lnSpc>
              <a:spcAft>
                <a:spcPts val="0"/>
              </a:spcAft>
            </a:pPr>
            <a:r>
              <a:rPr sz="1500" b="1" i="0">
                <a:solidFill>
                  <a:srgbClr val="E8C99B"/>
                </a:solidFill>
                <a:latin typeface="Calibri"/>
              </a:rPr>
              <a:t>One input, not the final answer.</a:t>
            </a:r>
          </a:p>
        </p:txBody>
      </p:sp>
      <p:sp>
        <p:nvSpPr>
          <p:cNvPr id="34" name="TextBox 3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09728"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54864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CONCLUSION</a:t>
            </a:r>
          </a:p>
        </p:txBody>
      </p:sp>
      <p:sp>
        <p:nvSpPr>
          <p:cNvPr id="5" name="TextBox 4"/>
          <p:cNvSpPr txBox="1"/>
          <p:nvPr/>
        </p:nvSpPr>
        <p:spPr>
          <a:xfrm>
            <a:off x="822960" y="2331720"/>
            <a:ext cx="9601200" cy="1554480"/>
          </a:xfrm>
          <a:prstGeom prst="rect">
            <a:avLst/>
          </a:prstGeom>
          <a:noFill/>
        </p:spPr>
        <p:txBody>
          <a:bodyPr wrap="square" anchor="t" lIns="0" rIns="0" tIns="0" bIns="0">
            <a:spAutoFit/>
          </a:bodyPr>
          <a:lstStyle/>
          <a:p>
            <a:pPr algn="l">
              <a:lnSpc>
                <a:spcPct val="105000"/>
              </a:lnSpc>
              <a:spcAft>
                <a:spcPts val="0"/>
              </a:spcAft>
            </a:pPr>
            <a:r>
              <a:rPr sz="4000" b="1" i="0">
                <a:solidFill>
                  <a:srgbClr val="FFFFFF"/>
                </a:solidFill>
                <a:latin typeface="Calibri"/>
              </a:rPr>
              <a:t>Purpose-Built Regressors,</a:t>
            </a:r>
          </a:p>
          <a:p>
            <a:pPr algn="l">
              <a:lnSpc>
                <a:spcPct val="105000"/>
              </a:lnSpc>
              <a:spcAft>
                <a:spcPts val="0"/>
              </a:spcAft>
            </a:pPr>
            <a:r>
              <a:rPr sz="4000" b="1" i="0">
                <a:solidFill>
                  <a:srgbClr val="FFFFFF"/>
                </a:solidFill>
                <a:latin typeface="Calibri"/>
              </a:rPr>
              <a:t>Not More Complexity</a:t>
            </a:r>
          </a:p>
        </p:txBody>
      </p:sp>
      <p:sp>
        <p:nvSpPr>
          <p:cNvPr id="6" name="Rectangle 5"/>
          <p:cNvSpPr/>
          <p:nvPr/>
        </p:nvSpPr>
        <p:spPr>
          <a:xfrm>
            <a:off x="822960" y="3794760"/>
            <a:ext cx="1463040" cy="3810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023360"/>
            <a:ext cx="9144000" cy="822960"/>
          </a:xfrm>
          <a:prstGeom prst="rect">
            <a:avLst/>
          </a:prstGeom>
          <a:noFill/>
        </p:spPr>
        <p:txBody>
          <a:bodyPr wrap="square" anchor="t" lIns="0" rIns="0" tIns="0" bIns="0">
            <a:spAutoFit/>
          </a:bodyPr>
          <a:lstStyle/>
          <a:p>
            <a:pPr algn="l">
              <a:lnSpc>
                <a:spcPct val="130000"/>
              </a:lnSpc>
              <a:spcAft>
                <a:spcPts val="0"/>
              </a:spcAft>
            </a:pPr>
            <a:r>
              <a:rPr sz="1400" b="0" i="0">
                <a:solidFill>
                  <a:srgbClr val="A9AFBC"/>
                </a:solidFill>
                <a:latin typeface="Calibri"/>
              </a:rPr>
              <a:t>EDA and feature selection revealed weak, concentrated correlations that set a real ceiling on achievable accuracy. Every attempt to beat that ceiling with a more flexible model - XGBoost, LSTM, ARIMA - lost to HAR-RV-X's three theoretically-motivated regressors.</a:t>
            </a:r>
          </a:p>
        </p:txBody>
      </p:sp>
      <p:sp>
        <p:nvSpPr>
          <p:cNvPr id="8" name="TextBox 7"/>
          <p:cNvSpPr txBox="1"/>
          <p:nvPr/>
        </p:nvSpPr>
        <p:spPr>
          <a:xfrm>
            <a:off x="822960" y="5120640"/>
            <a:ext cx="9601200" cy="548640"/>
          </a:xfrm>
          <a:prstGeom prst="rect">
            <a:avLst/>
          </a:prstGeom>
          <a:noFill/>
        </p:spPr>
        <p:txBody>
          <a:bodyPr wrap="square" anchor="t" lIns="0" rIns="0" tIns="0" bIns="0">
            <a:spAutoFit/>
          </a:bodyPr>
          <a:lstStyle/>
          <a:p>
            <a:pPr algn="l">
              <a:lnSpc>
                <a:spcPct val="105000"/>
              </a:lnSpc>
            </a:pPr>
            <a:r>
              <a:rPr sz="1700" b="1">
                <a:solidFill>
                  <a:srgbClr val="FFFFFF"/>
                </a:solidFill>
                <a:latin typeface="Calibri"/>
              </a:rPr>
              <a:t>This is a feature-information problem, not a model-architecture problem.</a:t>
            </a:r>
          </a:p>
        </p:txBody>
      </p:sp>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Bitcoin Volatility Prediction</dc:title>
  <dc:subject>Capstone Project</dc:subject>
  <dc:creator>Mohammed Hejairi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