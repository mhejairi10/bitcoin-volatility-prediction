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14"/>
  </p:normalViewPr>
  <p:slideViewPr>
    <p:cSldViewPr snapToGrid="0" snapToObjects="1">
      <p:cViewPr>
        <p:scale>
          <a:sx n="123" d="100"/>
          <a:sy n="123" d="100"/>
        </p:scale>
        <p:origin x="160" y="4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pur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286000"/>
            <a:ext cx="9144000" cy="14564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4600" b="1" i="0" dirty="0">
                <a:solidFill>
                  <a:srgbClr val="FFFFFF"/>
                </a:solidFill>
                <a:latin typeface="Calibri"/>
              </a:rPr>
              <a:t>Forecasting Bitcoin 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4600" b="1" dirty="0">
                <a:solidFill>
                  <a:srgbClr val="FFFFFF"/>
                </a:solidFill>
                <a:latin typeface="Calibri"/>
              </a:rPr>
              <a:t>Volatility</a:t>
            </a:r>
            <a:endParaRPr sz="4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A9AFBC"/>
                </a:solidFill>
                <a:latin typeface="Calibri"/>
              </a:rPr>
              <a:t>Forecasting 7-day realized volatility, not price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MOHAMMED HEJAIRI  ·  DSB2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3093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CAPSTONE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What Is Volatility, and Why Predict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2120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0" i="0">
                <a:solidFill>
                  <a:srgbClr val="A9AFBC"/>
                </a:solidFill>
                <a:latin typeface="Calibri"/>
              </a:rPr>
              <a:t>Volatility measures the dispersion of price movements over time, independent of direction. Low volatility means small, tight moves; high volatility means large, rapid swings either way.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10473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Wh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y Predicting It Matters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562062"/>
              </p:ext>
            </p:extLst>
          </p:nvPr>
        </p:nvGraphicFramePr>
        <p:xfrm>
          <a:off x="502920" y="3176233"/>
          <a:ext cx="5212080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Who Uses It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Options traders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Required input for Black-Scholes σ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Risk managers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Scales Value-at-Risk estimates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Traders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Position sizing under changing risk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Exchanges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Sets margin/collateral requirements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035040" y="1417320"/>
            <a:ext cx="5349240" cy="1874519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35040" y="1417320"/>
            <a:ext cx="45720" cy="1874519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9360" y="155448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5B7FA8"/>
                </a:solidFill>
                <a:latin typeface="Calibri"/>
              </a:rPr>
              <a:t>HOW IT'S CALCULATED</a:t>
            </a:r>
          </a:p>
        </p:txBody>
      </p:sp>
      <p:pic>
        <p:nvPicPr>
          <p:cNvPr id="15" name="Picture 14" descr="formula_vola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19"/>
            <a:ext cx="4480560" cy="10563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0" y="2971800"/>
            <a:ext cx="48463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1" dirty="0">
                <a:solidFill>
                  <a:srgbClr val="A9AFBC"/>
                </a:solidFill>
                <a:latin typeface="Calibri"/>
              </a:rPr>
              <a:t>r = hourly return</a:t>
            </a:r>
            <a:r>
              <a:rPr lang="en-US" sz="1050" b="0" i="1" dirty="0">
                <a:solidFill>
                  <a:srgbClr val="A9AFBC"/>
                </a:solidFill>
                <a:latin typeface="Calibri"/>
              </a:rPr>
              <a:t> rate</a:t>
            </a:r>
            <a:r>
              <a:rPr sz="1050" b="0" i="1" dirty="0">
                <a:solidFill>
                  <a:srgbClr val="A9AFBC"/>
                </a:solidFill>
                <a:latin typeface="Calibri"/>
              </a:rPr>
              <a:t>, r̄ = </a:t>
            </a:r>
            <a:r>
              <a:rPr lang="en-US" sz="1050" b="0" i="1" dirty="0">
                <a:solidFill>
                  <a:srgbClr val="A9AFBC"/>
                </a:solidFill>
                <a:latin typeface="Calibri"/>
              </a:rPr>
              <a:t>mean hourly return rate</a:t>
            </a:r>
            <a:r>
              <a:rPr sz="1050" b="0" i="1" dirty="0">
                <a:solidFill>
                  <a:srgbClr val="A9AFBC"/>
                </a:solidFill>
                <a:latin typeface="Calibri"/>
              </a:rPr>
              <a:t>, N = </a:t>
            </a:r>
            <a:r>
              <a:rPr lang="en-US" sz="1050" b="0" i="1" dirty="0">
                <a:solidFill>
                  <a:srgbClr val="A9AFBC"/>
                </a:solidFill>
                <a:latin typeface="Calibri"/>
              </a:rPr>
              <a:t>number of hours</a:t>
            </a:r>
            <a:endParaRPr sz="1050" b="0" i="1" dirty="0">
              <a:solidFill>
                <a:srgbClr val="A9AFBC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035040" y="3520440"/>
            <a:ext cx="5349240" cy="2423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370332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8C99B"/>
                </a:solidFill>
                <a:latin typeface="Calibri"/>
              </a:rPr>
              <a:t>INTUITION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114800"/>
            <a:ext cx="4846320" cy="7300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>
                <a:solidFill>
                  <a:srgbClr val="A9AFBC"/>
                </a:solidFill>
                <a:latin typeface="Calibri"/>
              </a:rPr>
              <a:t>The standard deviation of the last </a:t>
            </a:r>
            <a:r>
              <a:rPr lang="en-US" sz="1250" b="0" i="0" dirty="0">
                <a:solidFill>
                  <a:srgbClr val="A9AFBC"/>
                </a:solidFill>
                <a:latin typeface="Calibri"/>
              </a:rPr>
              <a:t>N</a:t>
            </a:r>
            <a:r>
              <a:rPr sz="1250" b="0" i="0" dirty="0">
                <a:solidFill>
                  <a:srgbClr val="A9AFBC"/>
                </a:solidFill>
                <a:latin typeface="Calibri"/>
              </a:rPr>
              <a:t> hourly return</a:t>
            </a:r>
            <a:r>
              <a:rPr lang="en-US" sz="1250" b="0" i="0" dirty="0">
                <a:solidFill>
                  <a:srgbClr val="A9AFBC"/>
                </a:solidFill>
                <a:latin typeface="Calibri"/>
              </a:rPr>
              <a:t> rate </a:t>
            </a:r>
            <a:r>
              <a:rPr sz="1250" b="0" i="0" dirty="0">
                <a:solidFill>
                  <a:srgbClr val="A9AFBC"/>
                </a:solidFill>
                <a:latin typeface="Calibri"/>
              </a:rPr>
              <a:t>. A wider spread around the mean means a more turbulent week</a:t>
            </a:r>
            <a:r>
              <a:rPr lang="en-US" sz="1250" dirty="0">
                <a:solidFill>
                  <a:srgbClr val="A9AFBC"/>
                </a:solidFill>
                <a:latin typeface="Calibri"/>
              </a:rPr>
              <a:t>, </a:t>
            </a:r>
            <a:r>
              <a:rPr sz="1250" b="0" i="0" dirty="0">
                <a:solidFill>
                  <a:srgbClr val="A9AFBC"/>
                </a:solidFill>
                <a:latin typeface="Calibri"/>
              </a:rPr>
              <a:t>a tighter spread means a calmer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0881360" cy="141732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45720" cy="141732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591056"/>
            <a:ext cx="10332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5B7FA8"/>
                </a:solidFill>
                <a:latin typeface="Calibri"/>
              </a:rPr>
              <a:t>THE 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83664"/>
            <a:ext cx="10332720" cy="4465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dirty="0">
                <a:solidFill>
                  <a:srgbClr val="A9AFBC"/>
                </a:solidFill>
                <a:latin typeface="Calibri"/>
              </a:rPr>
              <a:t>Predict Bitcoin's 7-day realized volatility, 168 hours ahead of the features used to predict it. This gives traders and risk desks a continuously-updating volatility estimate, usable directly in position-sizing and margin decisions.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Target 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6616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volatility_7d, 168h ahead of the 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931920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4050791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Horizon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50791"/>
            <a:ext cx="512064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 dirty="0">
                <a:solidFill>
                  <a:srgbClr val="FFFFFF"/>
                </a:solidFill>
                <a:latin typeface="Calibri"/>
              </a:rPr>
              <a:t>168 hours (7 days)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16552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4901184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3080" y="4561667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dirty="0">
                <a:solidFill>
                  <a:srgbClr val="A9AFBC"/>
                </a:solidFill>
                <a:latin typeface="Calibri"/>
              </a:rPr>
              <a:t>Success 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1100" y="4544146"/>
            <a:ext cx="3227324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 dirty="0">
                <a:solidFill>
                  <a:srgbClr val="FFFFFF"/>
                </a:solidFill>
                <a:latin typeface="Calibri"/>
              </a:rPr>
              <a:t>Beat naive persistence &amp; Holt-Winters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3154680"/>
            <a:ext cx="5349240" cy="2331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09360" y="33832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C99B"/>
                </a:solidFill>
                <a:latin typeface="Calibri"/>
              </a:rPr>
              <a:t>A NUMBER, NOT A CATEGORY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86200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Downstream uses - option pricing, Value-at-Risk, margin - need a continuous estimate, not a high/low label. That rules out classification: this is a regression problem.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80109" y="-37940"/>
            <a:ext cx="12387197" cy="694944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Data Overview &amp; Feature Dictionary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3566160" cy="1938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dirty="0">
                <a:solidFill>
                  <a:srgbClr val="E8C99B"/>
                </a:solidFill>
                <a:latin typeface="Calibri"/>
              </a:rPr>
              <a:t>DATASET:</a:t>
            </a:r>
            <a:r>
              <a:rPr lang="en-US" sz="1250" b="1" dirty="0">
                <a:solidFill>
                  <a:srgbClr val="E8C99B"/>
                </a:solidFill>
                <a:latin typeface="Calibri"/>
              </a:rPr>
              <a:t> CCXT API</a:t>
            </a:r>
            <a:r>
              <a:rPr sz="1250" b="1" dirty="0">
                <a:solidFill>
                  <a:srgbClr val="E8C99B"/>
                </a:solidFill>
                <a:latin typeface="Calibri"/>
              </a:rPr>
              <a:t>  </a:t>
            </a:r>
            <a:r>
              <a:rPr sz="1250" b="0" dirty="0">
                <a:solidFill>
                  <a:srgbClr val="A9AFBC"/>
                </a:solidFill>
                <a:latin typeface="Calibri"/>
              </a:rPr>
              <a:t>73,000+ hourly BTC/USDT records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4072453"/>
              </p:ext>
            </p:extLst>
          </p:nvPr>
        </p:nvGraphicFramePr>
        <p:xfrm>
          <a:off x="502920" y="2057400"/>
          <a:ext cx="1115568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lang="en-US" sz="1250" b="0" dirty="0">
                          <a:solidFill>
                            <a:srgbClr val="A9AFBC"/>
                          </a:solidFill>
                          <a:latin typeface="Calibri"/>
                        </a:rPr>
                        <a:t>Date </a:t>
                      </a:r>
                      <a:endParaRPr sz="1250" b="0" dirty="0">
                        <a:solidFill>
                          <a:srgbClr val="A9AFBC"/>
                        </a:solidFill>
                        <a:latin typeface="Calibri"/>
                      </a:endParaRP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0" dirty="0">
                          <a:solidFill>
                            <a:srgbClr val="A9AFBC"/>
                          </a:solidFill>
                          <a:latin typeface="Calibri"/>
                        </a:rPr>
                        <a:t>Stores the date in hours ( e.g. 2024-05-07 01:00:00) </a:t>
                      </a:r>
                      <a:endParaRPr sz="1250" b="0" dirty="0">
                        <a:solidFill>
                          <a:srgbClr val="A9AFBC"/>
                        </a:solidFill>
                        <a:latin typeface="Calibri"/>
                      </a:endParaRP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0" dirty="0">
                          <a:solidFill>
                            <a:srgbClr val="A9AFBC"/>
                          </a:solidFill>
                          <a:latin typeface="Calibri"/>
                        </a:rPr>
                        <a:t>Time</a:t>
                      </a:r>
                      <a:endParaRPr sz="1250" b="0" dirty="0">
                        <a:solidFill>
                          <a:srgbClr val="A9AFBC"/>
                        </a:solidFill>
                        <a:latin typeface="Calibri"/>
                      </a:endParaRP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61893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lang="en-US" sz="1250" b="0" dirty="0">
                          <a:solidFill>
                            <a:srgbClr val="A9AFBC"/>
                          </a:solidFill>
                          <a:latin typeface="Calibri"/>
                        </a:rPr>
                        <a:t>Open / High / Close / Volume</a:t>
                      </a:r>
                      <a:endParaRPr sz="1250" b="0" dirty="0">
                        <a:solidFill>
                          <a:srgbClr val="A9AFBC"/>
                        </a:solidFill>
                        <a:latin typeface="Calibri"/>
                      </a:endParaRP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0" dirty="0">
                          <a:solidFill>
                            <a:srgbClr val="A9AFBC"/>
                          </a:solidFill>
                          <a:latin typeface="Calibri"/>
                        </a:rPr>
                        <a:t>Classical columns of a cryptocurrency, extracted from the API </a:t>
                      </a:r>
                      <a:endParaRPr sz="1250" b="0" dirty="0">
                        <a:solidFill>
                          <a:srgbClr val="A9AFBC"/>
                        </a:solidFill>
                        <a:latin typeface="Calibri"/>
                      </a:endParaRP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A9AFBC"/>
                          </a:solidFill>
                          <a:latin typeface="Calibri"/>
                        </a:rPr>
                        <a:t>Numeric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0" dirty="0" err="1">
                          <a:solidFill>
                            <a:srgbClr val="A9AFBC"/>
                          </a:solidFill>
                          <a:latin typeface="Calibri"/>
                        </a:rPr>
                        <a:t>hourly_return</a:t>
                      </a:r>
                      <a:endParaRPr sz="1250" b="0" dirty="0">
                        <a:solidFill>
                          <a:srgbClr val="A9AFBC"/>
                        </a:solidFill>
                        <a:latin typeface="Calibri"/>
                      </a:endParaRP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A9AFBC"/>
                          </a:solidFill>
                          <a:latin typeface="Calibri"/>
                        </a:rPr>
                        <a:t>Hour-over-hour % price change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A9AFBC"/>
                          </a:solidFill>
                          <a:latin typeface="Calibri"/>
                        </a:rPr>
                        <a:t>Numeric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A9AFBC"/>
                          </a:solidFill>
                          <a:latin typeface="Calibri"/>
                        </a:rPr>
                        <a:t>volatility_7d (target)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A9AFBC"/>
                          </a:solidFill>
                          <a:latin typeface="Calibri"/>
                        </a:rPr>
                        <a:t>7-day realized volatility, 168h ahead of the features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dirty="0">
                          <a:solidFill>
                            <a:srgbClr val="A9AFBC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A9AFBC"/>
                </a:solidFill>
                <a:latin typeface="Calibri"/>
              </a:rPr>
              <a:t>Turning raw price data into usable signals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5394960" cy="1828800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70992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C99B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0116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HAR Horizons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4144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A9AFBC"/>
                </a:solidFill>
                <a:latin typeface="Calibri"/>
              </a:rPr>
              <a:t>Aggregated realized volatility at day/week/month windows to capture the long-memory pattern the realized-volatility literature expects (Corsi, 2009).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508760"/>
            <a:ext cx="5394960" cy="1828800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64808" y="170992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C99B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201168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ATR Scale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244144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A9AFBC"/>
                </a:solidFill>
                <a:latin typeface="Calibri"/>
              </a:rPr>
              <a:t>ATR was on a ~45,000x different scale from every other regressor - a genuine bug. Fixing it was the single biggest improvement in the project.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20440"/>
            <a:ext cx="5394960" cy="1828800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" y="372160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C99B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40233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EWMA Smoothing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445312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A9AFBC"/>
                </a:solidFill>
                <a:latin typeface="Calibri"/>
              </a:rPr>
              <a:t>Backtested the industry-standard exponential decay factor (λ) and added it as its own regressor, not just a separate model.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520440"/>
            <a:ext cx="5394960" cy="1828800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64808" y="372160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C99B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40233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 dirty="0">
                <a:solidFill>
                  <a:srgbClr val="FFFFFF"/>
                </a:solidFill>
                <a:latin typeface="Calibri"/>
              </a:rPr>
              <a:t>Realized Skewness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445312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A9AFBC"/>
                </a:solidFill>
                <a:latin typeface="Calibri"/>
              </a:rPr>
              <a:t>Captures return-distribution shape, not just magnitude - a genuinely different signal from the volatility-level regressors above.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Dataset &amp; Data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Data Cleaning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5257800" cy="658368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2029968"/>
            <a:ext cx="274320" cy="27432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002536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5716" y="2092239"/>
            <a:ext cx="4663440" cy="193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 dirty="0">
                <a:solidFill>
                  <a:srgbClr val="A9AFBC"/>
                </a:solidFill>
                <a:latin typeface="Calibri"/>
              </a:rPr>
              <a:t>Fixed 28 timestamp gaps in the trading data</a:t>
            </a:r>
            <a:r>
              <a:rPr lang="en-US" sz="1250" b="0" i="0" dirty="0">
                <a:solidFill>
                  <a:srgbClr val="A9AFBC"/>
                </a:solidFill>
                <a:latin typeface="Calibri"/>
              </a:rPr>
              <a:t>, date converted into index</a:t>
            </a:r>
            <a:endParaRPr sz="1250" b="0" i="0" dirty="0">
              <a:solidFill>
                <a:srgbClr val="A9AFBC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2920" y="2660904"/>
            <a:ext cx="5257800" cy="658368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" y="2852928"/>
            <a:ext cx="274320" cy="27432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2890060"/>
            <a:ext cx="27432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2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" y="2893170"/>
            <a:ext cx="4526280" cy="193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en-US" sz="1250" b="0" i="0" dirty="0">
                <a:solidFill>
                  <a:srgbClr val="A9AFBC"/>
                </a:solidFill>
                <a:latin typeface="Calibri"/>
              </a:rPr>
              <a:t>Check for any duplication, found none</a:t>
            </a:r>
            <a:endParaRPr sz="1250" b="0" i="0" dirty="0">
              <a:solidFill>
                <a:srgbClr val="A9AFBC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2920" y="3474163"/>
            <a:ext cx="5257800" cy="658368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8368" y="3686275"/>
            <a:ext cx="274320" cy="27432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3703319"/>
            <a:ext cx="27432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3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97280" y="3474163"/>
            <a:ext cx="45262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 dirty="0">
                <a:solidFill>
                  <a:srgbClr val="A9AFBC"/>
                </a:solidFill>
                <a:latin typeface="Calibri"/>
              </a:rPr>
              <a:t>Dropped ~30 days of rolling-window warm-up rows</a:t>
            </a:r>
          </a:p>
        </p:txBody>
      </p:sp>
      <p:pic>
        <p:nvPicPr>
          <p:cNvPr id="22" name="Picture 21" descr="vol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4815" y="2092734"/>
            <a:ext cx="5577840" cy="374903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4745735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 dirty="0">
                <a:solidFill>
                  <a:srgbClr val="FFFFFF"/>
                </a:solidFill>
                <a:latin typeface="Calibri"/>
              </a:rPr>
              <a:t>Regime Mapping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632878"/>
              </p:ext>
            </p:extLst>
          </p:nvPr>
        </p:nvGraphicFramePr>
        <p:xfrm>
          <a:off x="457200" y="5111495"/>
          <a:ext cx="5577840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Volatility Range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&lt;= 0.0047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0.0047 - 0.0070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A9AFBC"/>
                          </a:solidFill>
                          <a:latin typeface="Calibri"/>
                        </a:rPr>
                        <a:t>&gt; 0.0070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EDA: Temporal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A9AFBC"/>
                </a:solidFill>
                <a:latin typeface="Calibri"/>
              </a:rPr>
              <a:t>Is autocorrelation present - and how was it handled?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Diagnosing Autocorrelation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5212080" cy="1874519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965960"/>
            <a:ext cx="45720" cy="1874519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093976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C99B"/>
                </a:solidFill>
                <a:latin typeface="Calibri"/>
              </a:rPr>
              <a:t>PRESENT - CONFIRMED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86584"/>
            <a:ext cx="4663440" cy="13258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The ACF decays slowly across many lags (still ~0.9 at 48 hours) instead of dropping to zero, and the PACF shows that signal concentrated almost entirely at lag 1. This is genuine, strong autocorrelation - volatility clustering - not noise.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977639"/>
            <a:ext cx="5212080" cy="20574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3977639"/>
            <a:ext cx="45720" cy="205740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105655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5B7FA8"/>
                </a:solidFill>
                <a:latin typeface="Calibri"/>
              </a:rPr>
              <a:t>HOW IT WAS RESOLVED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98263"/>
            <a:ext cx="46634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Autocorrelated data breaks the i.i.d. assumption behind random splits and K-fold CV - a random shuffle would leak adjacent-in-time rows into training. Resolved with a chronological train/test split and TimeSeriesSplit CV (Preprocessing), plus lagged features - and by using the autocorrelation itself as HAR-RV-X's core signal, not discarding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55448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ACF / PACF (48 Lags)</a:t>
            </a:r>
          </a:p>
        </p:txBody>
      </p:sp>
      <p:pic>
        <p:nvPicPr>
          <p:cNvPr id="16" name="Picture 15" descr="acf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65960"/>
            <a:ext cx="5349240" cy="26517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035040" y="4892040"/>
            <a:ext cx="5212080" cy="1143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35040" y="4892040"/>
            <a:ext cx="45720" cy="1143000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5020056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C99B"/>
                </a:solidFill>
                <a:latin typeface="Calibri"/>
              </a:rPr>
              <a:t>TAKEAWAY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5312664"/>
            <a:ext cx="46634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Autocorrelation isn't a nuisance to remove here - it's the predictive signal. HAR-RV-X's lagged, multi-horizon regressors exploit it directly, while chronological splitting keeps evaluation honest.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Feature Selection: Correlation &amp; Effect Sizes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Correlation Analysis:  </a:t>
            </a:r>
            <a:r>
              <a:rPr sz="1300" b="0">
                <a:solidFill>
                  <a:srgbClr val="A9AFBC"/>
                </a:solidFill>
                <a:latin typeface="Calibri"/>
              </a:rPr>
              <a:t>all continuous features tested against the target - the strongest are theoretically motivated, not just statistically convenient.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4884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8C99B"/>
                </a:solidFill>
                <a:latin typeface="Calibri"/>
              </a:rPr>
              <a:t>Retained (used by HAR-RV-X)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560320"/>
            <a:ext cx="36576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560320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RV_day / RV_week / RV_month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779776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A9AFBC"/>
                </a:solidFill>
                <a:latin typeface="Calibri"/>
              </a:rPr>
              <a:t>Theoretically motivated (Corsi 2009)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90672"/>
            <a:ext cx="36576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2" y="3090672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ATR_X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310128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A9AFBC"/>
                </a:solidFill>
                <a:latin typeface="Calibri"/>
              </a:rPr>
              <a:t>r = 0.142, scale-fixed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621024"/>
            <a:ext cx="36576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3621024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EWMA_X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A9AFBC"/>
                </a:solidFill>
                <a:latin typeface="Calibri"/>
              </a:rPr>
              <a:t>backtested smoothing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151376"/>
            <a:ext cx="36576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4151376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SKEW_X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370832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A9AFBC"/>
                </a:solidFill>
                <a:latin typeface="Calibri"/>
              </a:rPr>
              <a:t>distribution shape, not magnitude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14884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C4645A"/>
                </a:solidFill>
                <a:latin typeface="Calibri"/>
              </a:rPr>
              <a:t>Dropped (weak or redundant)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560320"/>
            <a:ext cx="36576" cy="502920"/>
          </a:xfrm>
          <a:prstGeom prst="rect">
            <a:avLst/>
          </a:prstGeom>
          <a:solidFill>
            <a:srgbClr val="C4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45352" y="2560320"/>
            <a:ext cx="4937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Other technical indicators tested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5352" y="2889503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A9AFBC"/>
                </a:solidFill>
                <a:latin typeface="Calibri"/>
              </a:rPr>
              <a:t>r = 0.004-0.013, no meaningful signal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3218687"/>
            <a:ext cx="36576" cy="502920"/>
          </a:xfrm>
          <a:prstGeom prst="rect">
            <a:avLst/>
          </a:prstGeom>
          <a:solidFill>
            <a:srgbClr val="C4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2" y="3218687"/>
            <a:ext cx="4937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volume_chg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3547871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A9AFBC"/>
                </a:solidFill>
                <a:latin typeface="Calibri"/>
              </a:rPr>
              <a:t>r = 0.002, no measurable relationship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3877055"/>
            <a:ext cx="36576" cy="502920"/>
          </a:xfrm>
          <a:prstGeom prst="rect">
            <a:avLst/>
          </a:prstGeom>
          <a:solidFill>
            <a:srgbClr val="C4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5352" y="3877055"/>
            <a:ext cx="4937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Close / ma_7d (raw levels)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2" y="4206240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A9AFBC"/>
                </a:solidFill>
                <a:latin typeface="Calibri"/>
              </a:rPr>
              <a:t>r = -0.26, non-stationary, spurious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166360"/>
            <a:ext cx="10744200" cy="105156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02920" y="5166360"/>
            <a:ext cx="45720" cy="1051560"/>
          </a:xfrm>
          <a:prstGeom prst="rect">
            <a:avLst/>
          </a:prstGeom>
          <a:solidFill>
            <a:srgbClr val="C4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294376"/>
            <a:ext cx="10195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4645A"/>
                </a:solidFill>
                <a:latin typeface="Calibri"/>
              </a:rPr>
              <a:t>CRITICAL FINDING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86984"/>
            <a:ext cx="10195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Even the best feature kept (ATR, r = 0.142) has only a modest connection to the target. This is why R² tops out around 0.24, not 0.9 - a ceiling set by the data itself, not by model choice.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A9AFBC"/>
                </a:solidFill>
                <a:latin typeface="Calibri"/>
              </a:rPr>
              <a:t>Preparing a leak-free feature matrix and target for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257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Preprocessing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5257800" cy="658368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029968"/>
            <a:ext cx="274320" cy="27432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2002536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828800"/>
            <a:ext cx="45262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A9AFBC"/>
                </a:solidFill>
                <a:latin typeface="Calibri"/>
              </a:rPr>
              <a:t>Lag every feature 1-3 hours - only pre-prediction-time information is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06040"/>
            <a:ext cx="5257800" cy="658368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" y="2807208"/>
            <a:ext cx="274320" cy="27432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606040"/>
            <a:ext cx="45262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A9AFBC"/>
                </a:solidFill>
                <a:latin typeface="Calibri"/>
              </a:rPr>
              <a:t>Build target: volatility_7d shifted 168h (HORIZON) into the future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383280"/>
            <a:ext cx="5257800" cy="658368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8368" y="3584448"/>
            <a:ext cx="274320" cy="27432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3557016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383280"/>
            <a:ext cx="45262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A9AFBC"/>
                </a:solidFill>
                <a:latin typeface="Calibri"/>
              </a:rPr>
              <a:t>Feature matrix uses lagged columns only - never same-time columns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5257800" cy="658368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" y="4361688"/>
            <a:ext cx="274320" cy="27432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4334256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160520"/>
            <a:ext cx="45262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A9AFBC"/>
                </a:solidFill>
                <a:latin typeface="Calibri"/>
              </a:rPr>
              <a:t>Chronological 80/20 train/test split - never randomly shuffled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37759"/>
            <a:ext cx="5257800" cy="658368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58368" y="5138927"/>
            <a:ext cx="274320" cy="27432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5111496"/>
            <a:ext cx="274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937759"/>
            <a:ext cx="45262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A9AFBC"/>
                </a:solidFill>
                <a:latin typeface="Calibri"/>
              </a:rPr>
              <a:t>TimeSeriesSplit (5-fold) for every hyperparameter search - never random K-fold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0" y="1417320"/>
            <a:ext cx="5349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Train/Test Split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28800"/>
            <a:ext cx="2560320" cy="1234440"/>
          </a:xfrm>
          <a:prstGeom prst="rect">
            <a:avLst/>
          </a:prstGeom>
          <a:solidFill>
            <a:srgbClr val="050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035040" y="1828800"/>
            <a:ext cx="45720" cy="123444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91072" y="197510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A9AFBC"/>
                </a:solidFill>
                <a:latin typeface="Calibri"/>
              </a:rPr>
              <a:t>TRAIN SET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2212848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58,352 rows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A9AFBC"/>
                </a:solidFill>
                <a:latin typeface="Calibri"/>
              </a:rPr>
              <a:t>2017-08 to 2024-04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32520" y="1828800"/>
            <a:ext cx="2560320" cy="1234440"/>
          </a:xfrm>
          <a:prstGeom prst="rect">
            <a:avLst/>
          </a:prstGeom>
          <a:solidFill>
            <a:srgbClr val="050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732520" y="1828800"/>
            <a:ext cx="45720" cy="123444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988552" y="197510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A9AFBC"/>
                </a:solidFill>
                <a:latin typeface="Calibri"/>
              </a:rPr>
              <a:t>TEST 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0264" y="2212848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14,589 rows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274320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A9AFBC"/>
                </a:solidFill>
                <a:latin typeface="Calibri"/>
              </a:rPr>
              <a:t>2024-04 to 2025-12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3291840"/>
            <a:ext cx="5349240" cy="141732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35040" y="3291840"/>
            <a:ext cx="45720" cy="141732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09360" y="3419856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5B7FA8"/>
                </a:solidFill>
                <a:latin typeface="Calibri"/>
              </a:rPr>
              <a:t>WHY CHRONOLOGICAL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3712464"/>
            <a:ext cx="4800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Time-series data is autocorrelated - a random shuffle would leak information from adjacent-in-time rows into training. Every split (train/test, and every cross-validation fold) respects chronological order.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35040" y="4892040"/>
            <a:ext cx="5349240" cy="1143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035040" y="4892040"/>
            <a:ext cx="45720" cy="1143000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09360" y="5020056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C99B"/>
                </a:solidFill>
                <a:latin typeface="Calibri"/>
              </a:rPr>
              <a:t>NO FEATURE SCALING NEEDED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5312664"/>
            <a:ext cx="4800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GARCH and EWMA fit directly on returns; HAR-RV-X's regressors are already on a comparable scale - no StandardScaler required anywhere in this pipeline.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Model 1: GARCH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A9AFBC"/>
                </a:solidFill>
                <a:latin typeface="Calibri"/>
              </a:rPr>
              <a:t>GJR-GARCH with Student-t Errors (Tuned)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0744200" cy="621792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45720" cy="621792"/>
          </a:xfrm>
          <a:prstGeom prst="rect">
            <a:avLst/>
          </a:prstGeom>
          <a:solidFill>
            <a:srgbClr val="C4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4173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4645A"/>
                </a:solidFill>
                <a:latin typeface="Calibri"/>
              </a:rPr>
              <a:t>FORMULA</a:t>
            </a:r>
          </a:p>
        </p:txBody>
      </p:sp>
      <p:pic>
        <p:nvPicPr>
          <p:cNvPr id="9" name="Picture 8" descr="formula_g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463040"/>
            <a:ext cx="4297680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214884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8C99B"/>
                </a:solidFill>
                <a:latin typeface="Calibri"/>
              </a:rPr>
              <a:t>Model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Vol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060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GJR-GARCH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9008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310896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0896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Student's 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9300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611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p / o / 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 / 1 /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9592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AIC (Tuned)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96,564.5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49884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35040" y="214884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8C99B"/>
                </a:solidFill>
                <a:latin typeface="Calibri"/>
              </a:rPr>
              <a:t>Performance (Historical Test)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2560320"/>
            <a:ext cx="5212080" cy="1280160"/>
          </a:xfrm>
          <a:prstGeom prst="rect">
            <a:avLst/>
          </a:prstGeom>
          <a:solidFill>
            <a:srgbClr val="050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035040" y="2560320"/>
            <a:ext cx="45720" cy="1280160"/>
          </a:xfrm>
          <a:prstGeom prst="rect">
            <a:avLst/>
          </a:prstGeom>
          <a:solidFill>
            <a:srgbClr val="C4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91072" y="2706624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A9AFBC"/>
                </a:solidFill>
                <a:latin typeface="Calibri"/>
              </a:rPr>
              <a:t>R2 (Historical)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2944368"/>
            <a:ext cx="4754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-5.02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3977639"/>
            <a:ext cx="2514600" cy="914400"/>
          </a:xfrm>
          <a:prstGeom prst="rect">
            <a:avLst/>
          </a:prstGeom>
          <a:solidFill>
            <a:srgbClr val="050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035040" y="3977639"/>
            <a:ext cx="45720" cy="91440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91072" y="4123943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A9AFBC"/>
                </a:solidFill>
                <a:latin typeface="Calibri"/>
              </a:rPr>
              <a:t>RMSE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4361687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0.003876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32520" y="3977639"/>
            <a:ext cx="2514600" cy="914400"/>
          </a:xfrm>
          <a:prstGeom prst="rect">
            <a:avLst/>
          </a:prstGeom>
          <a:solidFill>
            <a:srgbClr val="050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732520" y="3977639"/>
            <a:ext cx="45720" cy="91440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88552" y="4123943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A9AFBC"/>
                </a:solidFill>
                <a:latin typeface="Calibri"/>
              </a:rPr>
              <a:t>MAPE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0264" y="4361687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90.54%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074920"/>
            <a:ext cx="10744200" cy="105156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2920" y="5074920"/>
            <a:ext cx="45720" cy="1051560"/>
          </a:xfrm>
          <a:prstGeom prst="rect">
            <a:avLst/>
          </a:prstGeom>
          <a:solidFill>
            <a:srgbClr val="C4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7240" y="5202936"/>
            <a:ext cx="10195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4645A"/>
                </a:solidFill>
                <a:latin typeface="Calibri"/>
              </a:rPr>
              <a:t>KEY INSIGHT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495544"/>
            <a:ext cx="10195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GARCH's forecast mean-reverts toward a long-run average well before 168 hours are up - a structural weakness at this horizon, not an implementation bug. It degrades further on live data (R2 = -110.68).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Model 2: HAR-RV-X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A9AFBC"/>
                </a:solidFill>
                <a:latin typeface="Calibri"/>
              </a:rPr>
              <a:t>Ridge-Regularized Regression on RV Horizons (Final)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0744200" cy="621792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45720" cy="621792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4173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C99B"/>
                </a:solidFill>
                <a:latin typeface="Calibri"/>
              </a:rPr>
              <a:t>FORMULA</a:t>
            </a:r>
          </a:p>
        </p:txBody>
      </p:sp>
      <p:pic>
        <p:nvPicPr>
          <p:cNvPr id="9" name="Picture 8" descr="formula_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498701"/>
            <a:ext cx="8503920" cy="3675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214884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8C99B"/>
                </a:solidFill>
                <a:latin typeface="Calibri"/>
              </a:rPr>
              <a:t>Model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Regressors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060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6 (RV horizons, ATR_X, EWMA_X, SKEW_X)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9008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310896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Regularization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0896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Ridge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9300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611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Alpha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0.01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9592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Target Transform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log(target)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49884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35040" y="214884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8C99B"/>
                </a:solidFill>
                <a:latin typeface="Calibri"/>
              </a:rPr>
              <a:t>Performance (Historical Test)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2560320"/>
            <a:ext cx="5212080" cy="1280160"/>
          </a:xfrm>
          <a:prstGeom prst="rect">
            <a:avLst/>
          </a:prstGeom>
          <a:solidFill>
            <a:srgbClr val="050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035040" y="2560320"/>
            <a:ext cx="45720" cy="1280160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91072" y="2706624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A9AFBC"/>
                </a:solidFill>
                <a:latin typeface="Calibri"/>
              </a:rPr>
              <a:t>R2 (Historical)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2944368"/>
            <a:ext cx="4754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0.242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3977639"/>
            <a:ext cx="2514600" cy="914400"/>
          </a:xfrm>
          <a:prstGeom prst="rect">
            <a:avLst/>
          </a:prstGeom>
          <a:solidFill>
            <a:srgbClr val="050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035040" y="3977639"/>
            <a:ext cx="45720" cy="91440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91072" y="4123943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A9AFBC"/>
                </a:solidFill>
                <a:latin typeface="Calibri"/>
              </a:rPr>
              <a:t>RMSE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4361687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0.001367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32520" y="3977639"/>
            <a:ext cx="2514600" cy="914400"/>
          </a:xfrm>
          <a:prstGeom prst="rect">
            <a:avLst/>
          </a:prstGeom>
          <a:solidFill>
            <a:srgbClr val="050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732520" y="3977639"/>
            <a:ext cx="45720" cy="91440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88552" y="4123943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A9AFBC"/>
                </a:solidFill>
                <a:latin typeface="Calibri"/>
              </a:rPr>
              <a:t>MAPE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0264" y="4361687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22.83%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074920"/>
            <a:ext cx="10744200" cy="105156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2920" y="5074920"/>
            <a:ext cx="45720" cy="1051560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7240" y="5202936"/>
            <a:ext cx="10195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C99B"/>
                </a:solidFill>
                <a:latin typeface="Calibri"/>
              </a:rPr>
              <a:t>KEY INSIGHT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495544"/>
            <a:ext cx="10195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Best performer on both historical and live data (R2 = 0.178 live). A real scale bug fix in ATR_X (a ~45,000x mismatch) was the single largest driver of this result.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Model 3: EWMA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A9AFBC"/>
                </a:solidFill>
                <a:latin typeface="Calibri"/>
              </a:rPr>
              <a:t>RiskMetrics-Style Exponential Smoothing (Backtested)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0744200" cy="621792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45720" cy="621792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4173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5B7FA8"/>
                </a:solidFill>
                <a:latin typeface="Calibri"/>
              </a:rPr>
              <a:t>FORMULA</a:t>
            </a:r>
          </a:p>
        </p:txBody>
      </p:sp>
      <p:pic>
        <p:nvPicPr>
          <p:cNvPr id="9" name="Picture 8" descr="formula_ew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463040"/>
            <a:ext cx="3200400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214884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8C99B"/>
                </a:solidFill>
                <a:latin typeface="Calibri"/>
              </a:rPr>
              <a:t>Model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Named 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060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RiskMetrics (J.P. Morgan, 1996)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99008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310896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Lambda (Backtested)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0896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0.995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9300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611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Search 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0.85 - 0.995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99592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A9AFBC"/>
                </a:solidFill>
                <a:latin typeface="Calibri"/>
              </a:rPr>
              <a:t>Selection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TimeSeriesSplit CV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498848"/>
            <a:ext cx="5120640" cy="9525"/>
          </a:xfrm>
          <a:prstGeom prst="rect">
            <a:avLst/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35040" y="214884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8C99B"/>
                </a:solidFill>
                <a:latin typeface="Calibri"/>
              </a:rPr>
              <a:t>Performance (Historical Test)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2560320"/>
            <a:ext cx="5212080" cy="1280160"/>
          </a:xfrm>
          <a:prstGeom prst="rect">
            <a:avLst/>
          </a:prstGeom>
          <a:solidFill>
            <a:srgbClr val="050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035040" y="2560320"/>
            <a:ext cx="45720" cy="128016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91072" y="2706624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A9AFBC"/>
                </a:solidFill>
                <a:latin typeface="Calibri"/>
              </a:rPr>
              <a:t>R2 (Historical)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2944368"/>
            <a:ext cx="4754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0.059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3977639"/>
            <a:ext cx="2514600" cy="914400"/>
          </a:xfrm>
          <a:prstGeom prst="rect">
            <a:avLst/>
          </a:prstGeom>
          <a:solidFill>
            <a:srgbClr val="050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035040" y="3977639"/>
            <a:ext cx="45720" cy="91440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91072" y="4123943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A9AFBC"/>
                </a:solidFill>
                <a:latin typeface="Calibri"/>
              </a:rPr>
              <a:t>RMSE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4361687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0.001532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32520" y="3977639"/>
            <a:ext cx="2514600" cy="914400"/>
          </a:xfrm>
          <a:prstGeom prst="rect">
            <a:avLst/>
          </a:prstGeom>
          <a:solidFill>
            <a:srgbClr val="050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732520" y="3977639"/>
            <a:ext cx="45720" cy="91440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88552" y="4123943"/>
            <a:ext cx="2057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A9AFBC"/>
                </a:solidFill>
                <a:latin typeface="Calibri"/>
              </a:rPr>
              <a:t>MAPE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0264" y="4361687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23.71%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074920"/>
            <a:ext cx="10744200" cy="105156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2920" y="5074920"/>
            <a:ext cx="45720" cy="1051560"/>
          </a:xfrm>
          <a:prstGeom prst="rect">
            <a:avLst/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7240" y="5202936"/>
            <a:ext cx="10195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5B7FA8"/>
                </a:solidFill>
                <a:latin typeface="Calibri"/>
              </a:rPr>
              <a:t>KEY INSIGHT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495544"/>
            <a:ext cx="10195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A single, fully transparent parameter - no hidden layers, nothing opaque. A solid runner-up, and the risk desk's own trusted estimator, but not as sharp as HAR-RV-X's multi-horizon regressors.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Model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A9AFBC"/>
                </a:solidFill>
                <a:latin typeface="Calibri"/>
              </a:rPr>
              <a:t>Historical Test-Set Performance Across All Models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155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R2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MAPE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Beats Persistence?</a:t>
                      </a:r>
                    </a:p>
                  </a:txBody>
                  <a:tcPr marL="109728" marR="109728" marT="36576" marB="36576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Naive Persistence (baseline)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0.001649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-0.090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24.41%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Holt-Winters (baseline)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0.002845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-2.245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43.20%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GARCH (GJR, Tuned)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0.003876</a:t>
                      </a:r>
                    </a:p>
                  </a:txBody>
                  <a:tcPr marL="109728" marR="109728" marT="36576" marB="36576" anchor="ctr">
                    <a:solidFill>
                      <a:srgbClr val="331E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-5.023</a:t>
                      </a:r>
                    </a:p>
                  </a:txBody>
                  <a:tcPr marL="109728" marR="109728" marT="36576" marB="36576" anchor="ctr">
                    <a:solidFill>
                      <a:srgbClr val="331E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90.54%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HAR-RV-X (Final)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0.001367</a:t>
                      </a:r>
                    </a:p>
                  </a:txBody>
                  <a:tcPr marL="109728" marR="109728" marT="36576" marB="36576" anchor="ctr">
                    <a:solidFill>
                      <a:srgbClr val="2A3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0.242</a:t>
                      </a:r>
                    </a:p>
                  </a:txBody>
                  <a:tcPr marL="109728" marR="109728" marT="36576" marB="36576" anchor="ctr">
                    <a:solidFill>
                      <a:srgbClr val="2A3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22.83%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R="109728" marT="36576" marB="36576" anchor="ctr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EWMA (lambda=0.995)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0.001532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0.059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23.71%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A9AFB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R="109728" marT="36576" marB="36576" anchor="ctr">
                    <a:solidFill>
                      <a:srgbClr val="1215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4892040"/>
            <a:ext cx="11155680" cy="13716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4892040"/>
            <a:ext cx="45720" cy="1371600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5020056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C99B"/>
                </a:solidFill>
                <a:latin typeface="Calibri"/>
              </a:rPr>
              <a:t>KEY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2664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HAR-RV-X wins on every metric, beating naive persistence by 17.1% lower RMSE. Both HAR-RV-X and EWMA clear the persistence bar; GARCH and Holt-Winters do not. This gap holds up on genuinely unseen live data too, not just this historical split.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384048"/>
          </a:xfrm>
          <a:prstGeom prst="rect">
            <a:avLst/>
          </a:prstGeom>
          <a:solidFill>
            <a:srgbClr val="C4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3611880" cy="3337560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8952" y="15727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C99B"/>
                </a:solidFill>
                <a:latin typeface="Calibri"/>
              </a:rPr>
              <a:t>Category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874519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Data Constraints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37744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4645A"/>
                </a:solidFill>
                <a:latin typeface="Calibri"/>
              </a:rPr>
              <a:t>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No fundamental or on-chain signals - only price/volume history.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9067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4645A"/>
                </a:solidFill>
                <a:latin typeface="Calibri"/>
              </a:rPr>
              <a:t>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90672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News, regulation, and macro shocks are invisible to the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80390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4645A"/>
                </a:solidFill>
                <a:latin typeface="Calibri"/>
              </a:rPr>
              <a:t>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803904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Single asset - no cross-crypto spillover signal used.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371600"/>
            <a:ext cx="3611880" cy="3337560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5727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C99B"/>
                </a:solidFill>
                <a:latin typeface="Calibri"/>
              </a:rPr>
              <a:t>Category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1874519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Modeling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37744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4645A"/>
                </a:solidFill>
                <a:latin typeface="Calibri"/>
              </a:rPr>
              <a:t>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37744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GARCH's mean-reversion is structural, not tunable away.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309067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4645A"/>
                </a:solidFill>
                <a:latin typeface="Calibri"/>
              </a:rPr>
              <a:t>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090672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22 robustness checks tested; most did not beat HAR-RV-X.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80390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4645A"/>
                </a:solidFill>
                <a:latin typeface="Calibri"/>
              </a:rPr>
              <a:t>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803904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Hardware/time limited exhaustive deep-learning exploration.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371600"/>
            <a:ext cx="3611880" cy="3337560"/>
          </a:xfrm>
          <a:prstGeom prst="rect">
            <a:avLst/>
          </a:prstGeom>
          <a:solidFill>
            <a:srgbClr val="12151C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48472" y="15727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C99B"/>
                </a:solidFill>
                <a:latin typeface="Calibri"/>
              </a:rPr>
              <a:t>Category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8472" y="1874519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Statistical Ceiling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8472" y="237744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4645A"/>
                </a:solidFill>
                <a:latin typeface="Calibri"/>
              </a:rPr>
              <a:t>-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37744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Feature correlations with the target are inherently weak.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2" y="309067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4645A"/>
                </a:solidFill>
                <a:latin typeface="Calibri"/>
              </a:rPr>
              <a:t>-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3090672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Models cannot exceed the information content of their inputs.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8472" y="380390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C4645A"/>
                </a:solidFill>
                <a:latin typeface="Calibri"/>
              </a:rPr>
              <a:t>-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803904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A modest R2 ceiling is a predictable result, not a bug.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937760"/>
            <a:ext cx="11155680" cy="105156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4937760"/>
            <a:ext cx="45720" cy="1051560"/>
          </a:xfrm>
          <a:prstGeom prst="rect">
            <a:avLst/>
          </a:prstGeom>
          <a:solidFill>
            <a:srgbClr val="C46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065776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4645A"/>
                </a:solidFill>
                <a:latin typeface="Calibri"/>
              </a:rPr>
              <a:t>KEY TAKEAWAY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58384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A9AFBC"/>
                </a:solidFill>
                <a:latin typeface="Calibri"/>
              </a:rPr>
              <a:t>Meaningful improvement needs genuinely new information (news sentiment, on-chain metrics), not further tuning of what's already here. Neither more model complexity nor more compute alone is sufficient.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pur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651760"/>
            <a:ext cx="9601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463040" cy="38100"/>
          </a:xfrm>
          <a:prstGeom prst="rect">
            <a:avLst/>
          </a:prstGeom>
          <a:solidFill>
            <a:srgbClr val="E8C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A9AFBC"/>
                </a:solidFill>
                <a:latin typeface="Calibri"/>
              </a:rPr>
              <a:t>Any 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MOHAMMED HEJAIRI  ·  DSB2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3093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A9AFBC"/>
                </a:solidFill>
                <a:latin typeface="Calibri"/>
              </a:rPr>
              <a:t>CAPSTONE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777E8C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1560</Words>
  <Application>Microsoft Macintosh PowerPoint</Application>
  <PresentationFormat>Widescreen</PresentationFormat>
  <Paragraphs>282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 Volatility Prediction</dc:title>
  <dc:subject>Capstone Project - Time-Series Forecasting</dc:subject>
  <dc:creator>Mohammed Hejairi</dc:creator>
  <cp:keywords/>
  <dc:description>generated using python-pptx</dc:description>
  <cp:lastModifiedBy>Mohammed Ahmed Nasser Abdulla Mohamed Hejairi</cp:lastModifiedBy>
  <cp:revision>3</cp:revision>
  <dcterms:created xsi:type="dcterms:W3CDTF">2013-01-27T09:14:16Z</dcterms:created>
  <dcterms:modified xsi:type="dcterms:W3CDTF">2026-09-01T09:05:39Z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0944723-1415-41c4-a2ea-256349a9fff8_Enabled">
    <vt:lpwstr>true</vt:lpwstr>
  </property>
  <property fmtid="{D5CDD505-2E9C-101B-9397-08002B2CF9AE}" pid="3" name="MSIP_Label_70944723-1415-41c4-a2ea-256349a9fff8_SetDate">
    <vt:lpwstr>2026-09-01T09:01:47Z</vt:lpwstr>
  </property>
  <property fmtid="{D5CDD505-2E9C-101B-9397-08002B2CF9AE}" pid="4" name="MSIP_Label_70944723-1415-41c4-a2ea-256349a9fff8_Method">
    <vt:lpwstr>Standard</vt:lpwstr>
  </property>
  <property fmtid="{D5CDD505-2E9C-101B-9397-08002B2CF9AE}" pid="5" name="MSIP_Label_70944723-1415-41c4-a2ea-256349a9fff8_Name">
    <vt:lpwstr>defa4170-0d19-0005-0004-bc88714345d2</vt:lpwstr>
  </property>
  <property fmtid="{D5CDD505-2E9C-101B-9397-08002B2CF9AE}" pid="6" name="MSIP_Label_70944723-1415-41c4-a2ea-256349a9fff8_SiteId">
    <vt:lpwstr>70e9ed8e-04d0-480b-a3f1-5925a4dc1002</vt:lpwstr>
  </property>
  <property fmtid="{D5CDD505-2E9C-101B-9397-08002B2CF9AE}" pid="7" name="MSIP_Label_70944723-1415-41c4-a2ea-256349a9fff8_ActionId">
    <vt:lpwstr>91013da1-cd0a-4fcc-915b-aca644440e07</vt:lpwstr>
  </property>
  <property fmtid="{D5CDD505-2E9C-101B-9397-08002B2CF9AE}" pid="8" name="MSIP_Label_70944723-1415-41c4-a2ea-256349a9fff8_ContentBits">
    <vt:lpwstr>0</vt:lpwstr>
  </property>
  <property fmtid="{D5CDD505-2E9C-101B-9397-08002B2CF9AE}" pid="9" name="MSIP_Label_70944723-1415-41c4-a2ea-256349a9fff8_Tag">
    <vt:lpwstr>50, 3, 0, 1</vt:lpwstr>
  </property>
</Properties>
</file>