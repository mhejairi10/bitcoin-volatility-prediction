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11"/>
    <p:sldId id="260" r:id="rId10"/>
    <p:sldId id="261" r:id="rId15"/>
    <p:sldId id="262" r:id="rId14"/>
    <p:sldId id="263" r:id="rId19"/>
    <p:sldId id="264" r:id="rId16"/>
    <p:sldId id="265" r:id="rId12"/>
    <p:sldId id="266" r:id="rId13"/>
    <p:sldId id="267" r:id="rId17"/>
    <p:sldId id="268" r:id="rId21"/>
  </p:sldIdLst>
  <p:sldSz cx="18288000" cy="10287000"/>
  <p:notesSz cx="6858000" cy="9144000"/>
  <p:embeddedFontLst>
    <p:embeddedFont>
      <p:font typeface="Poppins Light" charset="1" panose="00000400000000000000"/>
      <p:regular r:id="rId22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7.xml"/><Relationship Id="rId15" Type="http://schemas.openxmlformats.org/officeDocument/2006/relationships/slide" Target="slides/slide6.xml"/><Relationship Id="rId16" Type="http://schemas.openxmlformats.org/officeDocument/2006/relationships/slide" Target="slides/slide9.xml"/><Relationship Id="rId17" Type="http://schemas.openxmlformats.org/officeDocument/2006/relationships/slide" Target="slides/slide12.xml"/><Relationship Id="rId19" Type="http://schemas.openxmlformats.org/officeDocument/2006/relationships/slide" Target="slides/slide8.xml"/><Relationship Id="rId21" Type="http://schemas.openxmlformats.org/officeDocument/2006/relationships/slide" Target="slides/slide13.xml"/><Relationship Id="rId22" Type="http://schemas.openxmlformats.org/officeDocument/2006/relationships/font" Target="fonts/font22.fntdata"/><Relationship Id="rId23" Type="http://schemas.openxmlformats.org/officeDocument/2006/relationships/font" Target="fonts/font2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image" Target="../media/image18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image" Target="../media/image27.png"/><Relationship Id="rId6" Type="http://schemas.openxmlformats.org/officeDocument/2006/relationships/image" Target="../media/image28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4" y="1702613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71750" y="1905000"/>
            <a:ext cx="274374" cy="274374"/>
          </a:xfrm>
          <a:custGeom>
            <a:avLst/>
            <a:gdLst/>
            <a:ahLst/>
            <a:cxnLst/>
            <a:rect r="r" b="b" t="t" l="l"/>
            <a:pathLst>
              <a:path h="274374" w="274374">
                <a:moveTo>
                  <a:pt x="0" y="0"/>
                </a:moveTo>
                <a:lnTo>
                  <a:pt x="274374" y="0"/>
                </a:lnTo>
                <a:lnTo>
                  <a:pt x="274374" y="274374"/>
                </a:lnTo>
                <a:lnTo>
                  <a:pt x="0" y="2743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1750" y="2810564"/>
            <a:ext cx="9775280" cy="502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2699" spc="-25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Bitcoin Volatility </a:t>
            </a:r>
          </a:p>
          <a:p>
            <a:pPr algn="l">
              <a:lnSpc>
                <a:spcPts val="12699"/>
              </a:lnSpc>
            </a:pPr>
            <a:r>
              <a:rPr lang="en-US" sz="12699" spc="-25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Prediction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6624" y="1914525"/>
            <a:ext cx="1700356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DSB2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71750" y="8114719"/>
            <a:ext cx="216523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MOHAMMED HEJAIRI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94529" y="8114719"/>
            <a:ext cx="2421721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CAPSTONE PROJECT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345378" y="1905000"/>
            <a:ext cx="370872" cy="384751"/>
            <a:chOff x="0" y="0"/>
            <a:chExt cx="494495" cy="513001"/>
          </a:xfrm>
        </p:grpSpPr>
        <p:sp>
          <p:nvSpPr>
            <p:cNvPr name="AutoShape 9" id="9"/>
            <p:cNvSpPr/>
            <p:nvPr/>
          </p:nvSpPr>
          <p:spPr>
            <a:xfrm>
              <a:off x="13740" y="19050"/>
              <a:ext cx="480755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flipV="true">
              <a:off x="475445" y="19050"/>
              <a:ext cx="0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3740" y="19050"/>
              <a:ext cx="461705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1750" y="1952625"/>
            <a:ext cx="7026020" cy="7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AGENDA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1750" y="4057069"/>
            <a:ext cx="548640" cy="452782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21844" y="4141511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0750" y="4057069"/>
            <a:ext cx="548640" cy="45275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60844" y="4141511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5230802"/>
            <a:ext cx="548640" cy="45275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21844" y="5315243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0750" y="5230802"/>
            <a:ext cx="548640" cy="45275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60844" y="5315243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Live Testing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1750" y="6404535"/>
            <a:ext cx="548640" cy="45275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1844" y="6488976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What We Built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10750" y="6404535"/>
            <a:ext cx="548640" cy="45275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60844" y="6488976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Real-World Use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71750" y="7578268"/>
            <a:ext cx="548640" cy="45275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21844" y="7662709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Models We Tried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10750" y="7578268"/>
            <a:ext cx="548640" cy="45275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60844" y="7662709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Results</a:t>
            </a:r>
          </a:p>
        </p:txBody>
      </p:sp>
      <p:sp>
        <p:nvSpPr>
          <p:cNvPr name="AutoShape 20" id="20"/>
          <p:cNvSpPr/>
          <p:nvPr/>
        </p:nvSpPr>
        <p:spPr>
          <a:xfrm>
            <a:off x="2571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9810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2571750" y="6029772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9810750" y="6029772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2571750" y="7203505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9810750" y="7203505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2571750" y="8377238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9810750" y="8377238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239" t="0" r="-4123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10278" y="0"/>
            <a:ext cx="3876497" cy="10287000"/>
            <a:chOff x="0" y="0"/>
            <a:chExt cx="102097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09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20970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7881015" y="-1112315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9810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810750" y="1952625"/>
            <a:ext cx="5905500" cy="7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0750" y="3924872"/>
            <a:ext cx="4832003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Bitcoin swings hard, in bursts. This project predicts how big the swings will be — not which way price moves.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0990" y="4700878"/>
            <a:ext cx="702602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Nobody knows how rough next week will be.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981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571750" y="4567002"/>
            <a:ext cx="797933" cy="643808"/>
          </a:xfrm>
          <a:custGeom>
            <a:avLst/>
            <a:gdLst/>
            <a:ahLst/>
            <a:cxnLst/>
            <a:rect r="r" b="b" t="t" l="l"/>
            <a:pathLst>
              <a:path h="643808" w="797933">
                <a:moveTo>
                  <a:pt x="0" y="0"/>
                </a:moveTo>
                <a:lnTo>
                  <a:pt x="797933" y="0"/>
                </a:lnTo>
                <a:lnTo>
                  <a:pt x="797933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76135" y="4567002"/>
            <a:ext cx="747034" cy="643808"/>
          </a:xfrm>
          <a:custGeom>
            <a:avLst/>
            <a:gdLst/>
            <a:ahLst/>
            <a:cxnLst/>
            <a:rect r="r" b="b" t="t" l="l"/>
            <a:pathLst>
              <a:path h="643808" w="747034">
                <a:moveTo>
                  <a:pt x="0" y="0"/>
                </a:moveTo>
                <a:lnTo>
                  <a:pt x="747034" y="0"/>
                </a:lnTo>
                <a:lnTo>
                  <a:pt x="747034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78615" y="4567002"/>
            <a:ext cx="804706" cy="643808"/>
          </a:xfrm>
          <a:custGeom>
            <a:avLst/>
            <a:gdLst/>
            <a:ahLst/>
            <a:cxnLst/>
            <a:rect r="r" b="b" t="t" l="l"/>
            <a:pathLst>
              <a:path h="643808" w="804706">
                <a:moveTo>
                  <a:pt x="0" y="0"/>
                </a:moveTo>
                <a:lnTo>
                  <a:pt x="804706" y="0"/>
                </a:lnTo>
                <a:lnTo>
                  <a:pt x="804706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1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WHAT WE BUILT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Turbulence Forecast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76135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Tested Like Real Trading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78615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Ready to Use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717665"/>
            <a:ext cx="3937635" cy="138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Predicts how much Bitcoin will move over the next week — not which direction.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76135" y="6717665"/>
            <a:ext cx="3937635" cy="166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Checked against months of brand-new data the model never saw while learning.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78615" y="6717665"/>
            <a:ext cx="3937635" cy="138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Built to plug straight into real risk and pricing decisions.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64302" y="-3180331"/>
            <a:ext cx="22216605" cy="9419840"/>
          </a:xfrm>
          <a:custGeom>
            <a:avLst/>
            <a:gdLst/>
            <a:ahLst/>
            <a:cxnLst/>
            <a:rect r="r" b="b" t="t" l="l"/>
            <a:pathLst>
              <a:path h="9419840" w="22216605">
                <a:moveTo>
                  <a:pt x="22216604" y="0"/>
                </a:moveTo>
                <a:lnTo>
                  <a:pt x="0" y="0"/>
                </a:lnTo>
                <a:lnTo>
                  <a:pt x="0" y="9419841"/>
                </a:lnTo>
                <a:lnTo>
                  <a:pt x="22216604" y="9419841"/>
                </a:lnTo>
                <a:lnTo>
                  <a:pt x="22216604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810750" y="4119425"/>
            <a:ext cx="444584" cy="144068"/>
            <a:chOff x="0" y="0"/>
            <a:chExt cx="117092" cy="3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092" cy="37944"/>
            </a:xfrm>
            <a:custGeom>
              <a:avLst/>
              <a:gdLst/>
              <a:ahLst/>
              <a:cxnLst/>
              <a:rect r="r" b="b" t="t" l="l"/>
              <a:pathLst>
                <a:path h="37944" w="117092">
                  <a:moveTo>
                    <a:pt x="18972" y="0"/>
                  </a:moveTo>
                  <a:lnTo>
                    <a:pt x="98120" y="0"/>
                  </a:lnTo>
                  <a:cubicBezTo>
                    <a:pt x="108598" y="0"/>
                    <a:pt x="117092" y="8494"/>
                    <a:pt x="117092" y="18972"/>
                  </a:cubicBezTo>
                  <a:lnTo>
                    <a:pt x="117092" y="18972"/>
                  </a:lnTo>
                  <a:cubicBezTo>
                    <a:pt x="117092" y="29450"/>
                    <a:pt x="108598" y="37944"/>
                    <a:pt x="98120" y="37944"/>
                  </a:cubicBezTo>
                  <a:lnTo>
                    <a:pt x="18972" y="37944"/>
                  </a:lnTo>
                  <a:cubicBezTo>
                    <a:pt x="8494" y="37944"/>
                    <a:pt x="0" y="29450"/>
                    <a:pt x="0" y="18972"/>
                  </a:cubicBezTo>
                  <a:lnTo>
                    <a:pt x="0" y="18972"/>
                  </a:lnTo>
                  <a:cubicBezTo>
                    <a:pt x="0" y="8494"/>
                    <a:pt x="8494" y="0"/>
                    <a:pt x="18972" y="0"/>
                  </a:cubicBezTo>
                  <a:close/>
                </a:path>
              </a:pathLst>
            </a:custGeom>
            <a:solidFill>
              <a:srgbClr val="11346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17092" cy="28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10750" y="6707543"/>
            <a:ext cx="444584" cy="144068"/>
            <a:chOff x="0" y="0"/>
            <a:chExt cx="117092" cy="379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092" cy="37944"/>
            </a:xfrm>
            <a:custGeom>
              <a:avLst/>
              <a:gdLst/>
              <a:ahLst/>
              <a:cxnLst/>
              <a:rect r="r" b="b" t="t" l="l"/>
              <a:pathLst>
                <a:path h="37944" w="117092">
                  <a:moveTo>
                    <a:pt x="18972" y="0"/>
                  </a:moveTo>
                  <a:lnTo>
                    <a:pt x="98120" y="0"/>
                  </a:lnTo>
                  <a:cubicBezTo>
                    <a:pt x="108598" y="0"/>
                    <a:pt x="117092" y="8494"/>
                    <a:pt x="117092" y="18972"/>
                  </a:cubicBezTo>
                  <a:lnTo>
                    <a:pt x="117092" y="18972"/>
                  </a:lnTo>
                  <a:cubicBezTo>
                    <a:pt x="117092" y="29450"/>
                    <a:pt x="108598" y="37944"/>
                    <a:pt x="98120" y="37944"/>
                  </a:cubicBezTo>
                  <a:lnTo>
                    <a:pt x="18972" y="37944"/>
                  </a:lnTo>
                  <a:cubicBezTo>
                    <a:pt x="8494" y="37944"/>
                    <a:pt x="0" y="29450"/>
                    <a:pt x="0" y="18972"/>
                  </a:cubicBezTo>
                  <a:lnTo>
                    <a:pt x="0" y="18972"/>
                  </a:lnTo>
                  <a:cubicBezTo>
                    <a:pt x="0" y="8494"/>
                    <a:pt x="8494" y="0"/>
                    <a:pt x="18972" y="0"/>
                  </a:cubicBezTo>
                  <a:close/>
                </a:path>
              </a:pathLst>
            </a:custGeom>
            <a:solidFill>
              <a:srgbClr val="D2B99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17092" cy="28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571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44609" y="3975241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 Years of History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44609" y="656336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Calm, Then Chaos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44609" y="4681996"/>
            <a:ext cx="5071641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Hourly Bitcoin trading data going back to 2017 — over 70,000 hours in total.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44609" y="7270115"/>
            <a:ext cx="5071641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Long quiet stretches, then sudden bursts. That pattern is exactly what the model learns to predict.</a:t>
            </a:r>
          </a:p>
        </p:txBody>
      </p:sp>
      <p:pic>
        <p:nvPicPr>
          <p:cNvPr id="16" name="Picture 15" descr="vol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3441841"/>
            <a:ext cx="7086600" cy="5568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1004897" y="-1736871"/>
            <a:ext cx="18601707" cy="7887124"/>
          </a:xfrm>
          <a:custGeom>
            <a:avLst/>
            <a:gdLst/>
            <a:ahLst/>
            <a:cxnLst/>
            <a:rect r="r" b="b" t="t" l="l"/>
            <a:pathLst>
              <a:path h="7887124" w="18601707">
                <a:moveTo>
                  <a:pt x="18601707" y="0"/>
                </a:moveTo>
                <a:lnTo>
                  <a:pt x="0" y="0"/>
                </a:lnTo>
                <a:lnTo>
                  <a:pt x="0" y="7887123"/>
                </a:lnTo>
                <a:lnTo>
                  <a:pt x="18601707" y="7887123"/>
                </a:lnTo>
                <a:lnTo>
                  <a:pt x="18601707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571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71750" y="4887237"/>
            <a:ext cx="5025060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best model beat simple guessing by 17%.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571750" y="7435532"/>
            <a:ext cx="18601707" cy="7887124"/>
          </a:xfrm>
          <a:custGeom>
            <a:avLst/>
            <a:gdLst/>
            <a:ahLst/>
            <a:cxnLst/>
            <a:rect r="r" b="b" t="t" l="l"/>
            <a:pathLst>
              <a:path h="7887124" w="18601707">
                <a:moveTo>
                  <a:pt x="0" y="0"/>
                </a:moveTo>
                <a:lnTo>
                  <a:pt x="18601707" y="0"/>
                </a:lnTo>
                <a:lnTo>
                  <a:pt x="18601707" y="7887124"/>
                </a:lnTo>
                <a:lnTo>
                  <a:pt x="0" y="7887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1750" y="6717665"/>
            <a:ext cx="5025060" cy="138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And it kept working on brand-new data it had never seen before — the real test of whether a model actually works.</a:t>
            </a:r>
          </a:p>
        </p:txBody>
      </p:sp>
      <p:pic>
        <p:nvPicPr>
          <p:cNvPr id="8" name="Picture 7" descr="results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8150" y="2529321"/>
            <a:ext cx="6452920" cy="56738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844026" y="-2006419"/>
            <a:ext cx="22985203" cy="9745726"/>
          </a:xfrm>
          <a:custGeom>
            <a:avLst/>
            <a:gdLst/>
            <a:ahLst/>
            <a:cxnLst/>
            <a:rect r="r" b="b" t="t" l="l"/>
            <a:pathLst>
              <a:path h="9745726" w="22985203">
                <a:moveTo>
                  <a:pt x="22985202" y="0"/>
                </a:moveTo>
                <a:lnTo>
                  <a:pt x="0" y="0"/>
                </a:lnTo>
                <a:lnTo>
                  <a:pt x="0" y="9745726"/>
                </a:lnTo>
                <a:lnTo>
                  <a:pt x="22985202" y="9745726"/>
                </a:lnTo>
                <a:lnTo>
                  <a:pt x="22985202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918017" y="6362488"/>
            <a:ext cx="1141779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225212" y="6362488"/>
            <a:ext cx="1141779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1912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MODELS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71750" y="4031190"/>
            <a:ext cx="2524125" cy="1504950"/>
            <a:chOff x="0" y="0"/>
            <a:chExt cx="664790" cy="3963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4790" cy="396365"/>
            </a:xfrm>
            <a:custGeom>
              <a:avLst/>
              <a:gdLst/>
              <a:ahLst/>
              <a:cxnLst/>
              <a:rect r="r" b="b" t="t" l="l"/>
              <a:pathLst>
                <a:path h="396365" w="664790">
                  <a:moveTo>
                    <a:pt x="70545" y="0"/>
                  </a:moveTo>
                  <a:lnTo>
                    <a:pt x="594245" y="0"/>
                  </a:lnTo>
                  <a:cubicBezTo>
                    <a:pt x="612955" y="0"/>
                    <a:pt x="630898" y="7432"/>
                    <a:pt x="644128" y="20662"/>
                  </a:cubicBezTo>
                  <a:cubicBezTo>
                    <a:pt x="657358" y="33892"/>
                    <a:pt x="664790" y="51835"/>
                    <a:pt x="664790" y="70545"/>
                  </a:cubicBezTo>
                  <a:lnTo>
                    <a:pt x="664790" y="325821"/>
                  </a:lnTo>
                  <a:cubicBezTo>
                    <a:pt x="664790" y="364781"/>
                    <a:pt x="633206" y="396365"/>
                    <a:pt x="594245" y="396365"/>
                  </a:cubicBezTo>
                  <a:lnTo>
                    <a:pt x="70545" y="396365"/>
                  </a:lnTo>
                  <a:cubicBezTo>
                    <a:pt x="51835" y="396365"/>
                    <a:pt x="33892" y="388933"/>
                    <a:pt x="20662" y="375703"/>
                  </a:cubicBezTo>
                  <a:cubicBezTo>
                    <a:pt x="7432" y="362474"/>
                    <a:pt x="0" y="344530"/>
                    <a:pt x="0" y="325821"/>
                  </a:cubicBezTo>
                  <a:lnTo>
                    <a:pt x="0" y="70545"/>
                  </a:lnTo>
                  <a:cubicBezTo>
                    <a:pt x="0" y="51835"/>
                    <a:pt x="7432" y="33892"/>
                    <a:pt x="20662" y="20662"/>
                  </a:cubicBezTo>
                  <a:cubicBezTo>
                    <a:pt x="33892" y="7432"/>
                    <a:pt x="51835" y="0"/>
                    <a:pt x="70545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64790" cy="45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71788" y="4358215"/>
            <a:ext cx="1924050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2800" spc="-22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Classic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81937" y="4031190"/>
            <a:ext cx="2524125" cy="1504950"/>
            <a:chOff x="0" y="0"/>
            <a:chExt cx="664790" cy="396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4790" cy="396365"/>
            </a:xfrm>
            <a:custGeom>
              <a:avLst/>
              <a:gdLst/>
              <a:ahLst/>
              <a:cxnLst/>
              <a:rect r="r" b="b" t="t" l="l"/>
              <a:pathLst>
                <a:path h="396365" w="664790">
                  <a:moveTo>
                    <a:pt x="70545" y="0"/>
                  </a:moveTo>
                  <a:lnTo>
                    <a:pt x="594245" y="0"/>
                  </a:lnTo>
                  <a:cubicBezTo>
                    <a:pt x="612955" y="0"/>
                    <a:pt x="630898" y="7432"/>
                    <a:pt x="644128" y="20662"/>
                  </a:cubicBezTo>
                  <a:cubicBezTo>
                    <a:pt x="657358" y="33892"/>
                    <a:pt x="664790" y="51835"/>
                    <a:pt x="664790" y="70545"/>
                  </a:cubicBezTo>
                  <a:lnTo>
                    <a:pt x="664790" y="325821"/>
                  </a:lnTo>
                  <a:cubicBezTo>
                    <a:pt x="664790" y="364781"/>
                    <a:pt x="633206" y="396365"/>
                    <a:pt x="594245" y="396365"/>
                  </a:cubicBezTo>
                  <a:lnTo>
                    <a:pt x="70545" y="396365"/>
                  </a:lnTo>
                  <a:cubicBezTo>
                    <a:pt x="51835" y="396365"/>
                    <a:pt x="33892" y="388933"/>
                    <a:pt x="20662" y="375703"/>
                  </a:cubicBezTo>
                  <a:cubicBezTo>
                    <a:pt x="7432" y="362474"/>
                    <a:pt x="0" y="344530"/>
                    <a:pt x="0" y="325821"/>
                  </a:cubicBezTo>
                  <a:lnTo>
                    <a:pt x="0" y="70545"/>
                  </a:lnTo>
                  <a:cubicBezTo>
                    <a:pt x="0" y="51835"/>
                    <a:pt x="7432" y="33892"/>
                    <a:pt x="20662" y="20662"/>
                  </a:cubicBezTo>
                  <a:cubicBezTo>
                    <a:pt x="33892" y="7432"/>
                    <a:pt x="51835" y="0"/>
                    <a:pt x="70545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64790" cy="45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81975" y="4358215"/>
            <a:ext cx="1924050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2800" spc="-22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Winner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187362" y="4031190"/>
            <a:ext cx="2524125" cy="1504950"/>
            <a:chOff x="0" y="0"/>
            <a:chExt cx="664790" cy="3963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4790" cy="396365"/>
            </a:xfrm>
            <a:custGeom>
              <a:avLst/>
              <a:gdLst/>
              <a:ahLst/>
              <a:cxnLst/>
              <a:rect r="r" b="b" t="t" l="l"/>
              <a:pathLst>
                <a:path h="396365" w="664790">
                  <a:moveTo>
                    <a:pt x="70545" y="0"/>
                  </a:moveTo>
                  <a:lnTo>
                    <a:pt x="594245" y="0"/>
                  </a:lnTo>
                  <a:cubicBezTo>
                    <a:pt x="612955" y="0"/>
                    <a:pt x="630898" y="7432"/>
                    <a:pt x="644128" y="20662"/>
                  </a:cubicBezTo>
                  <a:cubicBezTo>
                    <a:pt x="657358" y="33892"/>
                    <a:pt x="664790" y="51835"/>
                    <a:pt x="664790" y="70545"/>
                  </a:cubicBezTo>
                  <a:lnTo>
                    <a:pt x="664790" y="325821"/>
                  </a:lnTo>
                  <a:cubicBezTo>
                    <a:pt x="664790" y="364781"/>
                    <a:pt x="633206" y="396365"/>
                    <a:pt x="594245" y="396365"/>
                  </a:cubicBezTo>
                  <a:lnTo>
                    <a:pt x="70545" y="396365"/>
                  </a:lnTo>
                  <a:cubicBezTo>
                    <a:pt x="51835" y="396365"/>
                    <a:pt x="33892" y="388933"/>
                    <a:pt x="20662" y="375703"/>
                  </a:cubicBezTo>
                  <a:cubicBezTo>
                    <a:pt x="7432" y="362474"/>
                    <a:pt x="0" y="344530"/>
                    <a:pt x="0" y="325821"/>
                  </a:cubicBezTo>
                  <a:lnTo>
                    <a:pt x="0" y="70545"/>
                  </a:lnTo>
                  <a:cubicBezTo>
                    <a:pt x="0" y="51835"/>
                    <a:pt x="7432" y="33892"/>
                    <a:pt x="20662" y="20662"/>
                  </a:cubicBezTo>
                  <a:cubicBezTo>
                    <a:pt x="33892" y="7432"/>
                    <a:pt x="51835" y="0"/>
                    <a:pt x="70545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64790" cy="45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87400" y="4358215"/>
            <a:ext cx="1924050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2800" spc="-22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Runner-Up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71750" y="6141508"/>
            <a:ext cx="252412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81938" y="6141508"/>
            <a:ext cx="252412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HAR-RV-X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87362" y="6141508"/>
            <a:ext cx="252412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EWMA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71750" y="7131685"/>
            <a:ext cx="2524125" cy="125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textbook approach to volatility. Struggled at this longer forecast horizon.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81938" y="7131685"/>
            <a:ext cx="2524125" cy="125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Combines short-, medium-, and long-term trends. Our best performer, on old and brand-new data alike.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87363" y="7131685"/>
            <a:ext cx="2524125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simpler, industry-standard method. Solid, but not as sharp as our winner.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05" r="0" b="-1180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10278" y="0"/>
            <a:ext cx="3876497" cy="10287000"/>
            <a:chOff x="0" y="0"/>
            <a:chExt cx="102097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09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20970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229776" y="-3103089"/>
            <a:ext cx="19353779" cy="8206002"/>
          </a:xfrm>
          <a:custGeom>
            <a:avLst/>
            <a:gdLst/>
            <a:ahLst/>
            <a:cxnLst/>
            <a:rect r="r" b="b" t="t" l="l"/>
            <a:pathLst>
              <a:path h="8206002" w="19353779">
                <a:moveTo>
                  <a:pt x="0" y="0"/>
                </a:moveTo>
                <a:lnTo>
                  <a:pt x="19353779" y="0"/>
                </a:lnTo>
                <a:lnTo>
                  <a:pt x="19353779" y="8206002"/>
                </a:lnTo>
                <a:lnTo>
                  <a:pt x="0" y="8206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38625" y="8480478"/>
            <a:ext cx="16475301" cy="6985528"/>
          </a:xfrm>
          <a:custGeom>
            <a:avLst/>
            <a:gdLst/>
            <a:ahLst/>
            <a:cxnLst/>
            <a:rect r="r" b="b" t="t" l="l"/>
            <a:pathLst>
              <a:path h="6985528" w="16475301">
                <a:moveTo>
                  <a:pt x="0" y="0"/>
                </a:moveTo>
                <a:lnTo>
                  <a:pt x="16475301" y="0"/>
                </a:lnTo>
                <a:lnTo>
                  <a:pt x="16475301" y="6985527"/>
                </a:lnTo>
                <a:lnTo>
                  <a:pt x="0" y="69855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810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810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LIVE TESTING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0750" y="6379263"/>
            <a:ext cx="5905500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599" spc="31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COLLECT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0750" y="7102824"/>
            <a:ext cx="5905500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599" spc="31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PREDICT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0750" y="7826386"/>
            <a:ext cx="5905500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599" spc="31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10750" y="4098153"/>
            <a:ext cx="5905500" cy="138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real test: brand-new Bitcoin data the model had never seen, scored the way a trader actually would — before the outcome was known.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77250" y="0"/>
            <a:ext cx="9810750" cy="10287000"/>
          </a:xfrm>
          <a:custGeom>
            <a:avLst/>
            <a:gdLst/>
            <a:ahLst/>
            <a:cxnLst/>
            <a:rect r="r" b="b" t="t" l="l"/>
            <a:pathLst>
              <a:path h="10287000" w="9810750">
                <a:moveTo>
                  <a:pt x="0" y="0"/>
                </a:moveTo>
                <a:lnTo>
                  <a:pt x="9810750" y="0"/>
                </a:lnTo>
                <a:lnTo>
                  <a:pt x="9810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89" t="0" r="-2868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8467725" y="1932"/>
            <a:ext cx="4264457" cy="10287000"/>
            <a:chOff x="0" y="0"/>
            <a:chExt cx="112314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31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23149">
                  <a:moveTo>
                    <a:pt x="0" y="0"/>
                  </a:moveTo>
                  <a:lnTo>
                    <a:pt x="1123149" y="0"/>
                  </a:lnTo>
                  <a:lnTo>
                    <a:pt x="112314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123149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977686" y="-2060246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571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REAL-WORLD USE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1750" y="4543452"/>
            <a:ext cx="1968818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1750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Sizing a Trade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717665"/>
            <a:ext cx="3937635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If the model expects a bigger swing, a trader risks less money on that trade — and gets a clear estimate of how much they could lose in a bad week.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77686" y="-2060246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36892" y="1905000"/>
            <a:ext cx="3979358" cy="3190719"/>
          </a:xfrm>
          <a:custGeom>
            <a:avLst/>
            <a:gdLst/>
            <a:ahLst/>
            <a:cxnLst/>
            <a:rect r="r" b="b" t="t" l="l"/>
            <a:pathLst>
              <a:path h="3190719" w="3979358">
                <a:moveTo>
                  <a:pt x="0" y="0"/>
                </a:moveTo>
                <a:lnTo>
                  <a:pt x="3979358" y="0"/>
                </a:lnTo>
                <a:lnTo>
                  <a:pt x="3979358" y="3190719"/>
                </a:lnTo>
                <a:lnTo>
                  <a:pt x="0" y="3190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73" t="0" r="-1017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77250" y="5191281"/>
            <a:ext cx="3979358" cy="3190719"/>
          </a:xfrm>
          <a:custGeom>
            <a:avLst/>
            <a:gdLst/>
            <a:ahLst/>
            <a:cxnLst/>
            <a:rect r="r" b="b" t="t" l="l"/>
            <a:pathLst>
              <a:path h="3190719" w="3979358">
                <a:moveTo>
                  <a:pt x="0" y="0"/>
                </a:moveTo>
                <a:lnTo>
                  <a:pt x="3979358" y="0"/>
                </a:lnTo>
                <a:lnTo>
                  <a:pt x="3979358" y="3190719"/>
                </a:lnTo>
                <a:lnTo>
                  <a:pt x="0" y="3190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640" r="0" b="-6943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77250" y="1905000"/>
            <a:ext cx="3164914" cy="3190719"/>
          </a:xfrm>
          <a:custGeom>
            <a:avLst/>
            <a:gdLst/>
            <a:ahLst/>
            <a:cxnLst/>
            <a:rect r="r" b="b" t="t" l="l"/>
            <a:pathLst>
              <a:path h="3190719" w="3164914">
                <a:moveTo>
                  <a:pt x="0" y="0"/>
                </a:moveTo>
                <a:lnTo>
                  <a:pt x="3164914" y="0"/>
                </a:lnTo>
                <a:lnTo>
                  <a:pt x="3164914" y="3190719"/>
                </a:lnTo>
                <a:lnTo>
                  <a:pt x="0" y="319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095" t="0" r="-498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51336" y="5191281"/>
            <a:ext cx="3164914" cy="3190719"/>
          </a:xfrm>
          <a:custGeom>
            <a:avLst/>
            <a:gdLst/>
            <a:ahLst/>
            <a:cxnLst/>
            <a:rect r="r" b="b" t="t" l="l"/>
            <a:pathLst>
              <a:path h="3190719" w="3164914">
                <a:moveTo>
                  <a:pt x="0" y="0"/>
                </a:moveTo>
                <a:lnTo>
                  <a:pt x="3164914" y="0"/>
                </a:lnTo>
                <a:lnTo>
                  <a:pt x="3164914" y="3190719"/>
                </a:lnTo>
                <a:lnTo>
                  <a:pt x="0" y="31907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8565" r="0" b="-18565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571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REAL-WORLD USE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1750" y="4543452"/>
            <a:ext cx="1968818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1750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Pricing an Option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717665"/>
            <a:ext cx="3937635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Option prices depend on how much a market is expected to move. Our forecast gives a data-driven answer to compare against what the market is charging.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627888"/>
            <a:ext cx="18288000" cy="7754112"/>
          </a:xfrm>
          <a:custGeom>
            <a:avLst/>
            <a:gdLst/>
            <a:ahLst/>
            <a:cxnLst/>
            <a:rect r="r" b="b" t="t" l="l"/>
            <a:pathLst>
              <a:path h="7754112" w="18288000">
                <a:moveTo>
                  <a:pt x="0" y="0"/>
                </a:moveTo>
                <a:lnTo>
                  <a:pt x="18288000" y="0"/>
                </a:lnTo>
                <a:lnTo>
                  <a:pt x="18288000" y="7754112"/>
                </a:lnTo>
                <a:lnTo>
                  <a:pt x="0" y="7754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810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2836216" y="3112049"/>
            <a:ext cx="0" cy="1789062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2836216" y="6773068"/>
            <a:ext cx="0" cy="3513932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571750" y="1905000"/>
            <a:ext cx="538456" cy="538456"/>
          </a:xfrm>
          <a:custGeom>
            <a:avLst/>
            <a:gdLst/>
            <a:ahLst/>
            <a:cxnLst/>
            <a:rect r="r" b="b" t="t" l="l"/>
            <a:pathLst>
              <a:path h="538456" w="538456">
                <a:moveTo>
                  <a:pt x="0" y="0"/>
                </a:moveTo>
                <a:lnTo>
                  <a:pt x="538456" y="0"/>
                </a:lnTo>
                <a:lnTo>
                  <a:pt x="538456" y="538456"/>
                </a:lnTo>
                <a:lnTo>
                  <a:pt x="0" y="538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85456" y="5567861"/>
            <a:ext cx="524750" cy="538456"/>
          </a:xfrm>
          <a:custGeom>
            <a:avLst/>
            <a:gdLst/>
            <a:ahLst/>
            <a:cxnLst/>
            <a:rect r="r" b="b" t="t" l="l"/>
            <a:pathLst>
              <a:path h="538456" w="524750">
                <a:moveTo>
                  <a:pt x="0" y="0"/>
                </a:moveTo>
                <a:lnTo>
                  <a:pt x="524750" y="0"/>
                </a:lnTo>
                <a:lnTo>
                  <a:pt x="524750" y="538457"/>
                </a:lnTo>
                <a:lnTo>
                  <a:pt x="0" y="538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107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GOOD TO KNOW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0750" y="3612766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Two honest caveats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94294" y="1847850"/>
            <a:ext cx="30672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MARKET NEWS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94294" y="5620872"/>
            <a:ext cx="30672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ONE COIN ONLY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0750" y="4319521"/>
            <a:ext cx="5905500" cy="194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No model is perfect. Two things are worth knowing before using this one.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94294" y="2465124"/>
            <a:ext cx="3067243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Price data alone can't see breaking news or new regulation — a real limit on any forecast like this.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94294" y="6231506"/>
            <a:ext cx="306724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model only looks at Bitcoin. It doesn't yet use signals from other cryptocurrencies.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1750" y="1905000"/>
            <a:ext cx="13144500" cy="5573268"/>
          </a:xfrm>
          <a:custGeom>
            <a:avLst/>
            <a:gdLst/>
            <a:ahLst/>
            <a:cxnLst/>
            <a:rect r="r" b="b" t="t" l="l"/>
            <a:pathLst>
              <a:path h="5573268" w="13144500">
                <a:moveTo>
                  <a:pt x="0" y="0"/>
                </a:moveTo>
                <a:lnTo>
                  <a:pt x="13144500" y="0"/>
                </a:lnTo>
                <a:lnTo>
                  <a:pt x="13144500" y="5573268"/>
                </a:lnTo>
                <a:lnTo>
                  <a:pt x="0" y="5573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1750" y="2607999"/>
            <a:ext cx="702602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</a:t>
            </a:r>
          </a:p>
        </p:txBody>
      </p:sp>
      <p:sp>
        <p:nvSpPr>
          <p:cNvPr name="AutoShape 4" id="4"/>
          <p:cNvSpPr/>
          <p:nvPr/>
        </p:nvSpPr>
        <p:spPr>
          <a:xfrm>
            <a:off x="2571750" y="3521818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571750" y="1905000"/>
            <a:ext cx="274374" cy="274374"/>
          </a:xfrm>
          <a:custGeom>
            <a:avLst/>
            <a:gdLst/>
            <a:ahLst/>
            <a:cxnLst/>
            <a:rect r="r" b="b" t="t" l="l"/>
            <a:pathLst>
              <a:path h="274374" w="274374">
                <a:moveTo>
                  <a:pt x="0" y="0"/>
                </a:moveTo>
                <a:lnTo>
                  <a:pt x="274374" y="0"/>
                </a:lnTo>
                <a:lnTo>
                  <a:pt x="274374" y="274374"/>
                </a:lnTo>
                <a:lnTo>
                  <a:pt x="0" y="2743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6624" y="1914525"/>
            <a:ext cx="1645920" cy="26479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71750" y="7572692"/>
            <a:ext cx="1645920" cy="42481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Cohort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46714" y="7584439"/>
            <a:ext cx="1645920" cy="42481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4310" y="7572692"/>
            <a:ext cx="1645920" cy="42481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1750" y="7990205"/>
            <a:ext cx="2074664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DSB2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46714" y="8001952"/>
            <a:ext cx="361048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Bitcoin Volatility Prediction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54310" y="7990205"/>
            <a:ext cx="266194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Mohammed Hejairi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DAHTwvUw_og</dc:identifier>
  <dcterms:modified xsi:type="dcterms:W3CDTF">2011-08-01T06:04:30Z</dcterms:modified>
  <cp:revision>1</cp:revision>
  <dc:title>capstone-btc-volatility.pptx</dc:title>
</cp:coreProperties>
</file>