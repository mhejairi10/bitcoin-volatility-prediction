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9966960" y="548640"/>
            <a:ext cx="1371600" cy="1371600"/>
          </a:xfrm>
          <a:prstGeom prst="ellipse">
            <a:avLst/>
          </a:prstGeom>
          <a:solidFill>
            <a:srgbClr val="1B4965"/>
          </a:solidFill>
          <a:ln/>
        </p:spPr>
      </p:sp>
      <p:sp>
        <p:nvSpPr>
          <p:cNvPr id="3" name="Shape 1"/>
          <p:cNvSpPr/>
          <p:nvPr/>
        </p:nvSpPr>
        <p:spPr>
          <a:xfrm flipV="1">
            <a:off x="10268712" y="965606"/>
            <a:ext cx="230429" cy="384048"/>
          </a:xfrm>
          <a:prstGeom prst="line">
            <a:avLst/>
          </a:prstGeom>
          <a:noFill/>
          <a:ln w="25400">
            <a:solidFill>
              <a:srgbClr val="F7931A"/>
            </a:solidFill>
            <a:prstDash val="solid"/>
          </a:ln>
        </p:spPr>
      </p:sp>
      <p:sp>
        <p:nvSpPr>
          <p:cNvPr id="4" name="Shape 2"/>
          <p:cNvSpPr/>
          <p:nvPr/>
        </p:nvSpPr>
        <p:spPr>
          <a:xfrm>
            <a:off x="10499141" y="965606"/>
            <a:ext cx="153619" cy="460858"/>
          </a:xfrm>
          <a:prstGeom prst="line">
            <a:avLst/>
          </a:prstGeom>
          <a:noFill/>
          <a:ln w="25400">
            <a:solidFill>
              <a:srgbClr val="F7931A"/>
            </a:solidFill>
            <a:prstDash val="solid"/>
          </a:ln>
        </p:spPr>
      </p:sp>
      <p:sp>
        <p:nvSpPr>
          <p:cNvPr id="5" name="Shape 3"/>
          <p:cNvSpPr/>
          <p:nvPr/>
        </p:nvSpPr>
        <p:spPr>
          <a:xfrm flipV="1">
            <a:off x="10652760" y="850392"/>
            <a:ext cx="192024" cy="576072"/>
          </a:xfrm>
          <a:prstGeom prst="line">
            <a:avLst/>
          </a:prstGeom>
          <a:noFill/>
          <a:ln w="25400">
            <a:solidFill>
              <a:srgbClr val="F7931A"/>
            </a:solidFill>
            <a:prstDash val="solid"/>
          </a:ln>
        </p:spPr>
      </p:sp>
      <p:sp>
        <p:nvSpPr>
          <p:cNvPr id="6" name="Shape 4"/>
          <p:cNvSpPr/>
          <p:nvPr/>
        </p:nvSpPr>
        <p:spPr>
          <a:xfrm>
            <a:off x="10844784" y="850392"/>
            <a:ext cx="192024" cy="345643"/>
          </a:xfrm>
          <a:prstGeom prst="line">
            <a:avLst/>
          </a:prstGeom>
          <a:noFill/>
          <a:ln w="25400">
            <a:solidFill>
              <a:srgbClr val="F7931A"/>
            </a:solidFill>
            <a:prstDash val="solid"/>
          </a:ln>
        </p:spPr>
      </p:sp>
      <p:sp>
        <p:nvSpPr>
          <p:cNvPr id="7" name="Text 5"/>
          <p:cNvSpPr/>
          <p:nvPr/>
        </p:nvSpPr>
        <p:spPr>
          <a:xfrm>
            <a:off x="731520" y="2194560"/>
            <a:ext cx="9144000" cy="457200"/>
          </a:xfrm>
          <a:prstGeom prst="rect">
            <a:avLst/>
          </a:prstGeom>
          <a:noFill/>
          <a:ln/>
        </p:spPr>
        <p:txBody>
          <a:bodyPr wrap="square" rtlCol="0" anchor="ctr"/>
          <a:lstStyle/>
          <a:p>
            <a:pPr indent="0" marL="0">
              <a:buNone/>
            </a:pPr>
            <a:r>
              <a:rPr lang="en-US" sz="1500" b="1" spc="300" kern="0" dirty="0">
                <a:solidFill>
                  <a:srgbClr val="F7931A"/>
                </a:solidFill>
                <a:latin typeface="Calibri" pitchFamily="34" charset="0"/>
                <a:ea typeface="Calibri" pitchFamily="34" charset="-122"/>
                <a:cs typeface="Calibri" pitchFamily="34" charset="-120"/>
              </a:rPr>
              <a:t>DATA SCIENCE CAPSTONE</a:t>
            </a:r>
            <a:endParaRPr lang="en-US" sz="1500" dirty="0"/>
          </a:p>
        </p:txBody>
      </p:sp>
      <p:sp>
        <p:nvSpPr>
          <p:cNvPr id="8" name="Text 6"/>
          <p:cNvSpPr/>
          <p:nvPr/>
        </p:nvSpPr>
        <p:spPr>
          <a:xfrm>
            <a:off x="731520" y="2651760"/>
            <a:ext cx="10058400" cy="1737360"/>
          </a:xfrm>
          <a:prstGeom prst="rect">
            <a:avLst/>
          </a:prstGeom>
          <a:noFill/>
          <a:ln/>
        </p:spPr>
        <p:txBody>
          <a:bodyPr wrap="square"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Bitcoin Volatility</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Prediction</a:t>
            </a:r>
            <a:endParaRPr lang="en-US" sz="4400" dirty="0"/>
          </a:p>
        </p:txBody>
      </p:sp>
      <p:sp>
        <p:nvSpPr>
          <p:cNvPr id="9" name="Text 7"/>
          <p:cNvSpPr/>
          <p:nvPr/>
        </p:nvSpPr>
        <p:spPr>
          <a:xfrm>
            <a:off x="731520" y="4434840"/>
            <a:ext cx="8686800" cy="45720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Forecasting how much price will move — not where it will go.</a:t>
            </a:r>
            <a:endParaRPr lang="en-US" sz="1600" dirty="0"/>
          </a:p>
        </p:txBody>
      </p:sp>
      <p:sp>
        <p:nvSpPr>
          <p:cNvPr id="10" name="Text 8"/>
          <p:cNvSpPr/>
          <p:nvPr/>
        </p:nvSpPr>
        <p:spPr>
          <a:xfrm>
            <a:off x="731520" y="5852160"/>
            <a:ext cx="7315200" cy="365760"/>
          </a:xfrm>
          <a:prstGeom prst="rect">
            <a:avLst/>
          </a:prstGeom>
          <a:noFill/>
          <a:ln/>
        </p:spPr>
        <p:txBody>
          <a:bodyPr wrap="square" rtlCol="0" anchor="ctr"/>
          <a:lstStyle/>
          <a:p>
            <a:pPr indent="0" marL="0">
              <a:buNone/>
            </a:pPr>
            <a:r>
              <a:rPr lang="en-US" sz="1400" b="1" dirty="0">
                <a:solidFill>
                  <a:srgbClr val="1B4965"/>
                </a:solidFill>
                <a:latin typeface="Calibri" pitchFamily="34" charset="0"/>
                <a:ea typeface="Calibri" pitchFamily="34" charset="-122"/>
                <a:cs typeface="Calibri" pitchFamily="34" charset="-120"/>
              </a:rPr>
              <a:t>Mohammed Hejairi   ·   Cohort DSB2</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10972800" y="365760"/>
            <a:ext cx="731520" cy="731520"/>
          </a:xfrm>
          <a:prstGeom prst="ellipse">
            <a:avLst/>
          </a:prstGeom>
          <a:solidFill>
            <a:srgbClr val="0D1B2A"/>
          </a:solidFill>
          <a:ln/>
        </p:spPr>
      </p:sp>
      <p:sp>
        <p:nvSpPr>
          <p:cNvPr id="3" name="Shape 1"/>
          <p:cNvSpPr/>
          <p:nvPr/>
        </p:nvSpPr>
        <p:spPr>
          <a:xfrm flipV="1">
            <a:off x="11133734" y="588142"/>
            <a:ext cx="122895" cy="204826"/>
          </a:xfrm>
          <a:prstGeom prst="line">
            <a:avLst/>
          </a:prstGeom>
          <a:noFill/>
          <a:ln w="25400">
            <a:solidFill>
              <a:srgbClr val="F7931A"/>
            </a:solidFill>
            <a:prstDash val="solid"/>
          </a:ln>
        </p:spPr>
      </p:sp>
      <p:sp>
        <p:nvSpPr>
          <p:cNvPr id="4" name="Shape 2"/>
          <p:cNvSpPr/>
          <p:nvPr/>
        </p:nvSpPr>
        <p:spPr>
          <a:xfrm>
            <a:off x="11256630" y="588142"/>
            <a:ext cx="81930" cy="245791"/>
          </a:xfrm>
          <a:prstGeom prst="line">
            <a:avLst/>
          </a:prstGeom>
          <a:noFill/>
          <a:ln w="25400">
            <a:solidFill>
              <a:srgbClr val="F7931A"/>
            </a:solidFill>
            <a:prstDash val="solid"/>
          </a:ln>
        </p:spPr>
      </p:sp>
      <p:sp>
        <p:nvSpPr>
          <p:cNvPr id="5" name="Shape 3"/>
          <p:cNvSpPr/>
          <p:nvPr/>
        </p:nvSpPr>
        <p:spPr>
          <a:xfrm flipV="1">
            <a:off x="11338560" y="526694"/>
            <a:ext cx="102413" cy="307238"/>
          </a:xfrm>
          <a:prstGeom prst="line">
            <a:avLst/>
          </a:prstGeom>
          <a:noFill/>
          <a:ln w="25400">
            <a:solidFill>
              <a:srgbClr val="F7931A"/>
            </a:solidFill>
            <a:prstDash val="solid"/>
          </a:ln>
        </p:spPr>
      </p:sp>
      <p:sp>
        <p:nvSpPr>
          <p:cNvPr id="6" name="Shape 4"/>
          <p:cNvSpPr/>
          <p:nvPr/>
        </p:nvSpPr>
        <p:spPr>
          <a:xfrm>
            <a:off x="11440973" y="526694"/>
            <a:ext cx="102413" cy="184343"/>
          </a:xfrm>
          <a:prstGeom prst="line">
            <a:avLst/>
          </a:prstGeom>
          <a:noFill/>
          <a:ln w="25400">
            <a:solidFill>
              <a:srgbClr val="F7931A"/>
            </a:solidFill>
            <a:prstDash val="solid"/>
          </a:ln>
        </p:spPr>
      </p:sp>
      <p:sp>
        <p:nvSpPr>
          <p:cNvPr id="7" name="Text 5"/>
          <p:cNvSpPr/>
          <p:nvPr/>
        </p:nvSpPr>
        <p:spPr>
          <a:xfrm>
            <a:off x="548640" y="365760"/>
            <a:ext cx="10058400" cy="640080"/>
          </a:xfrm>
          <a:prstGeom prst="rect">
            <a:avLst/>
          </a:prstGeom>
          <a:noFill/>
          <a:ln/>
        </p:spPr>
        <p:txBody>
          <a:bodyPr wrap="square" rtlCol="0" anchor="ctr"/>
          <a:lstStyle/>
          <a:p>
            <a:pPr indent="0" marL="0">
              <a:buNone/>
            </a:pPr>
            <a:r>
              <a:rPr lang="en-US" sz="3000" b="1" dirty="0">
                <a:solidFill>
                  <a:srgbClr val="0D1B2A"/>
                </a:solidFill>
                <a:latin typeface="Cambria" pitchFamily="34" charset="0"/>
                <a:ea typeface="Cambria" pitchFamily="34" charset="-122"/>
                <a:cs typeface="Cambria" pitchFamily="34" charset="-120"/>
              </a:rPr>
              <a:t>Introduction</a:t>
            </a:r>
            <a:endParaRPr lang="en-US" sz="3000" dirty="0"/>
          </a:p>
        </p:txBody>
      </p:sp>
      <p:sp>
        <p:nvSpPr>
          <p:cNvPr id="8" name="Text 6"/>
          <p:cNvSpPr/>
          <p:nvPr/>
        </p:nvSpPr>
        <p:spPr>
          <a:xfrm>
            <a:off x="548640" y="932688"/>
            <a:ext cx="10515600" cy="365760"/>
          </a:xfrm>
          <a:prstGeom prst="rect">
            <a:avLst/>
          </a:prstGeom>
          <a:noFill/>
          <a:ln/>
        </p:spPr>
        <p:txBody>
          <a:bodyPr wrap="square" rtlCol="0" anchor="ctr"/>
          <a:lstStyle/>
          <a:p>
            <a:pPr indent="0" marL="0">
              <a:buNone/>
            </a:pPr>
            <a:r>
              <a:rPr lang="en-US" sz="1400" i="1" dirty="0">
                <a:solidFill>
                  <a:srgbClr val="5C6B7A"/>
                </a:solidFill>
                <a:latin typeface="Calibri" pitchFamily="34" charset="0"/>
                <a:ea typeface="Calibri" pitchFamily="34" charset="-122"/>
                <a:cs typeface="Calibri" pitchFamily="34" charset="-120"/>
              </a:rPr>
              <a:t>What this project is, in one slide</a:t>
            </a:r>
            <a:endParaRPr lang="en-US" sz="1400" dirty="0"/>
          </a:p>
        </p:txBody>
      </p:sp>
      <p:sp>
        <p:nvSpPr>
          <p:cNvPr id="9" name="Text 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C6B7A"/>
                </a:solidFill>
                <a:latin typeface="Calibri" pitchFamily="34" charset="0"/>
                <a:ea typeface="Calibri" pitchFamily="34" charset="-122"/>
                <a:cs typeface="Calibri" pitchFamily="34" charset="-120"/>
              </a:rPr>
              <a:t>BTC Volatility Prediction  |  Capstone</a:t>
            </a:r>
            <a:endParaRPr lang="en-US" sz="900" dirty="0"/>
          </a:p>
        </p:txBody>
      </p:sp>
      <p:sp>
        <p:nvSpPr>
          <p:cNvPr id="10" name="Text 8"/>
          <p:cNvSpPr/>
          <p:nvPr/>
        </p:nvSpPr>
        <p:spPr>
          <a:xfrm>
            <a:off x="11521440" y="6537960"/>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2</a:t>
            </a:r>
            <a:endParaRPr lang="en-US" sz="900" dirty="0"/>
          </a:p>
        </p:txBody>
      </p:sp>
      <p:sp>
        <p:nvSpPr>
          <p:cNvPr id="11" name="Shape 9"/>
          <p:cNvSpPr/>
          <p:nvPr/>
        </p:nvSpPr>
        <p:spPr>
          <a:xfrm>
            <a:off x="640080" y="1673352"/>
            <a:ext cx="457200" cy="457200"/>
          </a:xfrm>
          <a:prstGeom prst="ellipse">
            <a:avLst/>
          </a:prstGeom>
          <a:solidFill>
            <a:srgbClr val="1B4965"/>
          </a:solidFill>
          <a:ln/>
        </p:spPr>
      </p:sp>
      <p:sp>
        <p:nvSpPr>
          <p:cNvPr id="12" name="Text 10"/>
          <p:cNvSpPr/>
          <p:nvPr/>
        </p:nvSpPr>
        <p:spPr>
          <a:xfrm>
            <a:off x="640080" y="1673352"/>
            <a:ext cx="457200" cy="457200"/>
          </a:xfrm>
          <a:prstGeom prst="rect">
            <a:avLst/>
          </a:prstGeom>
          <a:noFill/>
          <a:ln/>
        </p:spPr>
        <p:txBody>
          <a:bodyPr wrap="square" rtlCol="0" anchor="ctr"/>
          <a:lstStyle/>
          <a:p>
            <a:pPr algn="ctr" indent="0" marL="0">
              <a:buNone/>
            </a:pPr>
            <a:r>
              <a:rPr lang="en-US" sz="1600" b="1" dirty="0">
                <a:solidFill>
                  <a:srgbClr val="F7931A"/>
                </a:solidFill>
                <a:latin typeface="Cambria" pitchFamily="34" charset="0"/>
                <a:ea typeface="Cambria" pitchFamily="34" charset="-122"/>
                <a:cs typeface="Cambria" pitchFamily="34" charset="-120"/>
              </a:rPr>
              <a:t>1</a:t>
            </a:r>
            <a:endParaRPr lang="en-US" sz="1600" dirty="0"/>
          </a:p>
        </p:txBody>
      </p:sp>
      <p:sp>
        <p:nvSpPr>
          <p:cNvPr id="13" name="Text 11"/>
          <p:cNvSpPr/>
          <p:nvPr/>
        </p:nvSpPr>
        <p:spPr>
          <a:xfrm>
            <a:off x="1325880" y="1600200"/>
            <a:ext cx="10058400" cy="329184"/>
          </a:xfrm>
          <a:prstGeom prst="rect">
            <a:avLst/>
          </a:prstGeom>
          <a:noFill/>
          <a:ln/>
        </p:spPr>
        <p:txBody>
          <a:bodyPr wrap="square" rtlCol="0" anchor="ctr"/>
          <a:lstStyle/>
          <a:p>
            <a:pPr indent="0" marL="0">
              <a:buNone/>
            </a:pPr>
            <a:r>
              <a:rPr lang="en-US" sz="1500" b="1" dirty="0">
                <a:solidFill>
                  <a:srgbClr val="0D1B2A"/>
                </a:solidFill>
                <a:latin typeface="Cambria" pitchFamily="34" charset="0"/>
                <a:ea typeface="Cambria" pitchFamily="34" charset="-122"/>
                <a:cs typeface="Cambria" pitchFamily="34" charset="-120"/>
              </a:rPr>
              <a:t>Bitcoin swings hard, and it swings in bursts.</a:t>
            </a:r>
            <a:endParaRPr lang="en-US" sz="1500" dirty="0"/>
          </a:p>
        </p:txBody>
      </p:sp>
      <p:sp>
        <p:nvSpPr>
          <p:cNvPr id="14" name="Text 12"/>
          <p:cNvSpPr/>
          <p:nvPr/>
        </p:nvSpPr>
        <p:spPr>
          <a:xfrm>
            <a:off x="1325880" y="1929384"/>
            <a:ext cx="10058400" cy="310896"/>
          </a:xfrm>
          <a:prstGeom prst="rect">
            <a:avLst/>
          </a:prstGeom>
          <a:noFill/>
          <a:ln/>
        </p:spPr>
        <p:txBody>
          <a:bodyPr wrap="square" rtlCol="0" anchor="ctr"/>
          <a:lstStyle/>
          <a:p>
            <a:pPr indent="0" marL="0">
              <a:buNone/>
            </a:pPr>
            <a:r>
              <a:rPr lang="en-US" sz="1250" dirty="0">
                <a:solidFill>
                  <a:srgbClr val="0D1B2A"/>
                </a:solidFill>
                <a:latin typeface="Calibri" pitchFamily="34" charset="0"/>
                <a:ea typeface="Calibri" pitchFamily="34" charset="-122"/>
                <a:cs typeface="Calibri" pitchFamily="34" charset="-120"/>
              </a:rPr>
              <a:t>Calm stretches are punctuated by sharp spikes — a pattern called volatility clustering.</a:t>
            </a:r>
            <a:endParaRPr lang="en-US" sz="1250" dirty="0"/>
          </a:p>
        </p:txBody>
      </p:sp>
      <p:sp>
        <p:nvSpPr>
          <p:cNvPr id="15" name="Shape 13"/>
          <p:cNvSpPr/>
          <p:nvPr/>
        </p:nvSpPr>
        <p:spPr>
          <a:xfrm>
            <a:off x="640080" y="2788920"/>
            <a:ext cx="457200" cy="457200"/>
          </a:xfrm>
          <a:prstGeom prst="ellipse">
            <a:avLst/>
          </a:prstGeom>
          <a:solidFill>
            <a:srgbClr val="0D1B2A"/>
          </a:solidFill>
          <a:ln/>
        </p:spPr>
      </p:sp>
      <p:sp>
        <p:nvSpPr>
          <p:cNvPr id="16" name="Text 14"/>
          <p:cNvSpPr/>
          <p:nvPr/>
        </p:nvSpPr>
        <p:spPr>
          <a:xfrm>
            <a:off x="640080" y="2788920"/>
            <a:ext cx="457200" cy="457200"/>
          </a:xfrm>
          <a:prstGeom prst="rect">
            <a:avLst/>
          </a:prstGeom>
          <a:noFill/>
          <a:ln/>
        </p:spPr>
        <p:txBody>
          <a:bodyPr wrap="square" rtlCol="0" anchor="ctr"/>
          <a:lstStyle/>
          <a:p>
            <a:pPr algn="ctr" indent="0" marL="0">
              <a:buNone/>
            </a:pPr>
            <a:r>
              <a:rPr lang="en-US" sz="1600" b="1" dirty="0">
                <a:solidFill>
                  <a:srgbClr val="F7931A"/>
                </a:solidFill>
                <a:latin typeface="Cambria" pitchFamily="34" charset="0"/>
                <a:ea typeface="Cambria" pitchFamily="34" charset="-122"/>
                <a:cs typeface="Cambria" pitchFamily="34" charset="-120"/>
              </a:rPr>
              <a:t>2</a:t>
            </a:r>
            <a:endParaRPr lang="en-US" sz="1600" dirty="0"/>
          </a:p>
        </p:txBody>
      </p:sp>
      <p:sp>
        <p:nvSpPr>
          <p:cNvPr id="17" name="Text 15"/>
          <p:cNvSpPr/>
          <p:nvPr/>
        </p:nvSpPr>
        <p:spPr>
          <a:xfrm>
            <a:off x="1325880" y="2715768"/>
            <a:ext cx="10058400" cy="329184"/>
          </a:xfrm>
          <a:prstGeom prst="rect">
            <a:avLst/>
          </a:prstGeom>
          <a:noFill/>
          <a:ln/>
        </p:spPr>
        <p:txBody>
          <a:bodyPr wrap="square" rtlCol="0" anchor="ctr"/>
          <a:lstStyle/>
          <a:p>
            <a:pPr indent="0" marL="0">
              <a:buNone/>
            </a:pPr>
            <a:r>
              <a:rPr lang="en-US" sz="1500" b="1" dirty="0">
                <a:solidFill>
                  <a:srgbClr val="0D1B2A"/>
                </a:solidFill>
                <a:latin typeface="Cambria" pitchFamily="34" charset="0"/>
                <a:ea typeface="Cambria" pitchFamily="34" charset="-122"/>
                <a:cs typeface="Cambria" pitchFamily="34" charset="-120"/>
              </a:rPr>
              <a:t>Most crypto projects predict price. This one doesn't.</a:t>
            </a:r>
            <a:endParaRPr lang="en-US" sz="1500" dirty="0"/>
          </a:p>
        </p:txBody>
      </p:sp>
      <p:sp>
        <p:nvSpPr>
          <p:cNvPr id="18" name="Text 16"/>
          <p:cNvSpPr/>
          <p:nvPr/>
        </p:nvSpPr>
        <p:spPr>
          <a:xfrm>
            <a:off x="1325880" y="3044952"/>
            <a:ext cx="10058400" cy="310896"/>
          </a:xfrm>
          <a:prstGeom prst="rect">
            <a:avLst/>
          </a:prstGeom>
          <a:noFill/>
          <a:ln/>
        </p:spPr>
        <p:txBody>
          <a:bodyPr wrap="square" rtlCol="0" anchor="ctr"/>
          <a:lstStyle/>
          <a:p>
            <a:pPr indent="0" marL="0">
              <a:buNone/>
            </a:pPr>
            <a:r>
              <a:rPr lang="en-US" sz="1250" dirty="0">
                <a:solidFill>
                  <a:srgbClr val="0D1B2A"/>
                </a:solidFill>
                <a:latin typeface="Calibri" pitchFamily="34" charset="0"/>
                <a:ea typeface="Calibri" pitchFamily="34" charset="-122"/>
                <a:cs typeface="Calibri" pitchFamily="34" charset="-120"/>
              </a:rPr>
              <a:t>Predicting direction in an efficient market is near-impossible. Predicting turbulence is tractable.</a:t>
            </a:r>
            <a:endParaRPr lang="en-US" sz="1250" dirty="0"/>
          </a:p>
        </p:txBody>
      </p:sp>
      <p:sp>
        <p:nvSpPr>
          <p:cNvPr id="19" name="Shape 17"/>
          <p:cNvSpPr/>
          <p:nvPr/>
        </p:nvSpPr>
        <p:spPr>
          <a:xfrm>
            <a:off x="640080" y="3904488"/>
            <a:ext cx="457200" cy="457200"/>
          </a:xfrm>
          <a:prstGeom prst="ellipse">
            <a:avLst/>
          </a:prstGeom>
          <a:solidFill>
            <a:srgbClr val="1B4965"/>
          </a:solidFill>
          <a:ln/>
        </p:spPr>
      </p:sp>
      <p:sp>
        <p:nvSpPr>
          <p:cNvPr id="20" name="Text 18"/>
          <p:cNvSpPr/>
          <p:nvPr/>
        </p:nvSpPr>
        <p:spPr>
          <a:xfrm>
            <a:off x="640080" y="3904488"/>
            <a:ext cx="457200" cy="457200"/>
          </a:xfrm>
          <a:prstGeom prst="rect">
            <a:avLst/>
          </a:prstGeom>
          <a:noFill/>
          <a:ln/>
        </p:spPr>
        <p:txBody>
          <a:bodyPr wrap="square" rtlCol="0" anchor="ctr"/>
          <a:lstStyle/>
          <a:p>
            <a:pPr algn="ctr" indent="0" marL="0">
              <a:buNone/>
            </a:pPr>
            <a:r>
              <a:rPr lang="en-US" sz="1600" b="1" dirty="0">
                <a:solidFill>
                  <a:srgbClr val="F7931A"/>
                </a:solidFill>
                <a:latin typeface="Cambria" pitchFamily="34" charset="0"/>
                <a:ea typeface="Cambria" pitchFamily="34" charset="-122"/>
                <a:cs typeface="Cambria" pitchFamily="34" charset="-120"/>
              </a:rPr>
              <a:t>3</a:t>
            </a:r>
            <a:endParaRPr lang="en-US" sz="1600" dirty="0"/>
          </a:p>
        </p:txBody>
      </p:sp>
      <p:sp>
        <p:nvSpPr>
          <p:cNvPr id="21" name="Text 19"/>
          <p:cNvSpPr/>
          <p:nvPr/>
        </p:nvSpPr>
        <p:spPr>
          <a:xfrm>
            <a:off x="1325880" y="3831336"/>
            <a:ext cx="10058400" cy="329184"/>
          </a:xfrm>
          <a:prstGeom prst="rect">
            <a:avLst/>
          </a:prstGeom>
          <a:noFill/>
          <a:ln/>
        </p:spPr>
        <p:txBody>
          <a:bodyPr wrap="square" rtlCol="0" anchor="ctr"/>
          <a:lstStyle/>
          <a:p>
            <a:pPr indent="0" marL="0">
              <a:buNone/>
            </a:pPr>
            <a:r>
              <a:rPr lang="en-US" sz="1500" b="1" dirty="0">
                <a:solidFill>
                  <a:srgbClr val="0D1B2A"/>
                </a:solidFill>
                <a:latin typeface="Cambria" pitchFamily="34" charset="0"/>
                <a:ea typeface="Cambria" pitchFamily="34" charset="-122"/>
                <a:cs typeface="Cambria" pitchFamily="34" charset="-120"/>
              </a:rPr>
              <a:t>The target: 7-day realised volatility, updated hourly.</a:t>
            </a:r>
            <a:endParaRPr lang="en-US" sz="1500" dirty="0"/>
          </a:p>
        </p:txBody>
      </p:sp>
      <p:sp>
        <p:nvSpPr>
          <p:cNvPr id="22" name="Text 20"/>
          <p:cNvSpPr/>
          <p:nvPr/>
        </p:nvSpPr>
        <p:spPr>
          <a:xfrm>
            <a:off x="1325880" y="4160520"/>
            <a:ext cx="10058400" cy="310896"/>
          </a:xfrm>
          <a:prstGeom prst="rect">
            <a:avLst/>
          </a:prstGeom>
          <a:noFill/>
          <a:ln/>
        </p:spPr>
        <p:txBody>
          <a:bodyPr wrap="square" rtlCol="0" anchor="ctr"/>
          <a:lstStyle/>
          <a:p>
            <a:pPr indent="0" marL="0">
              <a:buNone/>
            </a:pPr>
            <a:r>
              <a:rPr lang="en-US" sz="1250" dirty="0">
                <a:solidFill>
                  <a:srgbClr val="0D1B2A"/>
                </a:solidFill>
                <a:latin typeface="Calibri" pitchFamily="34" charset="0"/>
                <a:ea typeface="Calibri" pitchFamily="34" charset="-122"/>
                <a:cs typeface="Calibri" pitchFamily="34" charset="-120"/>
              </a:rPr>
              <a:t>Rolling standard deviation of hourly returns over a 168-hour window.</a:t>
            </a:r>
            <a:endParaRPr lang="en-US" sz="1250" dirty="0"/>
          </a:p>
        </p:txBody>
      </p:sp>
      <p:sp>
        <p:nvSpPr>
          <p:cNvPr id="23" name="Shape 21"/>
          <p:cNvSpPr/>
          <p:nvPr/>
        </p:nvSpPr>
        <p:spPr>
          <a:xfrm>
            <a:off x="640080" y="5020056"/>
            <a:ext cx="457200" cy="457200"/>
          </a:xfrm>
          <a:prstGeom prst="ellipse">
            <a:avLst/>
          </a:prstGeom>
          <a:solidFill>
            <a:srgbClr val="0D1B2A"/>
          </a:solidFill>
          <a:ln/>
        </p:spPr>
      </p:sp>
      <p:sp>
        <p:nvSpPr>
          <p:cNvPr id="24" name="Text 22"/>
          <p:cNvSpPr/>
          <p:nvPr/>
        </p:nvSpPr>
        <p:spPr>
          <a:xfrm>
            <a:off x="640080" y="5020056"/>
            <a:ext cx="457200" cy="457200"/>
          </a:xfrm>
          <a:prstGeom prst="rect">
            <a:avLst/>
          </a:prstGeom>
          <a:noFill/>
          <a:ln/>
        </p:spPr>
        <p:txBody>
          <a:bodyPr wrap="square" rtlCol="0" anchor="ctr"/>
          <a:lstStyle/>
          <a:p>
            <a:pPr algn="ctr" indent="0" marL="0">
              <a:buNone/>
            </a:pPr>
            <a:r>
              <a:rPr lang="en-US" sz="1600" b="1" dirty="0">
                <a:solidFill>
                  <a:srgbClr val="F7931A"/>
                </a:solidFill>
                <a:latin typeface="Cambria" pitchFamily="34" charset="0"/>
                <a:ea typeface="Cambria" pitchFamily="34" charset="-122"/>
                <a:cs typeface="Cambria" pitchFamily="34" charset="-120"/>
              </a:rPr>
              <a:t>4</a:t>
            </a:r>
            <a:endParaRPr lang="en-US" sz="1600" dirty="0"/>
          </a:p>
        </p:txBody>
      </p:sp>
      <p:sp>
        <p:nvSpPr>
          <p:cNvPr id="25" name="Text 23"/>
          <p:cNvSpPr/>
          <p:nvPr/>
        </p:nvSpPr>
        <p:spPr>
          <a:xfrm>
            <a:off x="1325880" y="4946904"/>
            <a:ext cx="10058400" cy="329184"/>
          </a:xfrm>
          <a:prstGeom prst="rect">
            <a:avLst/>
          </a:prstGeom>
          <a:noFill/>
          <a:ln/>
        </p:spPr>
        <p:txBody>
          <a:bodyPr wrap="square" rtlCol="0" anchor="ctr"/>
          <a:lstStyle/>
          <a:p>
            <a:pPr indent="0" marL="0">
              <a:buNone/>
            </a:pPr>
            <a:r>
              <a:rPr lang="en-US" sz="1500" b="1" dirty="0">
                <a:solidFill>
                  <a:srgbClr val="0D1B2A"/>
                </a:solidFill>
                <a:latin typeface="Cambria" pitchFamily="34" charset="0"/>
                <a:ea typeface="Cambria" pitchFamily="34" charset="-122"/>
                <a:cs typeface="Cambria" pitchFamily="34" charset="-120"/>
              </a:rPr>
              <a:t>Data: 10 years of hourly BTC/USDT from Binance via CCXT.</a:t>
            </a:r>
            <a:endParaRPr lang="en-US" sz="1500" dirty="0"/>
          </a:p>
        </p:txBody>
      </p:sp>
      <p:sp>
        <p:nvSpPr>
          <p:cNvPr id="26" name="Text 24"/>
          <p:cNvSpPr/>
          <p:nvPr/>
        </p:nvSpPr>
        <p:spPr>
          <a:xfrm>
            <a:off x="1325880" y="5276088"/>
            <a:ext cx="10058400" cy="310896"/>
          </a:xfrm>
          <a:prstGeom prst="rect">
            <a:avLst/>
          </a:prstGeom>
          <a:noFill/>
          <a:ln/>
        </p:spPr>
        <p:txBody>
          <a:bodyPr wrap="square" rtlCol="0" anchor="ctr"/>
          <a:lstStyle/>
          <a:p>
            <a:pPr indent="0" marL="0">
              <a:buNone/>
            </a:pPr>
            <a:r>
              <a:rPr lang="en-US" sz="1250" dirty="0">
                <a:solidFill>
                  <a:srgbClr val="0D1B2A"/>
                </a:solidFill>
                <a:latin typeface="Calibri" pitchFamily="34" charset="0"/>
                <a:ea typeface="Calibri" pitchFamily="34" charset="-122"/>
                <a:cs typeface="Calibri" pitchFamily="34" charset="-120"/>
              </a:rPr>
              <a:t>Fetched once, persisted to CSV, so every run is reproducible.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10972800" y="365760"/>
            <a:ext cx="731520" cy="731520"/>
          </a:xfrm>
          <a:prstGeom prst="ellipse">
            <a:avLst/>
          </a:prstGeom>
          <a:solidFill>
            <a:srgbClr val="0D1B2A"/>
          </a:solidFill>
          <a:ln/>
        </p:spPr>
      </p:sp>
      <p:sp>
        <p:nvSpPr>
          <p:cNvPr id="3" name="Shape 1"/>
          <p:cNvSpPr/>
          <p:nvPr/>
        </p:nvSpPr>
        <p:spPr>
          <a:xfrm flipV="1">
            <a:off x="11133734" y="588142"/>
            <a:ext cx="122895" cy="204826"/>
          </a:xfrm>
          <a:prstGeom prst="line">
            <a:avLst/>
          </a:prstGeom>
          <a:noFill/>
          <a:ln w="25400">
            <a:solidFill>
              <a:srgbClr val="F7931A"/>
            </a:solidFill>
            <a:prstDash val="solid"/>
          </a:ln>
        </p:spPr>
      </p:sp>
      <p:sp>
        <p:nvSpPr>
          <p:cNvPr id="4" name="Shape 2"/>
          <p:cNvSpPr/>
          <p:nvPr/>
        </p:nvSpPr>
        <p:spPr>
          <a:xfrm>
            <a:off x="11256630" y="588142"/>
            <a:ext cx="81930" cy="245791"/>
          </a:xfrm>
          <a:prstGeom prst="line">
            <a:avLst/>
          </a:prstGeom>
          <a:noFill/>
          <a:ln w="25400">
            <a:solidFill>
              <a:srgbClr val="F7931A"/>
            </a:solidFill>
            <a:prstDash val="solid"/>
          </a:ln>
        </p:spPr>
      </p:sp>
      <p:sp>
        <p:nvSpPr>
          <p:cNvPr id="5" name="Shape 3"/>
          <p:cNvSpPr/>
          <p:nvPr/>
        </p:nvSpPr>
        <p:spPr>
          <a:xfrm flipV="1">
            <a:off x="11338560" y="526694"/>
            <a:ext cx="102413" cy="307238"/>
          </a:xfrm>
          <a:prstGeom prst="line">
            <a:avLst/>
          </a:prstGeom>
          <a:noFill/>
          <a:ln w="25400">
            <a:solidFill>
              <a:srgbClr val="F7931A"/>
            </a:solidFill>
            <a:prstDash val="solid"/>
          </a:ln>
        </p:spPr>
      </p:sp>
      <p:sp>
        <p:nvSpPr>
          <p:cNvPr id="6" name="Shape 4"/>
          <p:cNvSpPr/>
          <p:nvPr/>
        </p:nvSpPr>
        <p:spPr>
          <a:xfrm>
            <a:off x="11440973" y="526694"/>
            <a:ext cx="102413" cy="184343"/>
          </a:xfrm>
          <a:prstGeom prst="line">
            <a:avLst/>
          </a:prstGeom>
          <a:noFill/>
          <a:ln w="25400">
            <a:solidFill>
              <a:srgbClr val="F7931A"/>
            </a:solidFill>
            <a:prstDash val="solid"/>
          </a:ln>
        </p:spPr>
      </p:sp>
      <p:sp>
        <p:nvSpPr>
          <p:cNvPr id="7" name="Text 5"/>
          <p:cNvSpPr/>
          <p:nvPr/>
        </p:nvSpPr>
        <p:spPr>
          <a:xfrm>
            <a:off x="548640" y="365760"/>
            <a:ext cx="10058400" cy="640080"/>
          </a:xfrm>
          <a:prstGeom prst="rect">
            <a:avLst/>
          </a:prstGeom>
          <a:noFill/>
          <a:ln/>
        </p:spPr>
        <p:txBody>
          <a:bodyPr wrap="square" rtlCol="0" anchor="ctr"/>
          <a:lstStyle/>
          <a:p>
            <a:pPr indent="0" marL="0">
              <a:buNone/>
            </a:pPr>
            <a:r>
              <a:rPr lang="en-US" sz="3000" b="1" dirty="0">
                <a:solidFill>
                  <a:srgbClr val="0D1B2A"/>
                </a:solidFill>
                <a:latin typeface="Cambria" pitchFamily="34" charset="0"/>
                <a:ea typeface="Cambria" pitchFamily="34" charset="-122"/>
                <a:cs typeface="Cambria" pitchFamily="34" charset="-120"/>
              </a:rPr>
              <a:t>Problem Statement + Aim</a:t>
            </a:r>
            <a:endParaRPr lang="en-US" sz="3000" dirty="0"/>
          </a:p>
        </p:txBody>
      </p:sp>
      <p:sp>
        <p:nvSpPr>
          <p:cNvPr id="8" name="Text 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C6B7A"/>
                </a:solidFill>
                <a:latin typeface="Calibri" pitchFamily="34" charset="0"/>
                <a:ea typeface="Calibri" pitchFamily="34" charset="-122"/>
                <a:cs typeface="Calibri" pitchFamily="34" charset="-120"/>
              </a:rPr>
              <a:t>BTC Volatility Prediction  |  Capstone</a:t>
            </a:r>
            <a:endParaRPr lang="en-US" sz="900" dirty="0"/>
          </a:p>
        </p:txBody>
      </p:sp>
      <p:sp>
        <p:nvSpPr>
          <p:cNvPr id="9" name="Text 7"/>
          <p:cNvSpPr/>
          <p:nvPr/>
        </p:nvSpPr>
        <p:spPr>
          <a:xfrm>
            <a:off x="11521440" y="6537960"/>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3</a:t>
            </a:r>
            <a:endParaRPr lang="en-US" sz="900" dirty="0"/>
          </a:p>
        </p:txBody>
      </p:sp>
      <p:sp>
        <p:nvSpPr>
          <p:cNvPr id="10" name="Shape 8"/>
          <p:cNvSpPr/>
          <p:nvPr/>
        </p:nvSpPr>
        <p:spPr>
          <a:xfrm>
            <a:off x="548640" y="1371600"/>
            <a:ext cx="11064240" cy="1417320"/>
          </a:xfrm>
          <a:prstGeom prst="roundRect">
            <a:avLst>
              <a:gd name="adj" fmla="val 5161"/>
            </a:avLst>
          </a:prstGeom>
          <a:solidFill>
            <a:srgbClr val="FFFFFF"/>
          </a:solidFill>
          <a:ln w="12700">
            <a:solidFill>
              <a:srgbClr val="CADCFC"/>
            </a:solidFill>
            <a:prstDash val="solid"/>
          </a:ln>
        </p:spPr>
      </p:sp>
      <p:sp>
        <p:nvSpPr>
          <p:cNvPr id="11" name="Text 9"/>
          <p:cNvSpPr/>
          <p:nvPr/>
        </p:nvSpPr>
        <p:spPr>
          <a:xfrm>
            <a:off x="822960" y="1536192"/>
            <a:ext cx="10515600" cy="1097280"/>
          </a:xfrm>
          <a:prstGeom prst="rect">
            <a:avLst/>
          </a:prstGeom>
          <a:noFill/>
          <a:ln/>
        </p:spPr>
        <p:txBody>
          <a:bodyPr wrap="square" rtlCol="0" anchor="t"/>
          <a:lstStyle/>
          <a:p>
            <a:pPr indent="0" marL="0">
              <a:lnSpc>
                <a:spcPct val="115000"/>
              </a:lnSpc>
              <a:buNone/>
            </a:pPr>
            <a:r>
              <a:rPr lang="en-US" sz="1350" b="1" dirty="0">
                <a:solidFill>
                  <a:srgbClr val="0D1B2A"/>
                </a:solidFill>
                <a:latin typeface="Calibri" pitchFamily="34" charset="0"/>
                <a:ea typeface="Calibri" pitchFamily="34" charset="-122"/>
                <a:cs typeface="Calibri" pitchFamily="34" charset="-120"/>
              </a:rPr>
              <a:t>The Raw Issue:  </a:t>
            </a:r>
            <a:pPr indent="0" marL="0">
              <a:lnSpc>
                <a:spcPct val="115000"/>
              </a:lnSpc>
              <a:buNone/>
            </a:pPr>
            <a:r>
              <a:rPr lang="en-US" sz="1350" dirty="0">
                <a:solidFill>
                  <a:srgbClr val="0D1B2A"/>
                </a:solidFill>
                <a:latin typeface="Calibri" pitchFamily="34" charset="0"/>
                <a:ea typeface="Calibri" pitchFamily="34" charset="-122"/>
                <a:cs typeface="Calibri" pitchFamily="34" charset="-120"/>
              </a:rPr>
              <a:t>Bitcoin's price swings unpredictably at short timescales, and traders, exchanges, and risk desks have no reliable way to anticipate how turbulent the next stretch of trading will be — leading to mispriced risk, thin margin buffers, and poorly-timed position sizing.</a:t>
            </a:r>
            <a:endParaRPr lang="en-US" sz="1350" dirty="0"/>
          </a:p>
        </p:txBody>
      </p:sp>
      <p:sp>
        <p:nvSpPr>
          <p:cNvPr id="12" name="Shape 10"/>
          <p:cNvSpPr/>
          <p:nvPr/>
        </p:nvSpPr>
        <p:spPr>
          <a:xfrm>
            <a:off x="548640" y="2971800"/>
            <a:ext cx="11064240" cy="2514600"/>
          </a:xfrm>
          <a:prstGeom prst="roundRect">
            <a:avLst>
              <a:gd name="adj" fmla="val 2909"/>
            </a:avLst>
          </a:prstGeom>
          <a:solidFill>
            <a:srgbClr val="FFFFFF"/>
          </a:solidFill>
          <a:ln w="12700">
            <a:solidFill>
              <a:srgbClr val="CADCFC"/>
            </a:solidFill>
            <a:prstDash val="solid"/>
          </a:ln>
        </p:spPr>
      </p:sp>
      <p:sp>
        <p:nvSpPr>
          <p:cNvPr id="13" name="Text 11"/>
          <p:cNvSpPr/>
          <p:nvPr/>
        </p:nvSpPr>
        <p:spPr>
          <a:xfrm>
            <a:off x="822960" y="3108960"/>
            <a:ext cx="5486400" cy="320040"/>
          </a:xfrm>
          <a:prstGeom prst="rect">
            <a:avLst/>
          </a:prstGeom>
          <a:noFill/>
          <a:ln/>
        </p:spPr>
        <p:txBody>
          <a:bodyPr wrap="square" rtlCol="0" anchor="ctr"/>
          <a:lstStyle/>
          <a:p>
            <a:pPr indent="0" marL="0">
              <a:buNone/>
            </a:pPr>
            <a:r>
              <a:rPr lang="en-US" sz="1500" b="1" dirty="0">
                <a:solidFill>
                  <a:srgbClr val="1B4965"/>
                </a:solidFill>
                <a:latin typeface="Cambria" pitchFamily="34" charset="0"/>
                <a:ea typeface="Cambria" pitchFamily="34" charset="-122"/>
                <a:cs typeface="Cambria" pitchFamily="34" charset="-120"/>
              </a:rPr>
              <a:t>The Structured Objective</a:t>
            </a:r>
            <a:endParaRPr lang="en-US" sz="1500" dirty="0"/>
          </a:p>
        </p:txBody>
      </p:sp>
      <p:sp>
        <p:nvSpPr>
          <p:cNvPr id="14" name="Text 12"/>
          <p:cNvSpPr/>
          <p:nvPr/>
        </p:nvSpPr>
        <p:spPr>
          <a:xfrm>
            <a:off x="822960" y="3429000"/>
            <a:ext cx="7315200" cy="274320"/>
          </a:xfrm>
          <a:prstGeom prst="rect">
            <a:avLst/>
          </a:prstGeom>
          <a:noFill/>
          <a:ln/>
        </p:spPr>
        <p:txBody>
          <a:bodyPr wrap="square" rtlCol="0" anchor="ctr"/>
          <a:lstStyle/>
          <a:p>
            <a:pPr indent="0" marL="0">
              <a:buNone/>
            </a:pPr>
            <a:r>
              <a:rPr lang="en-US" sz="1100" i="1" dirty="0">
                <a:solidFill>
                  <a:srgbClr val="5C6B7A"/>
                </a:solidFill>
                <a:latin typeface="Calibri" pitchFamily="34" charset="0"/>
                <a:ea typeface="Calibri" pitchFamily="34" charset="-122"/>
                <a:cs typeface="Calibri" pitchFamily="34" charset="-120"/>
              </a:rPr>
              <a:t>Specific — Business Objective — Measurable</a:t>
            </a:r>
            <a:endParaRPr lang="en-US" sz="1100" dirty="0"/>
          </a:p>
        </p:txBody>
      </p:sp>
      <p:sp>
        <p:nvSpPr>
          <p:cNvPr id="15" name="Text 13"/>
          <p:cNvSpPr/>
          <p:nvPr/>
        </p:nvSpPr>
        <p:spPr>
          <a:xfrm>
            <a:off x="822960" y="3767328"/>
            <a:ext cx="10515600" cy="1600200"/>
          </a:xfrm>
          <a:prstGeom prst="rect">
            <a:avLst/>
          </a:prstGeom>
          <a:noFill/>
          <a:ln/>
        </p:spPr>
        <p:txBody>
          <a:bodyPr wrap="square" rtlCol="0" anchor="t"/>
          <a:lstStyle/>
          <a:p>
            <a:pPr indent="0" marL="0">
              <a:lnSpc>
                <a:spcPct val="120000"/>
              </a:lnSpc>
              <a:buNone/>
            </a:pPr>
            <a:r>
              <a:rPr lang="en-US" sz="1350" dirty="0">
                <a:solidFill>
                  <a:srgbClr val="0D1B2A"/>
                </a:solidFill>
                <a:latin typeface="Calibri" pitchFamily="34" charset="0"/>
                <a:ea typeface="Calibri" pitchFamily="34" charset="-122"/>
                <a:cs typeface="Calibri" pitchFamily="34" charset="-120"/>
              </a:rPr>
              <a:t>Predict Bitcoin's next 7-day realised volatility (rolling std. dev. of hourly returns over 168 hours), using lagged price/volume history and technical indicators sourced via CCXT at hourly resolution. This gives traders and risk desks a continuous, hourly-updating volatility estimate usable directly in position-sizing and margin decisions, targeting an RMSE that beats both a naive-persistence baseline and a seasonality-aware Holt-Winters baseline.</a:t>
            </a:r>
            <a:endParaRPr lang="en-US" sz="1350" dirty="0"/>
          </a:p>
        </p:txBody>
      </p:sp>
      <p:sp>
        <p:nvSpPr>
          <p:cNvPr id="16" name="Shape 14"/>
          <p:cNvSpPr/>
          <p:nvPr/>
        </p:nvSpPr>
        <p:spPr>
          <a:xfrm>
            <a:off x="822960" y="5623560"/>
            <a:ext cx="2286000" cy="457200"/>
          </a:xfrm>
          <a:prstGeom prst="roundRect">
            <a:avLst>
              <a:gd name="adj" fmla="val 50000"/>
            </a:avLst>
          </a:prstGeom>
          <a:solidFill>
            <a:srgbClr val="F7931A"/>
          </a:solidFill>
          <a:ln/>
        </p:spPr>
      </p:sp>
      <p:sp>
        <p:nvSpPr>
          <p:cNvPr id="17" name="Text 15"/>
          <p:cNvSpPr/>
          <p:nvPr/>
        </p:nvSpPr>
        <p:spPr>
          <a:xfrm>
            <a:off x="822960" y="5623560"/>
            <a:ext cx="2286000" cy="457200"/>
          </a:xfrm>
          <a:prstGeom prst="rect">
            <a:avLst/>
          </a:prstGeom>
          <a:noFill/>
          <a:ln/>
        </p:spPr>
        <p:txBody>
          <a:bodyPr wrap="square" rtlCol="0" anchor="ctr"/>
          <a:lstStyle/>
          <a:p>
            <a:pPr algn="ctr" indent="0" marL="0">
              <a:buNone/>
            </a:pPr>
            <a:r>
              <a:rPr lang="en-US" sz="1200" b="1" dirty="0">
                <a:solidFill>
                  <a:srgbClr val="0D1B2A"/>
                </a:solidFill>
                <a:latin typeface="Calibri" pitchFamily="34" charset="0"/>
                <a:ea typeface="Calibri" pitchFamily="34" charset="-122"/>
                <a:cs typeface="Calibri" pitchFamily="34" charset="-120"/>
              </a:rPr>
              <a:t>REGRESSION PROBLEM</a:t>
            </a:r>
            <a:endParaRPr lang="en-US" sz="1200" dirty="0"/>
          </a:p>
        </p:txBody>
      </p:sp>
      <p:sp>
        <p:nvSpPr>
          <p:cNvPr id="18" name="Text 16"/>
          <p:cNvSpPr/>
          <p:nvPr/>
        </p:nvSpPr>
        <p:spPr>
          <a:xfrm>
            <a:off x="3291840" y="5623560"/>
            <a:ext cx="8229600" cy="457200"/>
          </a:xfrm>
          <a:prstGeom prst="rect">
            <a:avLst/>
          </a:prstGeom>
          <a:noFill/>
          <a:ln/>
        </p:spPr>
        <p:txBody>
          <a:bodyPr wrap="square" rtlCol="0" anchor="ctr"/>
          <a:lstStyle/>
          <a:p>
            <a:pPr indent="0" marL="0">
              <a:buNone/>
            </a:pPr>
            <a:r>
              <a:rPr lang="en-US" sz="1150" i="1" dirty="0">
                <a:solidFill>
                  <a:srgbClr val="5C6B7A"/>
                </a:solidFill>
                <a:latin typeface="Calibri" pitchFamily="34" charset="0"/>
                <a:ea typeface="Calibri" pitchFamily="34" charset="-122"/>
                <a:cs typeface="Calibri" pitchFamily="34" charset="-120"/>
              </a:rPr>
              <a:t>Downstream users (Black-Scholes σ, VaR, position sizing) need the number — not a high/low category.</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10972800" y="365760"/>
            <a:ext cx="731520" cy="731520"/>
          </a:xfrm>
          <a:prstGeom prst="ellipse">
            <a:avLst/>
          </a:prstGeom>
          <a:solidFill>
            <a:srgbClr val="0D1B2A"/>
          </a:solidFill>
          <a:ln/>
        </p:spPr>
      </p:sp>
      <p:sp>
        <p:nvSpPr>
          <p:cNvPr id="3" name="Shape 1"/>
          <p:cNvSpPr/>
          <p:nvPr/>
        </p:nvSpPr>
        <p:spPr>
          <a:xfrm flipV="1">
            <a:off x="11133734" y="588142"/>
            <a:ext cx="122895" cy="204826"/>
          </a:xfrm>
          <a:prstGeom prst="line">
            <a:avLst/>
          </a:prstGeom>
          <a:noFill/>
          <a:ln w="25400">
            <a:solidFill>
              <a:srgbClr val="F7931A"/>
            </a:solidFill>
            <a:prstDash val="solid"/>
          </a:ln>
        </p:spPr>
      </p:sp>
      <p:sp>
        <p:nvSpPr>
          <p:cNvPr id="4" name="Shape 2"/>
          <p:cNvSpPr/>
          <p:nvPr/>
        </p:nvSpPr>
        <p:spPr>
          <a:xfrm>
            <a:off x="11256630" y="588142"/>
            <a:ext cx="81930" cy="245791"/>
          </a:xfrm>
          <a:prstGeom prst="line">
            <a:avLst/>
          </a:prstGeom>
          <a:noFill/>
          <a:ln w="25400">
            <a:solidFill>
              <a:srgbClr val="F7931A"/>
            </a:solidFill>
            <a:prstDash val="solid"/>
          </a:ln>
        </p:spPr>
      </p:sp>
      <p:sp>
        <p:nvSpPr>
          <p:cNvPr id="5" name="Shape 3"/>
          <p:cNvSpPr/>
          <p:nvPr/>
        </p:nvSpPr>
        <p:spPr>
          <a:xfrm flipV="1">
            <a:off x="11338560" y="526694"/>
            <a:ext cx="102413" cy="307238"/>
          </a:xfrm>
          <a:prstGeom prst="line">
            <a:avLst/>
          </a:prstGeom>
          <a:noFill/>
          <a:ln w="25400">
            <a:solidFill>
              <a:srgbClr val="F7931A"/>
            </a:solidFill>
            <a:prstDash val="solid"/>
          </a:ln>
        </p:spPr>
      </p:sp>
      <p:sp>
        <p:nvSpPr>
          <p:cNvPr id="6" name="Shape 4"/>
          <p:cNvSpPr/>
          <p:nvPr/>
        </p:nvSpPr>
        <p:spPr>
          <a:xfrm>
            <a:off x="11440973" y="526694"/>
            <a:ext cx="102413" cy="184343"/>
          </a:xfrm>
          <a:prstGeom prst="line">
            <a:avLst/>
          </a:prstGeom>
          <a:noFill/>
          <a:ln w="25400">
            <a:solidFill>
              <a:srgbClr val="F7931A"/>
            </a:solidFill>
            <a:prstDash val="solid"/>
          </a:ln>
        </p:spPr>
      </p:sp>
      <p:sp>
        <p:nvSpPr>
          <p:cNvPr id="7" name="Text 5"/>
          <p:cNvSpPr/>
          <p:nvPr/>
        </p:nvSpPr>
        <p:spPr>
          <a:xfrm>
            <a:off x="548640" y="365760"/>
            <a:ext cx="10058400" cy="640080"/>
          </a:xfrm>
          <a:prstGeom prst="rect">
            <a:avLst/>
          </a:prstGeom>
          <a:noFill/>
          <a:ln/>
        </p:spPr>
        <p:txBody>
          <a:bodyPr wrap="square" rtlCol="0" anchor="ctr"/>
          <a:lstStyle/>
          <a:p>
            <a:pPr indent="0" marL="0">
              <a:buNone/>
            </a:pPr>
            <a:r>
              <a:rPr lang="en-US" sz="3000" b="1" dirty="0">
                <a:solidFill>
                  <a:srgbClr val="0D1B2A"/>
                </a:solidFill>
                <a:latin typeface="Cambria" pitchFamily="34" charset="0"/>
                <a:ea typeface="Cambria" pitchFamily="34" charset="-122"/>
                <a:cs typeface="Cambria" pitchFamily="34" charset="-120"/>
              </a:rPr>
              <a:t>Data Summary</a:t>
            </a:r>
            <a:endParaRPr lang="en-US" sz="3000" dirty="0"/>
          </a:p>
        </p:txBody>
      </p:sp>
      <p:sp>
        <p:nvSpPr>
          <p:cNvPr id="8" name="Text 6"/>
          <p:cNvSpPr/>
          <p:nvPr/>
        </p:nvSpPr>
        <p:spPr>
          <a:xfrm>
            <a:off x="548640" y="932688"/>
            <a:ext cx="10515600" cy="365760"/>
          </a:xfrm>
          <a:prstGeom prst="rect">
            <a:avLst/>
          </a:prstGeom>
          <a:noFill/>
          <a:ln/>
        </p:spPr>
        <p:txBody>
          <a:bodyPr wrap="square" rtlCol="0" anchor="ctr"/>
          <a:lstStyle/>
          <a:p>
            <a:pPr indent="0" marL="0">
              <a:buNone/>
            </a:pPr>
            <a:r>
              <a:rPr lang="en-US" sz="1400" i="1" dirty="0">
                <a:solidFill>
                  <a:srgbClr val="5C6B7A"/>
                </a:solidFill>
                <a:latin typeface="Calibri" pitchFamily="34" charset="0"/>
                <a:ea typeface="Calibri" pitchFamily="34" charset="-122"/>
                <a:cs typeface="Calibri" pitchFamily="34" charset="-120"/>
              </a:rPr>
              <a:t>What the data is, and what each record represents</a:t>
            </a:r>
            <a:endParaRPr lang="en-US" sz="1400" dirty="0"/>
          </a:p>
        </p:txBody>
      </p:sp>
      <p:sp>
        <p:nvSpPr>
          <p:cNvPr id="9" name="Text 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C6B7A"/>
                </a:solidFill>
                <a:latin typeface="Calibri" pitchFamily="34" charset="0"/>
                <a:ea typeface="Calibri" pitchFamily="34" charset="-122"/>
                <a:cs typeface="Calibri" pitchFamily="34" charset="-120"/>
              </a:rPr>
              <a:t>BTC Volatility Prediction  |  Capstone</a:t>
            </a:r>
            <a:endParaRPr lang="en-US" sz="900" dirty="0"/>
          </a:p>
        </p:txBody>
      </p:sp>
      <p:sp>
        <p:nvSpPr>
          <p:cNvPr id="10" name="Text 8"/>
          <p:cNvSpPr/>
          <p:nvPr/>
        </p:nvSpPr>
        <p:spPr>
          <a:xfrm>
            <a:off x="11521440" y="6537960"/>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4</a:t>
            </a:r>
            <a:endParaRPr lang="en-US" sz="900" dirty="0"/>
          </a:p>
        </p:txBody>
      </p:sp>
      <p:sp>
        <p:nvSpPr>
          <p:cNvPr id="11" name="Shape 9"/>
          <p:cNvSpPr/>
          <p:nvPr/>
        </p:nvSpPr>
        <p:spPr>
          <a:xfrm>
            <a:off x="640080" y="1554480"/>
            <a:ext cx="2560320" cy="1600200"/>
          </a:xfrm>
          <a:prstGeom prst="roundRect">
            <a:avLst>
              <a:gd name="adj" fmla="val 4571"/>
            </a:avLst>
          </a:prstGeom>
          <a:solidFill>
            <a:srgbClr val="FFFFFF"/>
          </a:solidFill>
          <a:ln w="12700">
            <a:solidFill>
              <a:srgbClr val="CADCFC"/>
            </a:solidFill>
            <a:prstDash val="solid"/>
          </a:ln>
        </p:spPr>
      </p:sp>
      <p:sp>
        <p:nvSpPr>
          <p:cNvPr id="12" name="Text 10"/>
          <p:cNvSpPr/>
          <p:nvPr/>
        </p:nvSpPr>
        <p:spPr>
          <a:xfrm>
            <a:off x="640080" y="1664208"/>
            <a:ext cx="2560320" cy="731520"/>
          </a:xfrm>
          <a:prstGeom prst="rect">
            <a:avLst/>
          </a:prstGeom>
          <a:noFill/>
          <a:ln/>
        </p:spPr>
        <p:txBody>
          <a:bodyPr wrap="square" rtlCol="0" anchor="ctr"/>
          <a:lstStyle/>
          <a:p>
            <a:pPr algn="ctr" indent="0" marL="0">
              <a:buNone/>
            </a:pPr>
            <a:r>
              <a:rPr lang="en-US" sz="3200" b="1" dirty="0">
                <a:solidFill>
                  <a:srgbClr val="F7931A"/>
                </a:solidFill>
                <a:latin typeface="Cambria" pitchFamily="34" charset="0"/>
                <a:ea typeface="Cambria" pitchFamily="34" charset="-122"/>
                <a:cs typeface="Cambria" pitchFamily="34" charset="-120"/>
              </a:rPr>
              <a:t>1</a:t>
            </a:r>
            <a:endParaRPr lang="en-US" sz="3200" dirty="0"/>
          </a:p>
        </p:txBody>
      </p:sp>
      <p:sp>
        <p:nvSpPr>
          <p:cNvPr id="13" name="Text 11"/>
          <p:cNvSpPr/>
          <p:nvPr/>
        </p:nvSpPr>
        <p:spPr>
          <a:xfrm>
            <a:off x="640080" y="2377440"/>
            <a:ext cx="2560320" cy="685800"/>
          </a:xfrm>
          <a:prstGeom prst="rect">
            <a:avLst/>
          </a:prstGeom>
          <a:noFill/>
          <a:ln/>
        </p:spPr>
        <p:txBody>
          <a:bodyPr wrap="square" rtlCol="0" anchor="t"/>
          <a:lstStyle/>
          <a:p>
            <a:pPr algn="ctr" indent="0" marL="0">
              <a:buNone/>
            </a:pPr>
            <a:r>
              <a:rPr lang="en-US" sz="1100" dirty="0">
                <a:solidFill>
                  <a:srgbClr val="0D1B2A"/>
                </a:solidFill>
                <a:latin typeface="Calibri" pitchFamily="34" charset="0"/>
                <a:ea typeface="Calibri" pitchFamily="34" charset="-122"/>
                <a:cs typeface="Calibri" pitchFamily="34" charset="-120"/>
              </a:rPr>
              <a:t>Asset</a:t>
            </a:r>
            <a:endParaRPr lang="en-US" sz="1100" dirty="0"/>
          </a:p>
          <a:p>
            <a:pPr algn="ctr" indent="0" marL="0">
              <a:buNone/>
            </a:pPr>
            <a:r>
              <a:rPr lang="en-US" sz="1100" dirty="0">
                <a:solidFill>
                  <a:srgbClr val="0D1B2A"/>
                </a:solidFill>
                <a:latin typeface="Calibri" pitchFamily="34" charset="0"/>
                <a:ea typeface="Calibri" pitchFamily="34" charset="-122"/>
                <a:cs typeface="Calibri" pitchFamily="34" charset="-120"/>
              </a:rPr>
              <a:t>BTC/USDT</a:t>
            </a:r>
            <a:endParaRPr lang="en-US" sz="1100" dirty="0"/>
          </a:p>
        </p:txBody>
      </p:sp>
      <p:sp>
        <p:nvSpPr>
          <p:cNvPr id="14" name="Shape 12"/>
          <p:cNvSpPr/>
          <p:nvPr/>
        </p:nvSpPr>
        <p:spPr>
          <a:xfrm>
            <a:off x="3383280" y="1554480"/>
            <a:ext cx="2560320" cy="1600200"/>
          </a:xfrm>
          <a:prstGeom prst="roundRect">
            <a:avLst>
              <a:gd name="adj" fmla="val 4571"/>
            </a:avLst>
          </a:prstGeom>
          <a:solidFill>
            <a:srgbClr val="FFFFFF"/>
          </a:solidFill>
          <a:ln w="12700">
            <a:solidFill>
              <a:srgbClr val="CADCFC"/>
            </a:solidFill>
            <a:prstDash val="solid"/>
          </a:ln>
        </p:spPr>
      </p:sp>
      <p:sp>
        <p:nvSpPr>
          <p:cNvPr id="15" name="Text 13"/>
          <p:cNvSpPr/>
          <p:nvPr/>
        </p:nvSpPr>
        <p:spPr>
          <a:xfrm>
            <a:off x="3383280" y="1664208"/>
            <a:ext cx="2560320" cy="731520"/>
          </a:xfrm>
          <a:prstGeom prst="rect">
            <a:avLst/>
          </a:prstGeom>
          <a:noFill/>
          <a:ln/>
        </p:spPr>
        <p:txBody>
          <a:bodyPr wrap="square" rtlCol="0" anchor="ctr"/>
          <a:lstStyle/>
          <a:p>
            <a:pPr algn="ctr" indent="0" marL="0">
              <a:buNone/>
            </a:pPr>
            <a:r>
              <a:rPr lang="en-US" sz="3200" b="1" dirty="0">
                <a:solidFill>
                  <a:srgbClr val="F7931A"/>
                </a:solidFill>
                <a:latin typeface="Cambria" pitchFamily="34" charset="0"/>
                <a:ea typeface="Cambria" pitchFamily="34" charset="-122"/>
                <a:cs typeface="Cambria" pitchFamily="34" charset="-120"/>
              </a:rPr>
              <a:t>1h</a:t>
            </a:r>
            <a:endParaRPr lang="en-US" sz="3200" dirty="0"/>
          </a:p>
        </p:txBody>
      </p:sp>
      <p:sp>
        <p:nvSpPr>
          <p:cNvPr id="16" name="Text 14"/>
          <p:cNvSpPr/>
          <p:nvPr/>
        </p:nvSpPr>
        <p:spPr>
          <a:xfrm>
            <a:off x="3383280" y="2377440"/>
            <a:ext cx="2560320" cy="685800"/>
          </a:xfrm>
          <a:prstGeom prst="rect">
            <a:avLst/>
          </a:prstGeom>
          <a:noFill/>
          <a:ln/>
        </p:spPr>
        <p:txBody>
          <a:bodyPr wrap="square" rtlCol="0" anchor="t"/>
          <a:lstStyle/>
          <a:p>
            <a:pPr algn="ctr" indent="0" marL="0">
              <a:buNone/>
            </a:pPr>
            <a:r>
              <a:rPr lang="en-US" sz="1100" dirty="0">
                <a:solidFill>
                  <a:srgbClr val="0D1B2A"/>
                </a:solidFill>
                <a:latin typeface="Calibri" pitchFamily="34" charset="0"/>
                <a:ea typeface="Calibri" pitchFamily="34" charset="-122"/>
                <a:cs typeface="Calibri" pitchFamily="34" charset="-120"/>
              </a:rPr>
              <a:t>Granularity</a:t>
            </a:r>
            <a:endParaRPr lang="en-US" sz="1100" dirty="0"/>
          </a:p>
          <a:p>
            <a:pPr algn="ctr" indent="0" marL="0">
              <a:buNone/>
            </a:pPr>
            <a:r>
              <a:rPr lang="en-US" sz="1100" dirty="0">
                <a:solidFill>
                  <a:srgbClr val="0D1B2A"/>
                </a:solidFill>
                <a:latin typeface="Calibri" pitchFamily="34" charset="0"/>
                <a:ea typeface="Calibri" pitchFamily="34" charset="-122"/>
                <a:cs typeface="Calibri" pitchFamily="34" charset="-120"/>
              </a:rPr>
              <a:t>hourly candles</a:t>
            </a:r>
            <a:endParaRPr lang="en-US" sz="1100" dirty="0"/>
          </a:p>
        </p:txBody>
      </p:sp>
      <p:sp>
        <p:nvSpPr>
          <p:cNvPr id="17" name="Shape 15"/>
          <p:cNvSpPr/>
          <p:nvPr/>
        </p:nvSpPr>
        <p:spPr>
          <a:xfrm>
            <a:off x="6126480" y="1554480"/>
            <a:ext cx="2560320" cy="1600200"/>
          </a:xfrm>
          <a:prstGeom prst="roundRect">
            <a:avLst>
              <a:gd name="adj" fmla="val 4571"/>
            </a:avLst>
          </a:prstGeom>
          <a:solidFill>
            <a:srgbClr val="FFFFFF"/>
          </a:solidFill>
          <a:ln w="12700">
            <a:solidFill>
              <a:srgbClr val="CADCFC"/>
            </a:solidFill>
            <a:prstDash val="solid"/>
          </a:ln>
        </p:spPr>
      </p:sp>
      <p:sp>
        <p:nvSpPr>
          <p:cNvPr id="18" name="Text 16"/>
          <p:cNvSpPr/>
          <p:nvPr/>
        </p:nvSpPr>
        <p:spPr>
          <a:xfrm>
            <a:off x="6126480" y="1664208"/>
            <a:ext cx="2560320" cy="731520"/>
          </a:xfrm>
          <a:prstGeom prst="rect">
            <a:avLst/>
          </a:prstGeom>
          <a:noFill/>
          <a:ln/>
        </p:spPr>
        <p:txBody>
          <a:bodyPr wrap="square" rtlCol="0" anchor="ctr"/>
          <a:lstStyle/>
          <a:p>
            <a:pPr algn="ctr" indent="0" marL="0">
              <a:buNone/>
            </a:pPr>
            <a:r>
              <a:rPr lang="en-US" sz="3200" b="1" dirty="0">
                <a:solidFill>
                  <a:srgbClr val="F7931A"/>
                </a:solidFill>
                <a:latin typeface="Cambria" pitchFamily="34" charset="0"/>
                <a:ea typeface="Cambria" pitchFamily="34" charset="-122"/>
                <a:cs typeface="Cambria" pitchFamily="34" charset="-120"/>
              </a:rPr>
              <a:t>10 yr</a:t>
            </a:r>
            <a:endParaRPr lang="en-US" sz="3200" dirty="0"/>
          </a:p>
        </p:txBody>
      </p:sp>
      <p:sp>
        <p:nvSpPr>
          <p:cNvPr id="19" name="Text 17"/>
          <p:cNvSpPr/>
          <p:nvPr/>
        </p:nvSpPr>
        <p:spPr>
          <a:xfrm>
            <a:off x="6126480" y="2377440"/>
            <a:ext cx="2560320" cy="685800"/>
          </a:xfrm>
          <a:prstGeom prst="rect">
            <a:avLst/>
          </a:prstGeom>
          <a:noFill/>
          <a:ln/>
        </p:spPr>
        <p:txBody>
          <a:bodyPr wrap="square" rtlCol="0" anchor="t"/>
          <a:lstStyle/>
          <a:p>
            <a:pPr algn="ctr" indent="0" marL="0">
              <a:buNone/>
            </a:pPr>
            <a:r>
              <a:rPr lang="en-US" sz="1100" dirty="0">
                <a:solidFill>
                  <a:srgbClr val="0D1B2A"/>
                </a:solidFill>
                <a:latin typeface="Calibri" pitchFamily="34" charset="0"/>
                <a:ea typeface="Calibri" pitchFamily="34" charset="-122"/>
                <a:cs typeface="Calibri" pitchFamily="34" charset="-120"/>
              </a:rPr>
              <a:t>History</a:t>
            </a:r>
            <a:endParaRPr lang="en-US" sz="1100" dirty="0"/>
          </a:p>
          <a:p>
            <a:pPr algn="ctr" indent="0" marL="0">
              <a:buNone/>
            </a:pPr>
            <a:r>
              <a:rPr lang="en-US" sz="1100" dirty="0">
                <a:solidFill>
                  <a:srgbClr val="0D1B2A"/>
                </a:solidFill>
                <a:latin typeface="Calibri" pitchFamily="34" charset="0"/>
                <a:ea typeface="Calibri" pitchFamily="34" charset="-122"/>
                <a:cs typeface="Calibri" pitchFamily="34" charset="-120"/>
              </a:rPr>
              <a:t>fetched via CCXT</a:t>
            </a:r>
            <a:endParaRPr lang="en-US" sz="1100" dirty="0"/>
          </a:p>
        </p:txBody>
      </p:sp>
      <p:sp>
        <p:nvSpPr>
          <p:cNvPr id="20" name="Shape 18"/>
          <p:cNvSpPr/>
          <p:nvPr/>
        </p:nvSpPr>
        <p:spPr>
          <a:xfrm>
            <a:off x="8869680" y="1554480"/>
            <a:ext cx="2560320" cy="1600200"/>
          </a:xfrm>
          <a:prstGeom prst="roundRect">
            <a:avLst>
              <a:gd name="adj" fmla="val 4571"/>
            </a:avLst>
          </a:prstGeom>
          <a:solidFill>
            <a:srgbClr val="FFFFFF"/>
          </a:solidFill>
          <a:ln w="12700">
            <a:solidFill>
              <a:srgbClr val="CADCFC"/>
            </a:solidFill>
            <a:prstDash val="solid"/>
          </a:ln>
        </p:spPr>
      </p:sp>
      <p:sp>
        <p:nvSpPr>
          <p:cNvPr id="21" name="Text 19"/>
          <p:cNvSpPr/>
          <p:nvPr/>
        </p:nvSpPr>
        <p:spPr>
          <a:xfrm>
            <a:off x="8869680" y="1664208"/>
            <a:ext cx="2560320" cy="731520"/>
          </a:xfrm>
          <a:prstGeom prst="rect">
            <a:avLst/>
          </a:prstGeom>
          <a:noFill/>
          <a:ln/>
        </p:spPr>
        <p:txBody>
          <a:bodyPr wrap="square" rtlCol="0" anchor="ctr"/>
          <a:lstStyle/>
          <a:p>
            <a:pPr algn="ctr" indent="0" marL="0">
              <a:buNone/>
            </a:pPr>
            <a:r>
              <a:rPr lang="en-US" sz="3200" b="1" dirty="0">
                <a:solidFill>
                  <a:srgbClr val="F7931A"/>
                </a:solidFill>
                <a:latin typeface="Cambria" pitchFamily="34" charset="0"/>
                <a:ea typeface="Cambria" pitchFamily="34" charset="-122"/>
                <a:cs typeface="Cambria" pitchFamily="34" charset="-120"/>
              </a:rPr>
              <a:t>168h</a:t>
            </a:r>
            <a:endParaRPr lang="en-US" sz="3200" dirty="0"/>
          </a:p>
        </p:txBody>
      </p:sp>
      <p:sp>
        <p:nvSpPr>
          <p:cNvPr id="22" name="Text 20"/>
          <p:cNvSpPr/>
          <p:nvPr/>
        </p:nvSpPr>
        <p:spPr>
          <a:xfrm>
            <a:off x="8869680" y="2377440"/>
            <a:ext cx="2560320" cy="685800"/>
          </a:xfrm>
          <a:prstGeom prst="rect">
            <a:avLst/>
          </a:prstGeom>
          <a:noFill/>
          <a:ln/>
        </p:spPr>
        <p:txBody>
          <a:bodyPr wrap="square" rtlCol="0" anchor="t"/>
          <a:lstStyle/>
          <a:p>
            <a:pPr algn="ctr" indent="0" marL="0">
              <a:buNone/>
            </a:pPr>
            <a:r>
              <a:rPr lang="en-US" sz="1100" dirty="0">
                <a:solidFill>
                  <a:srgbClr val="0D1B2A"/>
                </a:solidFill>
                <a:latin typeface="Calibri" pitchFamily="34" charset="0"/>
                <a:ea typeface="Calibri" pitchFamily="34" charset="-122"/>
                <a:cs typeface="Calibri" pitchFamily="34" charset="-120"/>
              </a:rPr>
              <a:t>Target window</a:t>
            </a:r>
            <a:endParaRPr lang="en-US" sz="1100" dirty="0"/>
          </a:p>
          <a:p>
            <a:pPr algn="ctr" indent="0" marL="0">
              <a:buNone/>
            </a:pPr>
            <a:r>
              <a:rPr lang="en-US" sz="1100" dirty="0">
                <a:solidFill>
                  <a:srgbClr val="0D1B2A"/>
                </a:solidFill>
                <a:latin typeface="Calibri" pitchFamily="34" charset="0"/>
                <a:ea typeface="Calibri" pitchFamily="34" charset="-122"/>
                <a:cs typeface="Calibri" pitchFamily="34" charset="-120"/>
              </a:rPr>
              <a:t>= 7 days</a:t>
            </a:r>
            <a:endParaRPr lang="en-US" sz="1100" dirty="0"/>
          </a:p>
        </p:txBody>
      </p:sp>
      <p:sp>
        <p:nvSpPr>
          <p:cNvPr id="23" name="Shape 21"/>
          <p:cNvSpPr/>
          <p:nvPr/>
        </p:nvSpPr>
        <p:spPr>
          <a:xfrm>
            <a:off x="548640" y="3429000"/>
            <a:ext cx="5394960" cy="2651760"/>
          </a:xfrm>
          <a:prstGeom prst="roundRect">
            <a:avLst>
              <a:gd name="adj" fmla="val 2759"/>
            </a:avLst>
          </a:prstGeom>
          <a:solidFill>
            <a:srgbClr val="FFFFFF"/>
          </a:solidFill>
          <a:ln w="12700">
            <a:solidFill>
              <a:srgbClr val="CADCFC"/>
            </a:solidFill>
            <a:prstDash val="solid"/>
          </a:ln>
        </p:spPr>
      </p:sp>
      <p:sp>
        <p:nvSpPr>
          <p:cNvPr id="24" name="Text 22"/>
          <p:cNvSpPr/>
          <p:nvPr/>
        </p:nvSpPr>
        <p:spPr>
          <a:xfrm>
            <a:off x="822960" y="3566160"/>
            <a:ext cx="4846320" cy="320040"/>
          </a:xfrm>
          <a:prstGeom prst="rect">
            <a:avLst/>
          </a:prstGeom>
          <a:noFill/>
          <a:ln/>
        </p:spPr>
        <p:txBody>
          <a:bodyPr wrap="square" rtlCol="0" anchor="ctr"/>
          <a:lstStyle/>
          <a:p>
            <a:pPr indent="0" marL="0">
              <a:buNone/>
            </a:pPr>
            <a:r>
              <a:rPr lang="en-US" sz="1400" b="1" dirty="0">
                <a:solidFill>
                  <a:srgbClr val="1B4965"/>
                </a:solidFill>
                <a:latin typeface="Cambria" pitchFamily="34" charset="0"/>
                <a:ea typeface="Cambria" pitchFamily="34" charset="-122"/>
                <a:cs typeface="Cambria" pitchFamily="34" charset="-120"/>
              </a:rPr>
              <a:t>What one record is</a:t>
            </a:r>
            <a:endParaRPr lang="en-US" sz="1400" dirty="0"/>
          </a:p>
        </p:txBody>
      </p:sp>
      <p:sp>
        <p:nvSpPr>
          <p:cNvPr id="25" name="Text 23"/>
          <p:cNvSpPr/>
          <p:nvPr/>
        </p:nvSpPr>
        <p:spPr>
          <a:xfrm>
            <a:off x="868680" y="3931920"/>
            <a:ext cx="4754880" cy="2011680"/>
          </a:xfrm>
          <a:prstGeom prst="rect">
            <a:avLst/>
          </a:prstGeom>
          <a:noFill/>
          <a:ln/>
        </p:spPr>
        <p:txBody>
          <a:bodyPr wrap="square" rtlCol="0" anchor="t"/>
          <a:lstStyle/>
          <a:p>
            <a:pPr marL="342900" indent="-342900">
              <a:lnSpc>
                <a:spcPct val="115000"/>
              </a:lnSpc>
              <a:spcAft>
                <a:spcPts val="1000"/>
              </a:spcAft>
              <a:buSzPct val="100000"/>
              <a:buChar char="●"/>
            </a:pPr>
            <a:r>
              <a:rPr lang="en-US" sz="1200" dirty="0">
                <a:solidFill>
                  <a:srgbClr val="0D1B2A"/>
                </a:solidFill>
                <a:latin typeface="Calibri" pitchFamily="34" charset="0"/>
                <a:ea typeface="Calibri" pitchFamily="34" charset="-122"/>
                <a:cs typeface="Calibri" pitchFamily="34" charset="-120"/>
              </a:rPr>
              <a:t>One hour of BTC trading: open, high, low, close, volume</a:t>
            </a:r>
            <a:endParaRPr lang="en-US" sz="1200" dirty="0"/>
          </a:p>
          <a:p>
            <a:pPr marL="342900" indent="-342900">
              <a:lnSpc>
                <a:spcPct val="115000"/>
              </a:lnSpc>
              <a:spcAft>
                <a:spcPts val="1000"/>
              </a:spcAft>
              <a:buSzPct val="100000"/>
              <a:buChar char="●"/>
            </a:pPr>
            <a:r>
              <a:rPr lang="en-US" sz="1200" dirty="0">
                <a:solidFill>
                  <a:srgbClr val="0D1B2A"/>
                </a:solidFill>
                <a:latin typeface="Calibri" pitchFamily="34" charset="0"/>
                <a:ea typeface="Calibri" pitchFamily="34" charset="-122"/>
                <a:cs typeface="Calibri" pitchFamily="34" charset="-120"/>
              </a:rPr>
              <a:t>Plus engineered features: returns, rolling volatility, EMA, RSI, ATR, Bollinger width, MACD</a:t>
            </a:r>
            <a:endParaRPr lang="en-US" sz="1200" dirty="0"/>
          </a:p>
          <a:p>
            <a:pPr marL="342900" indent="-342900">
              <a:lnSpc>
                <a:spcPct val="115000"/>
              </a:lnSpc>
              <a:spcAft>
                <a:spcPts val="1000"/>
              </a:spcAft>
              <a:buSzPct val="100000"/>
              <a:buChar char="●"/>
            </a:pPr>
            <a:r>
              <a:rPr lang="en-US" sz="1200" dirty="0">
                <a:solidFill>
                  <a:srgbClr val="0D1B2A"/>
                </a:solidFill>
                <a:latin typeface="Calibri" pitchFamily="34" charset="0"/>
                <a:ea typeface="Calibri" pitchFamily="34" charset="-122"/>
                <a:cs typeface="Calibri" pitchFamily="34" charset="-120"/>
              </a:rPr>
              <a:t>Every feature is lagged 1–3 hours — the model only ever sees the past</a:t>
            </a:r>
            <a:endParaRPr lang="en-US" sz="1200" dirty="0"/>
          </a:p>
        </p:txBody>
      </p:sp>
      <p:sp>
        <p:nvSpPr>
          <p:cNvPr id="26" name="Shape 24"/>
          <p:cNvSpPr/>
          <p:nvPr/>
        </p:nvSpPr>
        <p:spPr>
          <a:xfrm>
            <a:off x="6217920" y="3429000"/>
            <a:ext cx="5394960" cy="2651760"/>
          </a:xfrm>
          <a:prstGeom prst="roundRect">
            <a:avLst>
              <a:gd name="adj" fmla="val 2759"/>
            </a:avLst>
          </a:prstGeom>
          <a:solidFill>
            <a:srgbClr val="0D1B2A"/>
          </a:solidFill>
          <a:ln/>
        </p:spPr>
      </p:sp>
      <p:sp>
        <p:nvSpPr>
          <p:cNvPr id="27" name="Text 25"/>
          <p:cNvSpPr/>
          <p:nvPr/>
        </p:nvSpPr>
        <p:spPr>
          <a:xfrm>
            <a:off x="6492240" y="3566160"/>
            <a:ext cx="4846320" cy="320040"/>
          </a:xfrm>
          <a:prstGeom prst="rect">
            <a:avLst/>
          </a:prstGeom>
          <a:noFill/>
          <a:ln/>
        </p:spPr>
        <p:txBody>
          <a:bodyPr wrap="square" rtlCol="0" anchor="ctr"/>
          <a:lstStyle/>
          <a:p>
            <a:pPr indent="0" marL="0">
              <a:buNone/>
            </a:pPr>
            <a:r>
              <a:rPr lang="en-US" sz="1400" b="1" dirty="0">
                <a:solidFill>
                  <a:srgbClr val="F7931A"/>
                </a:solidFill>
                <a:latin typeface="Cambria" pitchFamily="34" charset="0"/>
                <a:ea typeface="Cambria" pitchFamily="34" charset="-122"/>
                <a:cs typeface="Cambria" pitchFamily="34" charset="-120"/>
              </a:rPr>
              <a:t>Reproducibility by design</a:t>
            </a:r>
            <a:endParaRPr lang="en-US" sz="1400" dirty="0"/>
          </a:p>
        </p:txBody>
      </p:sp>
      <p:sp>
        <p:nvSpPr>
          <p:cNvPr id="28" name="Text 26"/>
          <p:cNvSpPr/>
          <p:nvPr/>
        </p:nvSpPr>
        <p:spPr>
          <a:xfrm>
            <a:off x="6537960" y="3931920"/>
            <a:ext cx="4754880" cy="2011680"/>
          </a:xfrm>
          <a:prstGeom prst="rect">
            <a:avLst/>
          </a:prstGeom>
          <a:noFill/>
          <a:ln/>
        </p:spPr>
        <p:txBody>
          <a:bodyPr wrap="square" rtlCol="0" anchor="t"/>
          <a:lstStyle/>
          <a:p>
            <a:pPr marL="342900" indent="-342900">
              <a:lnSpc>
                <a:spcPct val="115000"/>
              </a:lnSpc>
              <a:spcAft>
                <a:spcPts val="1000"/>
              </a:spcAft>
              <a:buSzPct val="100000"/>
              <a:buChar char="●"/>
            </a:pPr>
            <a:r>
              <a:rPr lang="en-US" sz="1200" dirty="0">
                <a:solidFill>
                  <a:srgbClr val="FFFFFF"/>
                </a:solidFill>
                <a:latin typeface="Calibri" pitchFamily="34" charset="0"/>
                <a:ea typeface="Calibri" pitchFamily="34" charset="-122"/>
                <a:cs typeface="Calibri" pitchFamily="34" charset="-120"/>
              </a:rPr>
              <a:t>Data fetched once, saved to btc_hourly_ohlcv.csv</a:t>
            </a:r>
            <a:endParaRPr lang="en-US" sz="1200" dirty="0"/>
          </a:p>
          <a:p>
            <a:pPr marL="342900" indent="-342900">
              <a:lnSpc>
                <a:spcPct val="115000"/>
              </a:lnSpc>
              <a:spcAft>
                <a:spcPts val="1000"/>
              </a:spcAft>
              <a:buSzPct val="100000"/>
              <a:buChar char="●"/>
            </a:pPr>
            <a:r>
              <a:rPr lang="en-US" sz="1200" dirty="0">
                <a:solidFill>
                  <a:srgbClr val="FFFFFF"/>
                </a:solidFill>
                <a:latin typeface="Calibri" pitchFamily="34" charset="0"/>
                <a:ea typeface="Calibri" pitchFamily="34" charset="-122"/>
                <a:cs typeface="Calibri" pitchFamily="34" charset="-120"/>
              </a:rPr>
              <a:t>All later cells read the CSV, not the live API</a:t>
            </a:r>
            <a:endParaRPr lang="en-US" sz="1200" dirty="0"/>
          </a:p>
          <a:p>
            <a:pPr marL="342900" indent="-342900">
              <a:lnSpc>
                <a:spcPct val="115000"/>
              </a:lnSpc>
              <a:spcAft>
                <a:spcPts val="1000"/>
              </a:spcAft>
              <a:buSzPct val="100000"/>
              <a:buChar char="●"/>
            </a:pPr>
            <a:r>
              <a:rPr lang="en-US" sz="1200" dirty="0">
                <a:solidFill>
                  <a:srgbClr val="FFFFFF"/>
                </a:solidFill>
                <a:latin typeface="Calibri" pitchFamily="34" charset="0"/>
                <a:ea typeface="Calibri" pitchFamily="34" charset="-122"/>
                <a:cs typeface="Calibri" pitchFamily="34" charset="-120"/>
              </a:rPr>
              <a:t>A second CSV accumulates genuinely new candles for live testing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10972800" y="365760"/>
            <a:ext cx="731520" cy="731520"/>
          </a:xfrm>
          <a:prstGeom prst="ellipse">
            <a:avLst/>
          </a:prstGeom>
          <a:solidFill>
            <a:srgbClr val="0D1B2A"/>
          </a:solidFill>
          <a:ln/>
        </p:spPr>
      </p:sp>
      <p:sp>
        <p:nvSpPr>
          <p:cNvPr id="3" name="Shape 1"/>
          <p:cNvSpPr/>
          <p:nvPr/>
        </p:nvSpPr>
        <p:spPr>
          <a:xfrm flipV="1">
            <a:off x="11133734" y="588142"/>
            <a:ext cx="122895" cy="204826"/>
          </a:xfrm>
          <a:prstGeom prst="line">
            <a:avLst/>
          </a:prstGeom>
          <a:noFill/>
          <a:ln w="25400">
            <a:solidFill>
              <a:srgbClr val="F7931A"/>
            </a:solidFill>
            <a:prstDash val="solid"/>
          </a:ln>
        </p:spPr>
      </p:sp>
      <p:sp>
        <p:nvSpPr>
          <p:cNvPr id="4" name="Shape 2"/>
          <p:cNvSpPr/>
          <p:nvPr/>
        </p:nvSpPr>
        <p:spPr>
          <a:xfrm>
            <a:off x="11256630" y="588142"/>
            <a:ext cx="81930" cy="245791"/>
          </a:xfrm>
          <a:prstGeom prst="line">
            <a:avLst/>
          </a:prstGeom>
          <a:noFill/>
          <a:ln w="25400">
            <a:solidFill>
              <a:srgbClr val="F7931A"/>
            </a:solidFill>
            <a:prstDash val="solid"/>
          </a:ln>
        </p:spPr>
      </p:sp>
      <p:sp>
        <p:nvSpPr>
          <p:cNvPr id="5" name="Shape 3"/>
          <p:cNvSpPr/>
          <p:nvPr/>
        </p:nvSpPr>
        <p:spPr>
          <a:xfrm flipV="1">
            <a:off x="11338560" y="526694"/>
            <a:ext cx="102413" cy="307238"/>
          </a:xfrm>
          <a:prstGeom prst="line">
            <a:avLst/>
          </a:prstGeom>
          <a:noFill/>
          <a:ln w="25400">
            <a:solidFill>
              <a:srgbClr val="F7931A"/>
            </a:solidFill>
            <a:prstDash val="solid"/>
          </a:ln>
        </p:spPr>
      </p:sp>
      <p:sp>
        <p:nvSpPr>
          <p:cNvPr id="6" name="Shape 4"/>
          <p:cNvSpPr/>
          <p:nvPr/>
        </p:nvSpPr>
        <p:spPr>
          <a:xfrm>
            <a:off x="11440973" y="526694"/>
            <a:ext cx="102413" cy="184343"/>
          </a:xfrm>
          <a:prstGeom prst="line">
            <a:avLst/>
          </a:prstGeom>
          <a:noFill/>
          <a:ln w="25400">
            <a:solidFill>
              <a:srgbClr val="F7931A"/>
            </a:solidFill>
            <a:prstDash val="solid"/>
          </a:ln>
        </p:spPr>
      </p:sp>
      <p:sp>
        <p:nvSpPr>
          <p:cNvPr id="7" name="Text 5"/>
          <p:cNvSpPr/>
          <p:nvPr/>
        </p:nvSpPr>
        <p:spPr>
          <a:xfrm>
            <a:off x="548640" y="365760"/>
            <a:ext cx="10058400" cy="640080"/>
          </a:xfrm>
          <a:prstGeom prst="rect">
            <a:avLst/>
          </a:prstGeom>
          <a:noFill/>
          <a:ln/>
        </p:spPr>
        <p:txBody>
          <a:bodyPr wrap="square" rtlCol="0" anchor="ctr"/>
          <a:lstStyle/>
          <a:p>
            <a:pPr indent="0" marL="0">
              <a:buNone/>
            </a:pPr>
            <a:r>
              <a:rPr lang="en-US" sz="3000" b="1" dirty="0">
                <a:solidFill>
                  <a:srgbClr val="0D1B2A"/>
                </a:solidFill>
                <a:latin typeface="Cambria" pitchFamily="34" charset="0"/>
                <a:ea typeface="Cambria" pitchFamily="34" charset="-122"/>
                <a:cs typeface="Cambria" pitchFamily="34" charset="-120"/>
              </a:rPr>
              <a:t>EDA — Key Findings</a:t>
            </a:r>
            <a:endParaRPr lang="en-US" sz="3000" dirty="0"/>
          </a:p>
        </p:txBody>
      </p:sp>
      <p:sp>
        <p:nvSpPr>
          <p:cNvPr id="8" name="Text 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C6B7A"/>
                </a:solidFill>
                <a:latin typeface="Calibri" pitchFamily="34" charset="0"/>
                <a:ea typeface="Calibri" pitchFamily="34" charset="-122"/>
                <a:cs typeface="Calibri" pitchFamily="34" charset="-120"/>
              </a:rPr>
              <a:t>BTC Volatility Prediction  |  Capstone</a:t>
            </a:r>
            <a:endParaRPr lang="en-US" sz="900" dirty="0"/>
          </a:p>
        </p:txBody>
      </p:sp>
      <p:sp>
        <p:nvSpPr>
          <p:cNvPr id="9" name="Text 7"/>
          <p:cNvSpPr/>
          <p:nvPr/>
        </p:nvSpPr>
        <p:spPr>
          <a:xfrm>
            <a:off x="11521440" y="6537960"/>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5</a:t>
            </a:r>
            <a:endParaRPr lang="en-US" sz="900" dirty="0"/>
          </a:p>
        </p:txBody>
      </p:sp>
      <p:sp>
        <p:nvSpPr>
          <p:cNvPr id="10" name="Shape 8"/>
          <p:cNvSpPr/>
          <p:nvPr/>
        </p:nvSpPr>
        <p:spPr>
          <a:xfrm>
            <a:off x="548640" y="1554480"/>
            <a:ext cx="3611880" cy="4297680"/>
          </a:xfrm>
          <a:prstGeom prst="roundRect">
            <a:avLst>
              <a:gd name="adj" fmla="val 2025"/>
            </a:avLst>
          </a:prstGeom>
          <a:solidFill>
            <a:srgbClr val="FFFFFF"/>
          </a:solidFill>
          <a:ln/>
          <a:effectLst>
            <a:outerShdw sx="100000" sy="100000" kx="0" ky="0" algn="bl" rotWithShape="0" blurRad="76200" dist="25400" dir="5400000">
              <a:srgbClr val="888888">
                <a:alpha val="20000"/>
              </a:srgbClr>
            </a:outerShdw>
          </a:effectLst>
        </p:spPr>
      </p:sp>
      <p:sp>
        <p:nvSpPr>
          <p:cNvPr id="11" name="Shape 9"/>
          <p:cNvSpPr/>
          <p:nvPr/>
        </p:nvSpPr>
        <p:spPr>
          <a:xfrm>
            <a:off x="548640" y="1554480"/>
            <a:ext cx="3611880" cy="594360"/>
          </a:xfrm>
          <a:prstGeom prst="roundRect">
            <a:avLst>
              <a:gd name="adj" fmla="val 12308"/>
            </a:avLst>
          </a:prstGeom>
          <a:solidFill>
            <a:srgbClr val="1B4965"/>
          </a:solidFill>
          <a:ln/>
        </p:spPr>
      </p:sp>
      <p:sp>
        <p:nvSpPr>
          <p:cNvPr id="12" name="Text 10"/>
          <p:cNvSpPr/>
          <p:nvPr/>
        </p:nvSpPr>
        <p:spPr>
          <a:xfrm>
            <a:off x="548640" y="1554480"/>
            <a:ext cx="3611880" cy="594360"/>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Volatility clusters</a:t>
            </a:r>
            <a:endParaRPr lang="en-US" sz="1400" dirty="0"/>
          </a:p>
        </p:txBody>
      </p:sp>
      <p:sp>
        <p:nvSpPr>
          <p:cNvPr id="13" name="Text 11"/>
          <p:cNvSpPr/>
          <p:nvPr/>
        </p:nvSpPr>
        <p:spPr>
          <a:xfrm>
            <a:off x="777240" y="2331720"/>
            <a:ext cx="3154680" cy="3291840"/>
          </a:xfrm>
          <a:prstGeom prst="rect">
            <a:avLst/>
          </a:prstGeom>
          <a:noFill/>
          <a:ln/>
        </p:spPr>
        <p:txBody>
          <a:bodyPr wrap="square" rtlCol="0" anchor="t"/>
          <a:lstStyle/>
          <a:p>
            <a:pPr indent="0" marL="0">
              <a:lnSpc>
                <a:spcPct val="120000"/>
              </a:lnSpc>
              <a:buNone/>
            </a:pPr>
            <a:r>
              <a:rPr lang="en-US" sz="1200" dirty="0">
                <a:solidFill>
                  <a:srgbClr val="0D1B2A"/>
                </a:solidFill>
                <a:latin typeface="Calibri" pitchFamily="34" charset="0"/>
                <a:ea typeface="Calibri" pitchFamily="34" charset="-122"/>
                <a:cs typeface="Calibri" pitchFamily="34" charset="-120"/>
              </a:rPr>
              <a:t>The target is right-skewed with fat tails: long calm stretches, sharp spikes. ACF decays slowly across many lags rather than dropping to zero — confirming autocorrelation is real and exploitable.</a:t>
            </a:r>
            <a:endParaRPr lang="en-US" sz="1200" dirty="0"/>
          </a:p>
        </p:txBody>
      </p:sp>
      <p:sp>
        <p:nvSpPr>
          <p:cNvPr id="14" name="Shape 12"/>
          <p:cNvSpPr/>
          <p:nvPr/>
        </p:nvSpPr>
        <p:spPr>
          <a:xfrm>
            <a:off x="4343400" y="1554480"/>
            <a:ext cx="3611880" cy="4297680"/>
          </a:xfrm>
          <a:prstGeom prst="roundRect">
            <a:avLst>
              <a:gd name="adj" fmla="val 2025"/>
            </a:avLst>
          </a:prstGeom>
          <a:solidFill>
            <a:srgbClr val="FFFFFF"/>
          </a:solidFill>
          <a:ln/>
          <a:effectLst>
            <a:outerShdw sx="100000" sy="100000" kx="0" ky="0" algn="bl" rotWithShape="0" blurRad="76200" dist="25400" dir="5400000">
              <a:srgbClr val="888888">
                <a:alpha val="20000"/>
              </a:srgbClr>
            </a:outerShdw>
          </a:effectLst>
        </p:spPr>
      </p:sp>
      <p:sp>
        <p:nvSpPr>
          <p:cNvPr id="15" name="Shape 13"/>
          <p:cNvSpPr/>
          <p:nvPr/>
        </p:nvSpPr>
        <p:spPr>
          <a:xfrm>
            <a:off x="4343400" y="1554480"/>
            <a:ext cx="3611880" cy="594360"/>
          </a:xfrm>
          <a:prstGeom prst="roundRect">
            <a:avLst>
              <a:gd name="adj" fmla="val 12308"/>
            </a:avLst>
          </a:prstGeom>
          <a:solidFill>
            <a:srgbClr val="0D1B2A"/>
          </a:solidFill>
          <a:ln/>
        </p:spPr>
      </p:sp>
      <p:sp>
        <p:nvSpPr>
          <p:cNvPr id="16" name="Text 14"/>
          <p:cNvSpPr/>
          <p:nvPr/>
        </p:nvSpPr>
        <p:spPr>
          <a:xfrm>
            <a:off x="4343400" y="1554480"/>
            <a:ext cx="3611880" cy="594360"/>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Range measures track the target</a:t>
            </a:r>
            <a:endParaRPr lang="en-US" sz="1400" dirty="0"/>
          </a:p>
        </p:txBody>
      </p:sp>
      <p:sp>
        <p:nvSpPr>
          <p:cNvPr id="17" name="Text 15"/>
          <p:cNvSpPr/>
          <p:nvPr/>
        </p:nvSpPr>
        <p:spPr>
          <a:xfrm>
            <a:off x="4572000" y="2331720"/>
            <a:ext cx="3154680" cy="3291840"/>
          </a:xfrm>
          <a:prstGeom prst="rect">
            <a:avLst/>
          </a:prstGeom>
          <a:noFill/>
          <a:ln/>
        </p:spPr>
        <p:txBody>
          <a:bodyPr wrap="square" rtlCol="0" anchor="t"/>
          <a:lstStyle/>
          <a:p>
            <a:pPr indent="0" marL="0">
              <a:lnSpc>
                <a:spcPct val="120000"/>
              </a:lnSpc>
              <a:buNone/>
            </a:pPr>
            <a:r>
              <a:rPr lang="en-US" sz="1200" dirty="0">
                <a:solidFill>
                  <a:srgbClr val="0D1B2A"/>
                </a:solidFill>
                <a:latin typeface="Calibri" pitchFamily="34" charset="0"/>
                <a:ea typeface="Calibri" pitchFamily="34" charset="-122"/>
                <a:cs typeface="Calibri" pitchFamily="34" charset="-120"/>
              </a:rPr>
              <a:t>ATR and Bollinger width correlate strongly with volatility. Both are built from intraday high/low ranges, not close-to-close returns — genuinely independent signal, not a restatement of the target.</a:t>
            </a:r>
            <a:endParaRPr lang="en-US" sz="1200" dirty="0"/>
          </a:p>
        </p:txBody>
      </p:sp>
      <p:sp>
        <p:nvSpPr>
          <p:cNvPr id="18" name="Shape 16"/>
          <p:cNvSpPr/>
          <p:nvPr/>
        </p:nvSpPr>
        <p:spPr>
          <a:xfrm>
            <a:off x="8138160" y="1554480"/>
            <a:ext cx="3611880" cy="4297680"/>
          </a:xfrm>
          <a:prstGeom prst="roundRect">
            <a:avLst>
              <a:gd name="adj" fmla="val 2025"/>
            </a:avLst>
          </a:prstGeom>
          <a:solidFill>
            <a:srgbClr val="FFFFFF"/>
          </a:solidFill>
          <a:ln/>
          <a:effectLst>
            <a:outerShdw sx="100000" sy="100000" kx="0" ky="0" algn="bl" rotWithShape="0" blurRad="76200" dist="25400" dir="5400000">
              <a:srgbClr val="888888">
                <a:alpha val="20000"/>
              </a:srgbClr>
            </a:outerShdw>
          </a:effectLst>
        </p:spPr>
      </p:sp>
      <p:sp>
        <p:nvSpPr>
          <p:cNvPr id="19" name="Shape 17"/>
          <p:cNvSpPr/>
          <p:nvPr/>
        </p:nvSpPr>
        <p:spPr>
          <a:xfrm>
            <a:off x="8138160" y="1554480"/>
            <a:ext cx="3611880" cy="594360"/>
          </a:xfrm>
          <a:prstGeom prst="roundRect">
            <a:avLst>
              <a:gd name="adj" fmla="val 12308"/>
            </a:avLst>
          </a:prstGeom>
          <a:solidFill>
            <a:srgbClr val="F7931A"/>
          </a:solidFill>
          <a:ln/>
        </p:spPr>
      </p:sp>
      <p:sp>
        <p:nvSpPr>
          <p:cNvPr id="20" name="Text 18"/>
          <p:cNvSpPr/>
          <p:nvPr/>
        </p:nvSpPr>
        <p:spPr>
          <a:xfrm>
            <a:off x="8138160" y="1554480"/>
            <a:ext cx="3611880" cy="594360"/>
          </a:xfrm>
          <a:prstGeom prst="rect">
            <a:avLst/>
          </a:prstGeom>
          <a:noFill/>
          <a:ln/>
        </p:spPr>
        <p:txBody>
          <a:bodyPr wrap="square" rtlCol="0" anchor="ctr"/>
          <a:lstStyle/>
          <a:p>
            <a:pPr algn="ctr" indent="0" marL="0">
              <a:buNone/>
            </a:pPr>
            <a:r>
              <a:rPr lang="en-US" sz="1400" b="1" dirty="0">
                <a:solidFill>
                  <a:srgbClr val="0D1B2A"/>
                </a:solidFill>
                <a:latin typeface="Cambria" pitchFamily="34" charset="0"/>
                <a:ea typeface="Cambria" pitchFamily="34" charset="-122"/>
                <a:cs typeface="Cambria" pitchFamily="34" charset="-120"/>
              </a:rPr>
              <a:t>Session-time effects exist</a:t>
            </a:r>
            <a:endParaRPr lang="en-US" sz="1400" dirty="0"/>
          </a:p>
        </p:txBody>
      </p:sp>
      <p:sp>
        <p:nvSpPr>
          <p:cNvPr id="21" name="Text 19"/>
          <p:cNvSpPr/>
          <p:nvPr/>
        </p:nvSpPr>
        <p:spPr>
          <a:xfrm>
            <a:off x="8366760" y="2331720"/>
            <a:ext cx="3154680" cy="3291840"/>
          </a:xfrm>
          <a:prstGeom prst="rect">
            <a:avLst/>
          </a:prstGeom>
          <a:noFill/>
          <a:ln/>
        </p:spPr>
        <p:txBody>
          <a:bodyPr wrap="square" rtlCol="0" anchor="t"/>
          <a:lstStyle/>
          <a:p>
            <a:pPr indent="0" marL="0">
              <a:lnSpc>
                <a:spcPct val="120000"/>
              </a:lnSpc>
              <a:buNone/>
            </a:pPr>
            <a:r>
              <a:rPr lang="en-US" sz="1200" dirty="0">
                <a:solidFill>
                  <a:srgbClr val="0D1B2A"/>
                </a:solidFill>
                <a:latin typeface="Calibri" pitchFamily="34" charset="0"/>
                <a:ea typeface="Calibri" pitchFamily="34" charset="-122"/>
                <a:cs typeface="Calibri" pitchFamily="34" charset="-120"/>
              </a:rPr>
              <a:t>Volatility varies by hour of day (Asia/Europe/US overlaps). Chi-square confirms hour-of-day is associated with volatility regime — motivating the Holt-Winters seasonal baseline.</a:t>
            </a:r>
            <a:endParaRPr lang="en-US" sz="1200" dirty="0"/>
          </a:p>
        </p:txBody>
      </p:sp>
      <p:sp>
        <p:nvSpPr>
          <p:cNvPr id="22" name="Text 20"/>
          <p:cNvSpPr/>
          <p:nvPr/>
        </p:nvSpPr>
        <p:spPr>
          <a:xfrm>
            <a:off x="548640" y="5989320"/>
            <a:ext cx="11064240" cy="274320"/>
          </a:xfrm>
          <a:prstGeom prst="rect">
            <a:avLst/>
          </a:prstGeom>
          <a:noFill/>
          <a:ln/>
        </p:spPr>
        <p:txBody>
          <a:bodyPr wrap="square" rtlCol="0" anchor="ctr"/>
          <a:lstStyle/>
          <a:p>
            <a:pPr algn="ctr" indent="0" marL="0">
              <a:buNone/>
            </a:pPr>
            <a:r>
              <a:rPr lang="en-US" sz="1000" i="1" dirty="0">
                <a:solidFill>
                  <a:srgbClr val="5C6B7A"/>
                </a:solidFill>
                <a:latin typeface="Calibri" pitchFamily="34" charset="0"/>
                <a:ea typeface="Calibri" pitchFamily="34" charset="-122"/>
                <a:cs typeface="Calibri" pitchFamily="34" charset="-120"/>
              </a:rPr>
              <a:t>Insert the ACF plot and correlation heatmap from the notebook here if presenting with visuals.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10972800" y="365760"/>
            <a:ext cx="731520" cy="731520"/>
          </a:xfrm>
          <a:prstGeom prst="ellipse">
            <a:avLst/>
          </a:prstGeom>
          <a:solidFill>
            <a:srgbClr val="0D1B2A"/>
          </a:solidFill>
          <a:ln/>
        </p:spPr>
      </p:sp>
      <p:sp>
        <p:nvSpPr>
          <p:cNvPr id="3" name="Shape 1"/>
          <p:cNvSpPr/>
          <p:nvPr/>
        </p:nvSpPr>
        <p:spPr>
          <a:xfrm flipV="1">
            <a:off x="11133734" y="588142"/>
            <a:ext cx="122895" cy="204826"/>
          </a:xfrm>
          <a:prstGeom prst="line">
            <a:avLst/>
          </a:prstGeom>
          <a:noFill/>
          <a:ln w="25400">
            <a:solidFill>
              <a:srgbClr val="F7931A"/>
            </a:solidFill>
            <a:prstDash val="solid"/>
          </a:ln>
        </p:spPr>
      </p:sp>
      <p:sp>
        <p:nvSpPr>
          <p:cNvPr id="4" name="Shape 2"/>
          <p:cNvSpPr/>
          <p:nvPr/>
        </p:nvSpPr>
        <p:spPr>
          <a:xfrm>
            <a:off x="11256630" y="588142"/>
            <a:ext cx="81930" cy="245791"/>
          </a:xfrm>
          <a:prstGeom prst="line">
            <a:avLst/>
          </a:prstGeom>
          <a:noFill/>
          <a:ln w="25400">
            <a:solidFill>
              <a:srgbClr val="F7931A"/>
            </a:solidFill>
            <a:prstDash val="solid"/>
          </a:ln>
        </p:spPr>
      </p:sp>
      <p:sp>
        <p:nvSpPr>
          <p:cNvPr id="5" name="Shape 3"/>
          <p:cNvSpPr/>
          <p:nvPr/>
        </p:nvSpPr>
        <p:spPr>
          <a:xfrm flipV="1">
            <a:off x="11338560" y="526694"/>
            <a:ext cx="102413" cy="307238"/>
          </a:xfrm>
          <a:prstGeom prst="line">
            <a:avLst/>
          </a:prstGeom>
          <a:noFill/>
          <a:ln w="25400">
            <a:solidFill>
              <a:srgbClr val="F7931A"/>
            </a:solidFill>
            <a:prstDash val="solid"/>
          </a:ln>
        </p:spPr>
      </p:sp>
      <p:sp>
        <p:nvSpPr>
          <p:cNvPr id="6" name="Shape 4"/>
          <p:cNvSpPr/>
          <p:nvPr/>
        </p:nvSpPr>
        <p:spPr>
          <a:xfrm>
            <a:off x="11440973" y="526694"/>
            <a:ext cx="102413" cy="184343"/>
          </a:xfrm>
          <a:prstGeom prst="line">
            <a:avLst/>
          </a:prstGeom>
          <a:noFill/>
          <a:ln w="25400">
            <a:solidFill>
              <a:srgbClr val="F7931A"/>
            </a:solidFill>
            <a:prstDash val="solid"/>
          </a:ln>
        </p:spPr>
      </p:sp>
      <p:sp>
        <p:nvSpPr>
          <p:cNvPr id="7" name="Text 5"/>
          <p:cNvSpPr/>
          <p:nvPr/>
        </p:nvSpPr>
        <p:spPr>
          <a:xfrm>
            <a:off x="548640" y="365760"/>
            <a:ext cx="10058400" cy="640080"/>
          </a:xfrm>
          <a:prstGeom prst="rect">
            <a:avLst/>
          </a:prstGeom>
          <a:noFill/>
          <a:ln/>
        </p:spPr>
        <p:txBody>
          <a:bodyPr wrap="square" rtlCol="0" anchor="ctr"/>
          <a:lstStyle/>
          <a:p>
            <a:pPr indent="0" marL="0">
              <a:buNone/>
            </a:pPr>
            <a:r>
              <a:rPr lang="en-US" sz="3000" b="1" dirty="0">
                <a:solidFill>
                  <a:srgbClr val="0D1B2A"/>
                </a:solidFill>
                <a:latin typeface="Cambria" pitchFamily="34" charset="0"/>
                <a:ea typeface="Cambria" pitchFamily="34" charset="-122"/>
                <a:cs typeface="Cambria" pitchFamily="34" charset="-120"/>
              </a:rPr>
              <a:t>Modeling Approach</a:t>
            </a:r>
            <a:endParaRPr lang="en-US" sz="3000" dirty="0"/>
          </a:p>
        </p:txBody>
      </p:sp>
      <p:sp>
        <p:nvSpPr>
          <p:cNvPr id="8" name="Text 6"/>
          <p:cNvSpPr/>
          <p:nvPr/>
        </p:nvSpPr>
        <p:spPr>
          <a:xfrm>
            <a:off x="548640" y="932688"/>
            <a:ext cx="10515600" cy="365760"/>
          </a:xfrm>
          <a:prstGeom prst="rect">
            <a:avLst/>
          </a:prstGeom>
          <a:noFill/>
          <a:ln/>
        </p:spPr>
        <p:txBody>
          <a:bodyPr wrap="square" rtlCol="0" anchor="ctr"/>
          <a:lstStyle/>
          <a:p>
            <a:pPr indent="0" marL="0">
              <a:buNone/>
            </a:pPr>
            <a:r>
              <a:rPr lang="en-US" sz="1400" i="1" dirty="0">
                <a:solidFill>
                  <a:srgbClr val="5C6B7A"/>
                </a:solidFill>
                <a:latin typeface="Calibri" pitchFamily="34" charset="0"/>
                <a:ea typeface="Calibri" pitchFamily="34" charset="-122"/>
                <a:cs typeface="Calibri" pitchFamily="34" charset="-120"/>
              </a:rPr>
              <a:t>Why every model here is time-series-native</a:t>
            </a:r>
            <a:endParaRPr lang="en-US" sz="1400" dirty="0"/>
          </a:p>
        </p:txBody>
      </p:sp>
      <p:sp>
        <p:nvSpPr>
          <p:cNvPr id="9" name="Text 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C6B7A"/>
                </a:solidFill>
                <a:latin typeface="Calibri" pitchFamily="34" charset="0"/>
                <a:ea typeface="Calibri" pitchFamily="34" charset="-122"/>
                <a:cs typeface="Calibri" pitchFamily="34" charset="-120"/>
              </a:rPr>
              <a:t>BTC Volatility Prediction  |  Capstone</a:t>
            </a:r>
            <a:endParaRPr lang="en-US" sz="900" dirty="0"/>
          </a:p>
        </p:txBody>
      </p:sp>
      <p:sp>
        <p:nvSpPr>
          <p:cNvPr id="10" name="Text 8"/>
          <p:cNvSpPr/>
          <p:nvPr/>
        </p:nvSpPr>
        <p:spPr>
          <a:xfrm>
            <a:off x="11521440" y="6537960"/>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6</a:t>
            </a:r>
            <a:endParaRPr lang="en-US" sz="900" dirty="0"/>
          </a:p>
        </p:txBody>
      </p:sp>
      <p:sp>
        <p:nvSpPr>
          <p:cNvPr id="11" name="Shape 9"/>
          <p:cNvSpPr/>
          <p:nvPr/>
        </p:nvSpPr>
        <p:spPr>
          <a:xfrm>
            <a:off x="548640" y="1417320"/>
            <a:ext cx="11064240" cy="1051560"/>
          </a:xfrm>
          <a:prstGeom prst="roundRect">
            <a:avLst>
              <a:gd name="adj" fmla="val 6957"/>
            </a:avLst>
          </a:prstGeom>
          <a:solidFill>
            <a:srgbClr val="0D1B2A"/>
          </a:solidFill>
          <a:ln/>
        </p:spPr>
      </p:sp>
      <p:sp>
        <p:nvSpPr>
          <p:cNvPr id="12" name="Text 10"/>
          <p:cNvSpPr/>
          <p:nvPr/>
        </p:nvSpPr>
        <p:spPr>
          <a:xfrm>
            <a:off x="868680" y="1554480"/>
            <a:ext cx="10424160" cy="822960"/>
          </a:xfrm>
          <a:prstGeom prst="rect">
            <a:avLst/>
          </a:prstGeom>
          <a:noFill/>
          <a:ln/>
        </p:spPr>
        <p:txBody>
          <a:bodyPr wrap="square" rtlCol="0" anchor="t"/>
          <a:lstStyle/>
          <a:p>
            <a:pPr indent="0" marL="0">
              <a:lnSpc>
                <a:spcPct val="115000"/>
              </a:lnSpc>
              <a:buNone/>
            </a:pPr>
            <a:r>
              <a:rPr lang="en-US" sz="1250" b="1" dirty="0">
                <a:solidFill>
                  <a:srgbClr val="F7931A"/>
                </a:solidFill>
                <a:latin typeface="Calibri" pitchFamily="34" charset="0"/>
                <a:ea typeface="Calibri" pitchFamily="34" charset="-122"/>
                <a:cs typeface="Calibri" pitchFamily="34" charset="-120"/>
              </a:rPr>
              <a:t>Design principle:  </a:t>
            </a:r>
            <a:pPr indent="0" marL="0">
              <a:lnSpc>
                <a:spcPct val="115000"/>
              </a:lnSpc>
              <a:buNone/>
            </a:pPr>
            <a:r>
              <a:rPr lang="en-US" sz="1250" dirty="0">
                <a:solidFill>
                  <a:srgbClr val="FFFFFF"/>
                </a:solidFill>
                <a:latin typeface="Calibri" pitchFamily="34" charset="0"/>
                <a:ea typeface="Calibri" pitchFamily="34" charset="-122"/>
                <a:cs typeface="Calibri" pitchFamily="34" charset="-120"/>
              </a:rPr>
              <a:t>Linear Regression, Random Forest, and XGBoost were deliberately excluded. They have no internal notion of time — each row is an unordered bag of numbers, and time enters only through hand-engineered lag columns. Every model below has time built into its own mathematics.</a:t>
            </a:r>
            <a:endParaRPr lang="en-US" sz="1250" dirty="0"/>
          </a:p>
        </p:txBody>
      </p:sp>
      <p:sp>
        <p:nvSpPr>
          <p:cNvPr id="13" name="Shape 11"/>
          <p:cNvSpPr/>
          <p:nvPr/>
        </p:nvSpPr>
        <p:spPr>
          <a:xfrm>
            <a:off x="548640" y="2651760"/>
            <a:ext cx="3611880" cy="3429000"/>
          </a:xfrm>
          <a:prstGeom prst="roundRect">
            <a:avLst>
              <a:gd name="adj" fmla="val 2133"/>
            </a:avLst>
          </a:prstGeom>
          <a:solidFill>
            <a:srgbClr val="FFFFFF"/>
          </a:solidFill>
          <a:ln/>
          <a:effectLst>
            <a:outerShdw sx="100000" sy="100000" kx="0" ky="0" algn="bl" rotWithShape="0" blurRad="76200" dist="25400" dir="5400000">
              <a:srgbClr val="888888">
                <a:alpha val="20000"/>
              </a:srgbClr>
            </a:outerShdw>
          </a:effectLst>
        </p:spPr>
      </p:sp>
      <p:sp>
        <p:nvSpPr>
          <p:cNvPr id="14" name="Shape 12"/>
          <p:cNvSpPr/>
          <p:nvPr/>
        </p:nvSpPr>
        <p:spPr>
          <a:xfrm>
            <a:off x="548640" y="2651760"/>
            <a:ext cx="3611880" cy="530352"/>
          </a:xfrm>
          <a:prstGeom prst="roundRect">
            <a:avLst>
              <a:gd name="adj" fmla="val 13793"/>
            </a:avLst>
          </a:prstGeom>
          <a:solidFill>
            <a:srgbClr val="1B4965"/>
          </a:solidFill>
          <a:ln/>
        </p:spPr>
      </p:sp>
      <p:sp>
        <p:nvSpPr>
          <p:cNvPr id="15" name="Text 13"/>
          <p:cNvSpPr/>
          <p:nvPr/>
        </p:nvSpPr>
        <p:spPr>
          <a:xfrm>
            <a:off x="548640" y="2651760"/>
            <a:ext cx="3611880" cy="530352"/>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Preprocessing</a:t>
            </a:r>
            <a:endParaRPr lang="en-US" sz="1400" dirty="0"/>
          </a:p>
        </p:txBody>
      </p:sp>
      <p:sp>
        <p:nvSpPr>
          <p:cNvPr id="16" name="Text 14"/>
          <p:cNvSpPr/>
          <p:nvPr/>
        </p:nvSpPr>
        <p:spPr>
          <a:xfrm>
            <a:off x="804672" y="3337560"/>
            <a:ext cx="3108960" cy="2651760"/>
          </a:xfrm>
          <a:prstGeom prst="rect">
            <a:avLst/>
          </a:prstGeom>
          <a:noFill/>
          <a:ln/>
        </p:spPr>
        <p:txBody>
          <a:bodyPr wrap="square" rtlCol="0" anchor="t"/>
          <a:lstStyle/>
          <a:p>
            <a:pPr marL="342900" indent="-342900">
              <a:lnSpc>
                <a:spcPct val="112000"/>
              </a:lnSpc>
              <a:spcAft>
                <a:spcPts val="900"/>
              </a:spcAft>
              <a:buSzPct val="100000"/>
              <a:buChar char="●"/>
            </a:pPr>
            <a:r>
              <a:rPr lang="en-US" sz="1100" dirty="0">
                <a:solidFill>
                  <a:srgbClr val="0D1B2A"/>
                </a:solidFill>
                <a:latin typeface="Calibri" pitchFamily="34" charset="0"/>
                <a:ea typeface="Calibri" pitchFamily="34" charset="-122"/>
                <a:cs typeface="Calibri" pitchFamily="34" charset="-120"/>
              </a:rPr>
              <a:t>Lag every feature 1–3 hours (no lookahead)</a:t>
            </a:r>
            <a:endParaRPr lang="en-US" sz="1100" dirty="0"/>
          </a:p>
          <a:p>
            <a:pPr marL="342900" indent="-342900">
              <a:lnSpc>
                <a:spcPct val="112000"/>
              </a:lnSpc>
              <a:spcAft>
                <a:spcPts val="900"/>
              </a:spcAft>
              <a:buSzPct val="100000"/>
              <a:buChar char="●"/>
            </a:pPr>
            <a:r>
              <a:rPr lang="en-US" sz="1100" dirty="0">
                <a:solidFill>
                  <a:srgbClr val="0D1B2A"/>
                </a:solidFill>
                <a:latin typeface="Calibri" pitchFamily="34" charset="0"/>
                <a:ea typeface="Calibri" pitchFamily="34" charset="-122"/>
                <a:cs typeface="Calibri" pitchFamily="34" charset="-120"/>
              </a:rPr>
              <a:t>Zero-volume candles → inf guarded before rolling calcs</a:t>
            </a:r>
            <a:endParaRPr lang="en-US" sz="1100" dirty="0"/>
          </a:p>
          <a:p>
            <a:pPr marL="342900" indent="-342900">
              <a:lnSpc>
                <a:spcPct val="112000"/>
              </a:lnSpc>
              <a:spcAft>
                <a:spcPts val="900"/>
              </a:spcAft>
              <a:buSzPct val="100000"/>
              <a:buChar char="●"/>
            </a:pPr>
            <a:r>
              <a:rPr lang="en-US" sz="1100" dirty="0">
                <a:solidFill>
                  <a:srgbClr val="0D1B2A"/>
                </a:solidFill>
                <a:latin typeface="Calibri" pitchFamily="34" charset="0"/>
                <a:ea typeface="Calibri" pitchFamily="34" charset="-122"/>
                <a:cs typeface="Calibri" pitchFamily="34" charset="-120"/>
              </a:rPr>
              <a:t>StandardScaler fit on train only</a:t>
            </a:r>
            <a:endParaRPr lang="en-US" sz="1100" dirty="0"/>
          </a:p>
          <a:p>
            <a:pPr marL="342900" indent="-342900">
              <a:lnSpc>
                <a:spcPct val="112000"/>
              </a:lnSpc>
              <a:spcAft>
                <a:spcPts val="900"/>
              </a:spcAft>
              <a:buSzPct val="100000"/>
              <a:buChar char="●"/>
            </a:pPr>
            <a:r>
              <a:rPr lang="en-US" sz="1100" dirty="0">
                <a:solidFill>
                  <a:srgbClr val="0D1B2A"/>
                </a:solidFill>
                <a:latin typeface="Calibri" pitchFamily="34" charset="0"/>
                <a:ea typeface="Calibri" pitchFamily="34" charset="-122"/>
                <a:cs typeface="Calibri" pitchFamily="34" charset="-120"/>
              </a:rPr>
              <a:t>Log transform tested for right-skewed target</a:t>
            </a:r>
            <a:endParaRPr lang="en-US" sz="1100" dirty="0"/>
          </a:p>
        </p:txBody>
      </p:sp>
      <p:sp>
        <p:nvSpPr>
          <p:cNvPr id="17" name="Shape 15"/>
          <p:cNvSpPr/>
          <p:nvPr/>
        </p:nvSpPr>
        <p:spPr>
          <a:xfrm>
            <a:off x="4343400" y="2651760"/>
            <a:ext cx="3611880" cy="3429000"/>
          </a:xfrm>
          <a:prstGeom prst="roundRect">
            <a:avLst>
              <a:gd name="adj" fmla="val 2133"/>
            </a:avLst>
          </a:prstGeom>
          <a:solidFill>
            <a:srgbClr val="FFFFFF"/>
          </a:solidFill>
          <a:ln/>
          <a:effectLst>
            <a:outerShdw sx="100000" sy="100000" kx="0" ky="0" algn="bl" rotWithShape="0" blurRad="76200" dist="25400" dir="5400000">
              <a:srgbClr val="888888">
                <a:alpha val="20000"/>
              </a:srgbClr>
            </a:outerShdw>
          </a:effectLst>
        </p:spPr>
      </p:sp>
      <p:sp>
        <p:nvSpPr>
          <p:cNvPr id="18" name="Shape 16"/>
          <p:cNvSpPr/>
          <p:nvPr/>
        </p:nvSpPr>
        <p:spPr>
          <a:xfrm>
            <a:off x="4343400" y="2651760"/>
            <a:ext cx="3611880" cy="530352"/>
          </a:xfrm>
          <a:prstGeom prst="roundRect">
            <a:avLst>
              <a:gd name="adj" fmla="val 13793"/>
            </a:avLst>
          </a:prstGeom>
          <a:solidFill>
            <a:srgbClr val="0D1B2A"/>
          </a:solidFill>
          <a:ln/>
        </p:spPr>
      </p:sp>
      <p:sp>
        <p:nvSpPr>
          <p:cNvPr id="19" name="Text 17"/>
          <p:cNvSpPr/>
          <p:nvPr/>
        </p:nvSpPr>
        <p:spPr>
          <a:xfrm>
            <a:off x="4343400" y="2651760"/>
            <a:ext cx="3611880" cy="530352"/>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Validation</a:t>
            </a:r>
            <a:endParaRPr lang="en-US" sz="1400" dirty="0"/>
          </a:p>
        </p:txBody>
      </p:sp>
      <p:sp>
        <p:nvSpPr>
          <p:cNvPr id="20" name="Text 18"/>
          <p:cNvSpPr/>
          <p:nvPr/>
        </p:nvSpPr>
        <p:spPr>
          <a:xfrm>
            <a:off x="4599432" y="3337560"/>
            <a:ext cx="3108960" cy="2651760"/>
          </a:xfrm>
          <a:prstGeom prst="rect">
            <a:avLst/>
          </a:prstGeom>
          <a:noFill/>
          <a:ln/>
        </p:spPr>
        <p:txBody>
          <a:bodyPr wrap="square" rtlCol="0" anchor="t"/>
          <a:lstStyle/>
          <a:p>
            <a:pPr marL="342900" indent="-342900">
              <a:lnSpc>
                <a:spcPct val="112000"/>
              </a:lnSpc>
              <a:spcAft>
                <a:spcPts val="900"/>
              </a:spcAft>
              <a:buSzPct val="100000"/>
              <a:buChar char="●"/>
            </a:pPr>
            <a:r>
              <a:rPr lang="en-US" sz="1100" dirty="0">
                <a:solidFill>
                  <a:srgbClr val="0D1B2A"/>
                </a:solidFill>
                <a:latin typeface="Calibri" pitchFamily="34" charset="0"/>
                <a:ea typeface="Calibri" pitchFamily="34" charset="-122"/>
                <a:cs typeface="Calibri" pitchFamily="34" charset="-120"/>
              </a:rPr>
              <a:t>Strict chronological 80/20 split</a:t>
            </a:r>
            <a:endParaRPr lang="en-US" sz="1100" dirty="0"/>
          </a:p>
          <a:p>
            <a:pPr marL="342900" indent="-342900">
              <a:lnSpc>
                <a:spcPct val="112000"/>
              </a:lnSpc>
              <a:spcAft>
                <a:spcPts val="900"/>
              </a:spcAft>
              <a:buSzPct val="100000"/>
              <a:buChar char="●"/>
            </a:pPr>
            <a:r>
              <a:rPr lang="en-US" sz="1100" dirty="0">
                <a:solidFill>
                  <a:srgbClr val="0D1B2A"/>
                </a:solidFill>
                <a:latin typeface="Calibri" pitchFamily="34" charset="0"/>
                <a:ea typeface="Calibri" pitchFamily="34" charset="-122"/>
                <a:cs typeface="Calibri" pitchFamily="34" charset="-120"/>
              </a:rPr>
              <a:t>TimeSeriesSplit for tuning — never random K-fold</a:t>
            </a:r>
            <a:endParaRPr lang="en-US" sz="1100" dirty="0"/>
          </a:p>
          <a:p>
            <a:pPr marL="342900" indent="-342900">
              <a:lnSpc>
                <a:spcPct val="112000"/>
              </a:lnSpc>
              <a:spcAft>
                <a:spcPts val="900"/>
              </a:spcAft>
              <a:buSzPct val="100000"/>
              <a:buChar char="●"/>
            </a:pPr>
            <a:r>
              <a:rPr lang="en-US" sz="1100" dirty="0">
                <a:solidFill>
                  <a:srgbClr val="0D1B2A"/>
                </a:solidFill>
                <a:latin typeface="Calibri" pitchFamily="34" charset="0"/>
                <a:ea typeface="Calibri" pitchFamily="34" charset="-122"/>
                <a:cs typeface="Calibri" pitchFamily="34" charset="-120"/>
              </a:rPr>
              <a:t>Naive-persistence + Holt-Winters as baselines</a:t>
            </a:r>
            <a:endParaRPr lang="en-US" sz="1100" dirty="0"/>
          </a:p>
          <a:p>
            <a:pPr marL="342900" indent="-342900">
              <a:lnSpc>
                <a:spcPct val="112000"/>
              </a:lnSpc>
              <a:spcAft>
                <a:spcPts val="900"/>
              </a:spcAft>
              <a:buSzPct val="100000"/>
              <a:buChar char="●"/>
            </a:pPr>
            <a:r>
              <a:rPr lang="en-US" sz="1100" dirty="0">
                <a:solidFill>
                  <a:srgbClr val="0D1B2A"/>
                </a:solidFill>
                <a:latin typeface="Calibri" pitchFamily="34" charset="0"/>
                <a:ea typeface="Calibri" pitchFamily="34" charset="-122"/>
                <a:cs typeface="Calibri" pitchFamily="34" charset="-120"/>
              </a:rPr>
              <a:t>Plus live testing on genuinely unseen future data</a:t>
            </a:r>
            <a:endParaRPr lang="en-US" sz="1100" dirty="0"/>
          </a:p>
        </p:txBody>
      </p:sp>
      <p:sp>
        <p:nvSpPr>
          <p:cNvPr id="21" name="Shape 19"/>
          <p:cNvSpPr/>
          <p:nvPr/>
        </p:nvSpPr>
        <p:spPr>
          <a:xfrm>
            <a:off x="8138160" y="2651760"/>
            <a:ext cx="3611880" cy="3429000"/>
          </a:xfrm>
          <a:prstGeom prst="roundRect">
            <a:avLst>
              <a:gd name="adj" fmla="val 2133"/>
            </a:avLst>
          </a:prstGeom>
          <a:solidFill>
            <a:srgbClr val="FFFFFF"/>
          </a:solidFill>
          <a:ln/>
          <a:effectLst>
            <a:outerShdw sx="100000" sy="100000" kx="0" ky="0" algn="bl" rotWithShape="0" blurRad="76200" dist="25400" dir="5400000">
              <a:srgbClr val="888888">
                <a:alpha val="20000"/>
              </a:srgbClr>
            </a:outerShdw>
          </a:effectLst>
        </p:spPr>
      </p:sp>
      <p:sp>
        <p:nvSpPr>
          <p:cNvPr id="22" name="Shape 20"/>
          <p:cNvSpPr/>
          <p:nvPr/>
        </p:nvSpPr>
        <p:spPr>
          <a:xfrm>
            <a:off x="8138160" y="2651760"/>
            <a:ext cx="3611880" cy="530352"/>
          </a:xfrm>
          <a:prstGeom prst="roundRect">
            <a:avLst>
              <a:gd name="adj" fmla="val 13793"/>
            </a:avLst>
          </a:prstGeom>
          <a:solidFill>
            <a:srgbClr val="F7931A"/>
          </a:solidFill>
          <a:ln/>
        </p:spPr>
      </p:sp>
      <p:sp>
        <p:nvSpPr>
          <p:cNvPr id="23" name="Text 21"/>
          <p:cNvSpPr/>
          <p:nvPr/>
        </p:nvSpPr>
        <p:spPr>
          <a:xfrm>
            <a:off x="8138160" y="2651760"/>
            <a:ext cx="3611880" cy="530352"/>
          </a:xfrm>
          <a:prstGeom prst="rect">
            <a:avLst/>
          </a:prstGeom>
          <a:noFill/>
          <a:ln/>
        </p:spPr>
        <p:txBody>
          <a:bodyPr wrap="square" rtlCol="0" anchor="ctr"/>
          <a:lstStyle/>
          <a:p>
            <a:pPr algn="ctr" indent="0" marL="0">
              <a:buNone/>
            </a:pPr>
            <a:r>
              <a:rPr lang="en-US" sz="1400" b="1" dirty="0">
                <a:solidFill>
                  <a:srgbClr val="0D1B2A"/>
                </a:solidFill>
                <a:latin typeface="Cambria" pitchFamily="34" charset="0"/>
                <a:ea typeface="Cambria" pitchFamily="34" charset="-122"/>
                <a:cs typeface="Cambria" pitchFamily="34" charset="-120"/>
              </a:rPr>
              <a:t>Models</a:t>
            </a:r>
            <a:endParaRPr lang="en-US" sz="1400" dirty="0"/>
          </a:p>
        </p:txBody>
      </p:sp>
      <p:sp>
        <p:nvSpPr>
          <p:cNvPr id="24" name="Text 22"/>
          <p:cNvSpPr/>
          <p:nvPr/>
        </p:nvSpPr>
        <p:spPr>
          <a:xfrm>
            <a:off x="8394192" y="3337560"/>
            <a:ext cx="3108960" cy="2651760"/>
          </a:xfrm>
          <a:prstGeom prst="rect">
            <a:avLst/>
          </a:prstGeom>
          <a:noFill/>
          <a:ln/>
        </p:spPr>
        <p:txBody>
          <a:bodyPr wrap="square" rtlCol="0" anchor="t"/>
          <a:lstStyle/>
          <a:p>
            <a:pPr marL="342900" indent="-342900">
              <a:lnSpc>
                <a:spcPct val="112000"/>
              </a:lnSpc>
              <a:spcAft>
                <a:spcPts val="900"/>
              </a:spcAft>
              <a:buSzPct val="100000"/>
              <a:buChar char="●"/>
            </a:pPr>
            <a:r>
              <a:rPr lang="en-US" sz="1100" dirty="0">
                <a:solidFill>
                  <a:srgbClr val="0D1B2A"/>
                </a:solidFill>
                <a:latin typeface="Calibri" pitchFamily="34" charset="0"/>
                <a:ea typeface="Calibri" pitchFamily="34" charset="-122"/>
                <a:cs typeface="Calibri" pitchFamily="34" charset="-120"/>
              </a:rPr>
              <a:t>GARCH(1,1) → EGARCH / GJR-GARCH</a:t>
            </a:r>
            <a:endParaRPr lang="en-US" sz="1100" dirty="0"/>
          </a:p>
          <a:p>
            <a:pPr marL="342900" indent="-342900">
              <a:lnSpc>
                <a:spcPct val="112000"/>
              </a:lnSpc>
              <a:spcAft>
                <a:spcPts val="900"/>
              </a:spcAft>
              <a:buSzPct val="100000"/>
              <a:buChar char="●"/>
            </a:pPr>
            <a:r>
              <a:rPr lang="en-US" sz="1100" dirty="0">
                <a:solidFill>
                  <a:srgbClr val="0D1B2A"/>
                </a:solidFill>
                <a:latin typeface="Calibri" pitchFamily="34" charset="0"/>
                <a:ea typeface="Calibri" pitchFamily="34" charset="-122"/>
                <a:cs typeface="Calibri" pitchFamily="34" charset="-120"/>
              </a:rPr>
              <a:t>HAR-RV → HAR-RV-X</a:t>
            </a:r>
            <a:endParaRPr lang="en-US" sz="1100" dirty="0"/>
          </a:p>
          <a:p>
            <a:pPr marL="342900" indent="-342900">
              <a:lnSpc>
                <a:spcPct val="112000"/>
              </a:lnSpc>
              <a:spcAft>
                <a:spcPts val="900"/>
              </a:spcAft>
              <a:buSzPct val="100000"/>
              <a:buChar char="●"/>
            </a:pPr>
            <a:r>
              <a:rPr lang="en-US" sz="1100" dirty="0">
                <a:solidFill>
                  <a:srgbClr val="0D1B2A"/>
                </a:solidFill>
                <a:latin typeface="Calibri" pitchFamily="34" charset="0"/>
                <a:ea typeface="Calibri" pitchFamily="34" charset="-122"/>
                <a:cs typeface="Calibri" pitchFamily="34" charset="-120"/>
              </a:rPr>
              <a:t>LSTM (baseline → tuned)</a:t>
            </a:r>
            <a:endParaRPr lang="en-US" sz="1100" dirty="0"/>
          </a:p>
          <a:p>
            <a:pPr marL="342900" indent="-342900">
              <a:lnSpc>
                <a:spcPct val="112000"/>
              </a:lnSpc>
              <a:spcAft>
                <a:spcPts val="900"/>
              </a:spcAft>
              <a:buSzPct val="100000"/>
              <a:buChar char="●"/>
            </a:pPr>
            <a:r>
              <a:rPr lang="en-US" sz="1100" dirty="0">
                <a:solidFill>
                  <a:srgbClr val="0D1B2A"/>
                </a:solidFill>
                <a:latin typeface="Calibri" pitchFamily="34" charset="0"/>
                <a:ea typeface="Calibri" pitchFamily="34" charset="-122"/>
                <a:cs typeface="Calibri" pitchFamily="34" charset="-120"/>
              </a:rPr>
              <a:t>Each: base version + improved version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10972800" y="365760"/>
            <a:ext cx="731520" cy="731520"/>
          </a:xfrm>
          <a:prstGeom prst="ellipse">
            <a:avLst/>
          </a:prstGeom>
          <a:solidFill>
            <a:srgbClr val="0D1B2A"/>
          </a:solidFill>
          <a:ln/>
        </p:spPr>
      </p:sp>
      <p:sp>
        <p:nvSpPr>
          <p:cNvPr id="3" name="Shape 1"/>
          <p:cNvSpPr/>
          <p:nvPr/>
        </p:nvSpPr>
        <p:spPr>
          <a:xfrm flipV="1">
            <a:off x="11133734" y="588142"/>
            <a:ext cx="122895" cy="204826"/>
          </a:xfrm>
          <a:prstGeom prst="line">
            <a:avLst/>
          </a:prstGeom>
          <a:noFill/>
          <a:ln w="25400">
            <a:solidFill>
              <a:srgbClr val="F7931A"/>
            </a:solidFill>
            <a:prstDash val="solid"/>
          </a:ln>
        </p:spPr>
      </p:sp>
      <p:sp>
        <p:nvSpPr>
          <p:cNvPr id="4" name="Shape 2"/>
          <p:cNvSpPr/>
          <p:nvPr/>
        </p:nvSpPr>
        <p:spPr>
          <a:xfrm>
            <a:off x="11256630" y="588142"/>
            <a:ext cx="81930" cy="245791"/>
          </a:xfrm>
          <a:prstGeom prst="line">
            <a:avLst/>
          </a:prstGeom>
          <a:noFill/>
          <a:ln w="25400">
            <a:solidFill>
              <a:srgbClr val="F7931A"/>
            </a:solidFill>
            <a:prstDash val="solid"/>
          </a:ln>
        </p:spPr>
      </p:sp>
      <p:sp>
        <p:nvSpPr>
          <p:cNvPr id="5" name="Shape 3"/>
          <p:cNvSpPr/>
          <p:nvPr/>
        </p:nvSpPr>
        <p:spPr>
          <a:xfrm flipV="1">
            <a:off x="11338560" y="526694"/>
            <a:ext cx="102413" cy="307238"/>
          </a:xfrm>
          <a:prstGeom prst="line">
            <a:avLst/>
          </a:prstGeom>
          <a:noFill/>
          <a:ln w="25400">
            <a:solidFill>
              <a:srgbClr val="F7931A"/>
            </a:solidFill>
            <a:prstDash val="solid"/>
          </a:ln>
        </p:spPr>
      </p:sp>
      <p:sp>
        <p:nvSpPr>
          <p:cNvPr id="6" name="Shape 4"/>
          <p:cNvSpPr/>
          <p:nvPr/>
        </p:nvSpPr>
        <p:spPr>
          <a:xfrm>
            <a:off x="11440973" y="526694"/>
            <a:ext cx="102413" cy="184343"/>
          </a:xfrm>
          <a:prstGeom prst="line">
            <a:avLst/>
          </a:prstGeom>
          <a:noFill/>
          <a:ln w="25400">
            <a:solidFill>
              <a:srgbClr val="F7931A"/>
            </a:solidFill>
            <a:prstDash val="solid"/>
          </a:ln>
        </p:spPr>
      </p:sp>
      <p:sp>
        <p:nvSpPr>
          <p:cNvPr id="7" name="Text 5"/>
          <p:cNvSpPr/>
          <p:nvPr/>
        </p:nvSpPr>
        <p:spPr>
          <a:xfrm>
            <a:off x="548640" y="365760"/>
            <a:ext cx="10058400" cy="640080"/>
          </a:xfrm>
          <a:prstGeom prst="rect">
            <a:avLst/>
          </a:prstGeom>
          <a:noFill/>
          <a:ln/>
        </p:spPr>
        <p:txBody>
          <a:bodyPr wrap="square" rtlCol="0" anchor="ctr"/>
          <a:lstStyle/>
          <a:p>
            <a:pPr indent="0" marL="0">
              <a:buNone/>
            </a:pPr>
            <a:r>
              <a:rPr lang="en-US" sz="3000" b="1" dirty="0">
                <a:solidFill>
                  <a:srgbClr val="0D1B2A"/>
                </a:solidFill>
                <a:latin typeface="Cambria" pitchFamily="34" charset="0"/>
                <a:ea typeface="Cambria" pitchFamily="34" charset="-122"/>
                <a:cs typeface="Cambria" pitchFamily="34" charset="-120"/>
              </a:rPr>
              <a:t>Model 1 — GARCH Family</a:t>
            </a:r>
            <a:endParaRPr lang="en-US" sz="3000" dirty="0"/>
          </a:p>
        </p:txBody>
      </p:sp>
      <p:sp>
        <p:nvSpPr>
          <p:cNvPr id="8" name="Text 6"/>
          <p:cNvSpPr/>
          <p:nvPr/>
        </p:nvSpPr>
        <p:spPr>
          <a:xfrm>
            <a:off x="548640" y="932688"/>
            <a:ext cx="10515600" cy="365760"/>
          </a:xfrm>
          <a:prstGeom prst="rect">
            <a:avLst/>
          </a:prstGeom>
          <a:noFill/>
          <a:ln/>
        </p:spPr>
        <p:txBody>
          <a:bodyPr wrap="square" rtlCol="0" anchor="ctr"/>
          <a:lstStyle/>
          <a:p>
            <a:pPr indent="0" marL="0">
              <a:buNone/>
            </a:pPr>
            <a:r>
              <a:rPr lang="en-US" sz="1400" i="1" dirty="0">
                <a:solidFill>
                  <a:srgbClr val="5C6B7A"/>
                </a:solidFill>
                <a:latin typeface="Calibri" pitchFamily="34" charset="0"/>
                <a:ea typeface="Calibri" pitchFamily="34" charset="-122"/>
                <a:cs typeface="Calibri" pitchFamily="34" charset="-120"/>
              </a:rPr>
              <a:t>Best version: EGARCH / GJR-GARCH, selected by AIC</a:t>
            </a:r>
            <a:endParaRPr lang="en-US" sz="1400" dirty="0"/>
          </a:p>
        </p:txBody>
      </p:sp>
      <p:sp>
        <p:nvSpPr>
          <p:cNvPr id="9" name="Text 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C6B7A"/>
                </a:solidFill>
                <a:latin typeface="Calibri" pitchFamily="34" charset="0"/>
                <a:ea typeface="Calibri" pitchFamily="34" charset="-122"/>
                <a:cs typeface="Calibri" pitchFamily="34" charset="-120"/>
              </a:rPr>
              <a:t>BTC Volatility Prediction  |  Capstone</a:t>
            </a:r>
            <a:endParaRPr lang="en-US" sz="900" dirty="0"/>
          </a:p>
        </p:txBody>
      </p:sp>
      <p:sp>
        <p:nvSpPr>
          <p:cNvPr id="10" name="Text 8"/>
          <p:cNvSpPr/>
          <p:nvPr/>
        </p:nvSpPr>
        <p:spPr>
          <a:xfrm>
            <a:off x="11521440" y="6537960"/>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7</a:t>
            </a:r>
            <a:endParaRPr lang="en-US" sz="900" dirty="0"/>
          </a:p>
        </p:txBody>
      </p:sp>
      <p:sp>
        <p:nvSpPr>
          <p:cNvPr id="11" name="Shape 9"/>
          <p:cNvSpPr/>
          <p:nvPr/>
        </p:nvSpPr>
        <p:spPr>
          <a:xfrm>
            <a:off x="548640" y="1508760"/>
            <a:ext cx="5486400" cy="1207008"/>
          </a:xfrm>
          <a:prstGeom prst="roundRect">
            <a:avLst>
              <a:gd name="adj" fmla="val 4545"/>
            </a:avLst>
          </a:prstGeom>
          <a:solidFill>
            <a:srgbClr val="FFFFFF"/>
          </a:solidFill>
          <a:ln w="12700">
            <a:solidFill>
              <a:srgbClr val="CADCFC"/>
            </a:solidFill>
            <a:prstDash val="solid"/>
          </a:ln>
        </p:spPr>
      </p:sp>
      <p:sp>
        <p:nvSpPr>
          <p:cNvPr id="12" name="Text 10"/>
          <p:cNvSpPr/>
          <p:nvPr/>
        </p:nvSpPr>
        <p:spPr>
          <a:xfrm>
            <a:off x="777240" y="1600200"/>
            <a:ext cx="5029200" cy="292608"/>
          </a:xfrm>
          <a:prstGeom prst="rect">
            <a:avLst/>
          </a:prstGeom>
          <a:noFill/>
          <a:ln/>
        </p:spPr>
        <p:txBody>
          <a:bodyPr wrap="square" rtlCol="0" anchor="ctr"/>
          <a:lstStyle/>
          <a:p>
            <a:pPr indent="0" marL="0">
              <a:buNone/>
            </a:pPr>
            <a:r>
              <a:rPr lang="en-US" sz="1300" b="1" dirty="0">
                <a:solidFill>
                  <a:srgbClr val="1B4965"/>
                </a:solidFill>
                <a:latin typeface="Cambria" pitchFamily="34" charset="0"/>
                <a:ea typeface="Cambria" pitchFamily="34" charset="-122"/>
                <a:cs typeface="Cambria" pitchFamily="34" charset="-120"/>
              </a:rPr>
              <a:t>Base version: GARCH(1,1)</a:t>
            </a:r>
            <a:endParaRPr lang="en-US" sz="1300" dirty="0"/>
          </a:p>
        </p:txBody>
      </p:sp>
      <p:sp>
        <p:nvSpPr>
          <p:cNvPr id="13" name="Text 11"/>
          <p:cNvSpPr/>
          <p:nvPr/>
        </p:nvSpPr>
        <p:spPr>
          <a:xfrm>
            <a:off x="777240" y="1892808"/>
            <a:ext cx="5029200" cy="749808"/>
          </a:xfrm>
          <a:prstGeom prst="rect">
            <a:avLst/>
          </a:prstGeom>
          <a:noFill/>
          <a:ln/>
        </p:spPr>
        <p:txBody>
          <a:bodyPr wrap="square" rtlCol="0" anchor="t"/>
          <a:lstStyle/>
          <a:p>
            <a:pPr indent="0" marL="0">
              <a:lnSpc>
                <a:spcPct val="110000"/>
              </a:lnSpc>
              <a:buNone/>
            </a:pPr>
            <a:r>
              <a:rPr lang="en-US" sz="1150" dirty="0">
                <a:solidFill>
                  <a:srgbClr val="0D1B2A"/>
                </a:solidFill>
                <a:latin typeface="Calibri" pitchFamily="34" charset="0"/>
                <a:ea typeface="Calibri" pitchFamily="34" charset="-122"/>
                <a:cs typeface="Calibri" pitchFamily="34" charset="-120"/>
              </a:rPr>
              <a:t>σ²ₜ = ω + α·ε²ₜ₋₁ + β·σ²ₜ₋₁  —  today's variance = baseline + reaction to yesterday's shock + persistence. Three parameters, fit by maximum likelihood.</a:t>
            </a:r>
            <a:endParaRPr lang="en-US" sz="1150" dirty="0"/>
          </a:p>
        </p:txBody>
      </p:sp>
      <p:sp>
        <p:nvSpPr>
          <p:cNvPr id="14" name="Shape 12"/>
          <p:cNvSpPr/>
          <p:nvPr/>
        </p:nvSpPr>
        <p:spPr>
          <a:xfrm>
            <a:off x="548640" y="2834640"/>
            <a:ext cx="5486400" cy="1207008"/>
          </a:xfrm>
          <a:prstGeom prst="roundRect">
            <a:avLst>
              <a:gd name="adj" fmla="val 4545"/>
            </a:avLst>
          </a:prstGeom>
          <a:solidFill>
            <a:srgbClr val="FFFFFF"/>
          </a:solidFill>
          <a:ln w="12700">
            <a:solidFill>
              <a:srgbClr val="CADCFC"/>
            </a:solidFill>
            <a:prstDash val="solid"/>
          </a:ln>
        </p:spPr>
      </p:sp>
      <p:sp>
        <p:nvSpPr>
          <p:cNvPr id="15" name="Text 13"/>
          <p:cNvSpPr/>
          <p:nvPr/>
        </p:nvSpPr>
        <p:spPr>
          <a:xfrm>
            <a:off x="777240" y="2926080"/>
            <a:ext cx="5029200" cy="292608"/>
          </a:xfrm>
          <a:prstGeom prst="rect">
            <a:avLst/>
          </a:prstGeom>
          <a:noFill/>
          <a:ln/>
        </p:spPr>
        <p:txBody>
          <a:bodyPr wrap="square" rtlCol="0" anchor="ctr"/>
          <a:lstStyle/>
          <a:p>
            <a:pPr indent="0" marL="0">
              <a:buNone/>
            </a:pPr>
            <a:r>
              <a:rPr lang="en-US" sz="1300" b="1" dirty="0">
                <a:solidFill>
                  <a:srgbClr val="1B4965"/>
                </a:solidFill>
                <a:latin typeface="Cambria" pitchFamily="34" charset="0"/>
                <a:ea typeface="Cambria" pitchFamily="34" charset="-122"/>
                <a:cs typeface="Cambria" pitchFamily="34" charset="-120"/>
              </a:rPr>
              <a:t>Improvement: asymmetry</a:t>
            </a:r>
            <a:endParaRPr lang="en-US" sz="1300" dirty="0"/>
          </a:p>
        </p:txBody>
      </p:sp>
      <p:sp>
        <p:nvSpPr>
          <p:cNvPr id="16" name="Text 14"/>
          <p:cNvSpPr/>
          <p:nvPr/>
        </p:nvSpPr>
        <p:spPr>
          <a:xfrm>
            <a:off x="777240" y="3218688"/>
            <a:ext cx="5029200" cy="749808"/>
          </a:xfrm>
          <a:prstGeom prst="rect">
            <a:avLst/>
          </a:prstGeom>
          <a:noFill/>
          <a:ln/>
        </p:spPr>
        <p:txBody>
          <a:bodyPr wrap="square" rtlCol="0" anchor="t"/>
          <a:lstStyle/>
          <a:p>
            <a:pPr indent="0" marL="0">
              <a:lnSpc>
                <a:spcPct val="110000"/>
              </a:lnSpc>
              <a:buNone/>
            </a:pPr>
            <a:r>
              <a:rPr lang="en-US" sz="1150" dirty="0">
                <a:solidFill>
                  <a:srgbClr val="0D1B2A"/>
                </a:solidFill>
                <a:latin typeface="Calibri" pitchFamily="34" charset="0"/>
                <a:ea typeface="Calibri" pitchFamily="34" charset="-122"/>
                <a:cs typeface="Calibri" pitchFamily="34" charset="-120"/>
              </a:rPr>
              <a:t>Plain GARCH treats −5% and +5% moves identically (shock enters squared). EGARCH and GJR add a leverage term so bad news raises volatility more than good news. This is an equation change, not a wider grid search.</a:t>
            </a:r>
            <a:endParaRPr lang="en-US" sz="1150" dirty="0"/>
          </a:p>
        </p:txBody>
      </p:sp>
      <p:sp>
        <p:nvSpPr>
          <p:cNvPr id="17" name="Shape 15"/>
          <p:cNvSpPr/>
          <p:nvPr/>
        </p:nvSpPr>
        <p:spPr>
          <a:xfrm>
            <a:off x="548640" y="4160520"/>
            <a:ext cx="5486400" cy="1207008"/>
          </a:xfrm>
          <a:prstGeom prst="roundRect">
            <a:avLst>
              <a:gd name="adj" fmla="val 4545"/>
            </a:avLst>
          </a:prstGeom>
          <a:solidFill>
            <a:srgbClr val="FFFFFF"/>
          </a:solidFill>
          <a:ln w="12700">
            <a:solidFill>
              <a:srgbClr val="CADCFC"/>
            </a:solidFill>
            <a:prstDash val="solid"/>
          </a:ln>
        </p:spPr>
      </p:sp>
      <p:sp>
        <p:nvSpPr>
          <p:cNvPr id="18" name="Text 16"/>
          <p:cNvSpPr/>
          <p:nvPr/>
        </p:nvSpPr>
        <p:spPr>
          <a:xfrm>
            <a:off x="777240" y="4251960"/>
            <a:ext cx="5029200" cy="292608"/>
          </a:xfrm>
          <a:prstGeom prst="rect">
            <a:avLst/>
          </a:prstGeom>
          <a:noFill/>
          <a:ln/>
        </p:spPr>
        <p:txBody>
          <a:bodyPr wrap="square" rtlCol="0" anchor="ctr"/>
          <a:lstStyle/>
          <a:p>
            <a:pPr indent="0" marL="0">
              <a:buNone/>
            </a:pPr>
            <a:r>
              <a:rPr lang="en-US" sz="1300" b="1" dirty="0">
                <a:solidFill>
                  <a:srgbClr val="1B4965"/>
                </a:solidFill>
                <a:latin typeface="Cambria" pitchFamily="34" charset="0"/>
                <a:ea typeface="Cambria" pitchFamily="34" charset="-122"/>
                <a:cs typeface="Cambria" pitchFamily="34" charset="-120"/>
              </a:rPr>
              <a:t>How it was selected</a:t>
            </a:r>
            <a:endParaRPr lang="en-US" sz="1300" dirty="0"/>
          </a:p>
        </p:txBody>
      </p:sp>
      <p:sp>
        <p:nvSpPr>
          <p:cNvPr id="19" name="Text 17"/>
          <p:cNvSpPr/>
          <p:nvPr/>
        </p:nvSpPr>
        <p:spPr>
          <a:xfrm>
            <a:off x="777240" y="4544568"/>
            <a:ext cx="5029200" cy="749808"/>
          </a:xfrm>
          <a:prstGeom prst="rect">
            <a:avLst/>
          </a:prstGeom>
          <a:noFill/>
          <a:ln/>
        </p:spPr>
        <p:txBody>
          <a:bodyPr wrap="square" rtlCol="0" anchor="t"/>
          <a:lstStyle/>
          <a:p>
            <a:pPr indent="0" marL="0">
              <a:lnSpc>
                <a:spcPct val="110000"/>
              </a:lnSpc>
              <a:buNone/>
            </a:pPr>
            <a:r>
              <a:rPr lang="en-US" sz="1150" dirty="0">
                <a:solidFill>
                  <a:srgbClr val="0D1B2A"/>
                </a:solidFill>
                <a:latin typeface="Calibri" pitchFamily="34" charset="0"/>
                <a:ea typeface="Calibri" pitchFamily="34" charset="-122"/>
                <a:cs typeface="Calibri" pitchFamily="34" charset="-120"/>
              </a:rPr>
              <a:t>Four specifications scanned (EGARCH/GJR × normal/Student-t errors), chosen by lowest AIC — the right criterion for maximum-likelihood models, where a validation loss doesn't apply.</a:t>
            </a:r>
            <a:endParaRPr lang="en-US" sz="1150" dirty="0"/>
          </a:p>
        </p:txBody>
      </p:sp>
      <p:sp>
        <p:nvSpPr>
          <p:cNvPr id="20" name="Text 18"/>
          <p:cNvSpPr/>
          <p:nvPr/>
        </p:nvSpPr>
        <p:spPr>
          <a:xfrm>
            <a:off x="6309360" y="1508760"/>
            <a:ext cx="5303520" cy="320040"/>
          </a:xfrm>
          <a:prstGeom prst="rect">
            <a:avLst/>
          </a:prstGeom>
          <a:noFill/>
          <a:ln/>
        </p:spPr>
        <p:txBody>
          <a:bodyPr wrap="square" rtlCol="0" anchor="ctr"/>
          <a:lstStyle/>
          <a:p>
            <a:pPr indent="0" marL="0">
              <a:buNone/>
            </a:pPr>
            <a:r>
              <a:rPr lang="en-US" sz="1400" b="1" dirty="0">
                <a:solidFill>
                  <a:srgbClr val="0D1B2A"/>
                </a:solidFill>
                <a:latin typeface="Cambria" pitchFamily="34" charset="0"/>
                <a:ea typeface="Cambria" pitchFamily="34" charset="-122"/>
                <a:cs typeface="Cambria" pitchFamily="34" charset="-120"/>
              </a:rPr>
              <a:t>Performance vs. Base Version</a:t>
            </a:r>
            <a:endParaRPr lang="en-US" sz="1400" dirty="0"/>
          </a:p>
        </p:txBody>
      </p:sp>
      <p:sp>
        <p:nvSpPr>
          <p:cNvPr id="21" name="Shape 19"/>
          <p:cNvSpPr/>
          <p:nvPr/>
        </p:nvSpPr>
        <p:spPr>
          <a:xfrm>
            <a:off x="6309360" y="1901952"/>
            <a:ext cx="2286000" cy="384048"/>
          </a:xfrm>
          <a:prstGeom prst="rect">
            <a:avLst/>
          </a:prstGeom>
          <a:solidFill>
            <a:srgbClr val="0D1B2A"/>
          </a:solidFill>
          <a:ln w="12700">
            <a:solidFill>
              <a:srgbClr val="F7F8FA"/>
            </a:solidFill>
            <a:prstDash val="solid"/>
          </a:ln>
        </p:spPr>
      </p:sp>
      <p:sp>
        <p:nvSpPr>
          <p:cNvPr id="22" name="Text 20"/>
          <p:cNvSpPr/>
          <p:nvPr/>
        </p:nvSpPr>
        <p:spPr>
          <a:xfrm>
            <a:off x="6309360" y="1901952"/>
            <a:ext cx="2286000" cy="384048"/>
          </a:xfrm>
          <a:prstGeom prst="rect">
            <a:avLst/>
          </a:prstGeom>
          <a:noFill/>
          <a:ln/>
        </p:spPr>
        <p:txBody>
          <a:bodyPr wrap="square" rtlCol="0" anchor="ctr"/>
          <a:lstStyle/>
          <a:p>
            <a:pPr algn="ctr" indent="0" marL="0">
              <a:buNone/>
            </a:pPr>
            <a:r>
              <a:rPr lang="en-US" sz="1100" b="1" dirty="0">
                <a:solidFill>
                  <a:srgbClr val="F7931A"/>
                </a:solidFill>
                <a:latin typeface="Calibri" pitchFamily="34" charset="0"/>
                <a:ea typeface="Calibri" pitchFamily="34" charset="-122"/>
                <a:cs typeface="Calibri" pitchFamily="34" charset="-120"/>
              </a:rPr>
              <a:t>Version</a:t>
            </a:r>
            <a:endParaRPr lang="en-US" sz="1100" dirty="0"/>
          </a:p>
        </p:txBody>
      </p:sp>
      <p:sp>
        <p:nvSpPr>
          <p:cNvPr id="23" name="Shape 21"/>
          <p:cNvSpPr/>
          <p:nvPr/>
        </p:nvSpPr>
        <p:spPr>
          <a:xfrm>
            <a:off x="8595360" y="1901952"/>
            <a:ext cx="1051560" cy="384048"/>
          </a:xfrm>
          <a:prstGeom prst="rect">
            <a:avLst/>
          </a:prstGeom>
          <a:solidFill>
            <a:srgbClr val="0D1B2A"/>
          </a:solidFill>
          <a:ln w="12700">
            <a:solidFill>
              <a:srgbClr val="F7F8FA"/>
            </a:solidFill>
            <a:prstDash val="solid"/>
          </a:ln>
        </p:spPr>
      </p:sp>
      <p:sp>
        <p:nvSpPr>
          <p:cNvPr id="24" name="Text 22"/>
          <p:cNvSpPr/>
          <p:nvPr/>
        </p:nvSpPr>
        <p:spPr>
          <a:xfrm>
            <a:off x="8595360" y="1901952"/>
            <a:ext cx="1051560" cy="384048"/>
          </a:xfrm>
          <a:prstGeom prst="rect">
            <a:avLst/>
          </a:prstGeom>
          <a:noFill/>
          <a:ln/>
        </p:spPr>
        <p:txBody>
          <a:bodyPr wrap="square" rtlCol="0" anchor="ctr"/>
          <a:lstStyle/>
          <a:p>
            <a:pPr algn="ctr" indent="0" marL="0">
              <a:buNone/>
            </a:pPr>
            <a:r>
              <a:rPr lang="en-US" sz="1100" b="1" dirty="0">
                <a:solidFill>
                  <a:srgbClr val="F7931A"/>
                </a:solidFill>
                <a:latin typeface="Calibri" pitchFamily="34" charset="0"/>
                <a:ea typeface="Calibri" pitchFamily="34" charset="-122"/>
                <a:cs typeface="Calibri" pitchFamily="34" charset="-120"/>
              </a:rPr>
              <a:t>RMSE</a:t>
            </a:r>
            <a:endParaRPr lang="en-US" sz="1100" dirty="0"/>
          </a:p>
        </p:txBody>
      </p:sp>
      <p:sp>
        <p:nvSpPr>
          <p:cNvPr id="25" name="Shape 23"/>
          <p:cNvSpPr/>
          <p:nvPr/>
        </p:nvSpPr>
        <p:spPr>
          <a:xfrm>
            <a:off x="9646920" y="1901952"/>
            <a:ext cx="960120" cy="384048"/>
          </a:xfrm>
          <a:prstGeom prst="rect">
            <a:avLst/>
          </a:prstGeom>
          <a:solidFill>
            <a:srgbClr val="0D1B2A"/>
          </a:solidFill>
          <a:ln w="12700">
            <a:solidFill>
              <a:srgbClr val="F7F8FA"/>
            </a:solidFill>
            <a:prstDash val="solid"/>
          </a:ln>
        </p:spPr>
      </p:sp>
      <p:sp>
        <p:nvSpPr>
          <p:cNvPr id="26" name="Text 24"/>
          <p:cNvSpPr/>
          <p:nvPr/>
        </p:nvSpPr>
        <p:spPr>
          <a:xfrm>
            <a:off x="9646920" y="1901952"/>
            <a:ext cx="960120" cy="384048"/>
          </a:xfrm>
          <a:prstGeom prst="rect">
            <a:avLst/>
          </a:prstGeom>
          <a:noFill/>
          <a:ln/>
        </p:spPr>
        <p:txBody>
          <a:bodyPr wrap="square" rtlCol="0" anchor="ctr"/>
          <a:lstStyle/>
          <a:p>
            <a:pPr algn="ctr" indent="0" marL="0">
              <a:buNone/>
            </a:pPr>
            <a:r>
              <a:rPr lang="en-US" sz="1100" b="1" dirty="0">
                <a:solidFill>
                  <a:srgbClr val="F7931A"/>
                </a:solidFill>
                <a:latin typeface="Calibri" pitchFamily="34" charset="0"/>
                <a:ea typeface="Calibri" pitchFamily="34" charset="-122"/>
                <a:cs typeface="Calibri" pitchFamily="34" charset="-120"/>
              </a:rPr>
              <a:t>MAE</a:t>
            </a:r>
            <a:endParaRPr lang="en-US" sz="1100" dirty="0"/>
          </a:p>
        </p:txBody>
      </p:sp>
      <p:sp>
        <p:nvSpPr>
          <p:cNvPr id="27" name="Shape 25"/>
          <p:cNvSpPr/>
          <p:nvPr/>
        </p:nvSpPr>
        <p:spPr>
          <a:xfrm>
            <a:off x="10607040" y="1901952"/>
            <a:ext cx="1005840" cy="384048"/>
          </a:xfrm>
          <a:prstGeom prst="rect">
            <a:avLst/>
          </a:prstGeom>
          <a:solidFill>
            <a:srgbClr val="0D1B2A"/>
          </a:solidFill>
          <a:ln w="12700">
            <a:solidFill>
              <a:srgbClr val="F7F8FA"/>
            </a:solidFill>
            <a:prstDash val="solid"/>
          </a:ln>
        </p:spPr>
      </p:sp>
      <p:sp>
        <p:nvSpPr>
          <p:cNvPr id="28" name="Text 26"/>
          <p:cNvSpPr/>
          <p:nvPr/>
        </p:nvSpPr>
        <p:spPr>
          <a:xfrm>
            <a:off x="10607040" y="1901952"/>
            <a:ext cx="1005840" cy="384048"/>
          </a:xfrm>
          <a:prstGeom prst="rect">
            <a:avLst/>
          </a:prstGeom>
          <a:noFill/>
          <a:ln/>
        </p:spPr>
        <p:txBody>
          <a:bodyPr wrap="square" rtlCol="0" anchor="ctr"/>
          <a:lstStyle/>
          <a:p>
            <a:pPr algn="ctr" indent="0" marL="0">
              <a:buNone/>
            </a:pPr>
            <a:r>
              <a:rPr lang="en-US" sz="1100" b="1" dirty="0">
                <a:solidFill>
                  <a:srgbClr val="F7931A"/>
                </a:solidFill>
                <a:latin typeface="Calibri" pitchFamily="34" charset="0"/>
                <a:ea typeface="Calibri" pitchFamily="34" charset="-122"/>
                <a:cs typeface="Calibri" pitchFamily="34" charset="-120"/>
              </a:rPr>
              <a:t>R²</a:t>
            </a:r>
            <a:endParaRPr lang="en-US" sz="1100" dirty="0"/>
          </a:p>
        </p:txBody>
      </p:sp>
      <p:sp>
        <p:nvSpPr>
          <p:cNvPr id="29" name="Shape 27"/>
          <p:cNvSpPr/>
          <p:nvPr/>
        </p:nvSpPr>
        <p:spPr>
          <a:xfrm>
            <a:off x="6309360" y="2286000"/>
            <a:ext cx="2286000" cy="411480"/>
          </a:xfrm>
          <a:prstGeom prst="rect">
            <a:avLst/>
          </a:prstGeom>
          <a:solidFill>
            <a:srgbClr val="FFFFFF"/>
          </a:solidFill>
          <a:ln w="12700">
            <a:solidFill>
              <a:srgbClr val="CADCFC"/>
            </a:solidFill>
            <a:prstDash val="solid"/>
          </a:ln>
        </p:spPr>
      </p:sp>
      <p:sp>
        <p:nvSpPr>
          <p:cNvPr id="30" name="Text 28"/>
          <p:cNvSpPr/>
          <p:nvPr/>
        </p:nvSpPr>
        <p:spPr>
          <a:xfrm>
            <a:off x="6309360" y="2286000"/>
            <a:ext cx="2286000" cy="411480"/>
          </a:xfrm>
          <a:prstGeom prst="rect">
            <a:avLst/>
          </a:prstGeom>
          <a:noFill/>
          <a:ln/>
        </p:spPr>
        <p:txBody>
          <a:bodyPr wrap="square" lIns="73152" tIns="73152" rIns="73152" bIns="73152" rtlCol="0" anchor="ctr"/>
          <a:lstStyle/>
          <a:p>
            <a:pPr algn="l" indent="0" marL="0">
              <a:buNone/>
            </a:pPr>
            <a:r>
              <a:rPr lang="en-US" sz="1050" b="1" dirty="0">
                <a:solidFill>
                  <a:srgbClr val="0D1B2A"/>
                </a:solidFill>
                <a:latin typeface="Calibri" pitchFamily="34" charset="0"/>
                <a:ea typeface="Calibri" pitchFamily="34" charset="-122"/>
                <a:cs typeface="Calibri" pitchFamily="34" charset="-120"/>
              </a:rPr>
              <a:t>GARCH(1,1) — base</a:t>
            </a:r>
            <a:endParaRPr lang="en-US" sz="1050" dirty="0"/>
          </a:p>
        </p:txBody>
      </p:sp>
      <p:sp>
        <p:nvSpPr>
          <p:cNvPr id="31" name="Shape 29"/>
          <p:cNvSpPr/>
          <p:nvPr/>
        </p:nvSpPr>
        <p:spPr>
          <a:xfrm>
            <a:off x="8595360" y="2286000"/>
            <a:ext cx="1051560" cy="411480"/>
          </a:xfrm>
          <a:prstGeom prst="rect">
            <a:avLst/>
          </a:prstGeom>
          <a:solidFill>
            <a:srgbClr val="FFFFFF"/>
          </a:solidFill>
          <a:ln w="12700">
            <a:solidFill>
              <a:srgbClr val="CADCFC"/>
            </a:solidFill>
            <a:prstDash val="solid"/>
          </a:ln>
        </p:spPr>
      </p:sp>
      <p:sp>
        <p:nvSpPr>
          <p:cNvPr id="32" name="Text 30"/>
          <p:cNvSpPr/>
          <p:nvPr/>
        </p:nvSpPr>
        <p:spPr>
          <a:xfrm>
            <a:off x="8595360" y="2286000"/>
            <a:ext cx="105156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33" name="Shape 31"/>
          <p:cNvSpPr/>
          <p:nvPr/>
        </p:nvSpPr>
        <p:spPr>
          <a:xfrm>
            <a:off x="9646920" y="2286000"/>
            <a:ext cx="960120" cy="411480"/>
          </a:xfrm>
          <a:prstGeom prst="rect">
            <a:avLst/>
          </a:prstGeom>
          <a:solidFill>
            <a:srgbClr val="FFFFFF"/>
          </a:solidFill>
          <a:ln w="12700">
            <a:solidFill>
              <a:srgbClr val="CADCFC"/>
            </a:solidFill>
            <a:prstDash val="solid"/>
          </a:ln>
        </p:spPr>
      </p:sp>
      <p:sp>
        <p:nvSpPr>
          <p:cNvPr id="34" name="Text 32"/>
          <p:cNvSpPr/>
          <p:nvPr/>
        </p:nvSpPr>
        <p:spPr>
          <a:xfrm>
            <a:off x="9646920" y="2286000"/>
            <a:ext cx="96012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35" name="Shape 33"/>
          <p:cNvSpPr/>
          <p:nvPr/>
        </p:nvSpPr>
        <p:spPr>
          <a:xfrm>
            <a:off x="10607040" y="2286000"/>
            <a:ext cx="1005840" cy="411480"/>
          </a:xfrm>
          <a:prstGeom prst="rect">
            <a:avLst/>
          </a:prstGeom>
          <a:solidFill>
            <a:srgbClr val="FFFFFF"/>
          </a:solidFill>
          <a:ln w="12700">
            <a:solidFill>
              <a:srgbClr val="CADCFC"/>
            </a:solidFill>
            <a:prstDash val="solid"/>
          </a:ln>
        </p:spPr>
      </p:sp>
      <p:sp>
        <p:nvSpPr>
          <p:cNvPr id="36" name="Text 34"/>
          <p:cNvSpPr/>
          <p:nvPr/>
        </p:nvSpPr>
        <p:spPr>
          <a:xfrm>
            <a:off x="10607040" y="2286000"/>
            <a:ext cx="100584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37" name="Shape 35"/>
          <p:cNvSpPr/>
          <p:nvPr/>
        </p:nvSpPr>
        <p:spPr>
          <a:xfrm>
            <a:off x="6309360" y="2697480"/>
            <a:ext cx="2286000" cy="411480"/>
          </a:xfrm>
          <a:prstGeom prst="rect">
            <a:avLst/>
          </a:prstGeom>
          <a:solidFill>
            <a:srgbClr val="EEF1F5"/>
          </a:solidFill>
          <a:ln w="12700">
            <a:solidFill>
              <a:srgbClr val="CADCFC"/>
            </a:solidFill>
            <a:prstDash val="solid"/>
          </a:ln>
        </p:spPr>
      </p:sp>
      <p:sp>
        <p:nvSpPr>
          <p:cNvPr id="38" name="Text 36"/>
          <p:cNvSpPr/>
          <p:nvPr/>
        </p:nvSpPr>
        <p:spPr>
          <a:xfrm>
            <a:off x="6309360" y="2697480"/>
            <a:ext cx="2286000" cy="411480"/>
          </a:xfrm>
          <a:prstGeom prst="rect">
            <a:avLst/>
          </a:prstGeom>
          <a:noFill/>
          <a:ln/>
        </p:spPr>
        <p:txBody>
          <a:bodyPr wrap="square" lIns="73152" tIns="73152" rIns="73152" bIns="73152" rtlCol="0" anchor="ctr"/>
          <a:lstStyle/>
          <a:p>
            <a:pPr algn="l" indent="0" marL="0">
              <a:buNone/>
            </a:pPr>
            <a:r>
              <a:rPr lang="en-US" sz="1050" b="1" dirty="0">
                <a:solidFill>
                  <a:srgbClr val="0D1B2A"/>
                </a:solidFill>
                <a:latin typeface="Calibri" pitchFamily="34" charset="0"/>
                <a:ea typeface="Calibri" pitchFamily="34" charset="-122"/>
                <a:cs typeface="Calibri" pitchFamily="34" charset="-120"/>
              </a:rPr>
              <a:t>EGARCH / GJR — best</a:t>
            </a:r>
            <a:endParaRPr lang="en-US" sz="1050" dirty="0"/>
          </a:p>
        </p:txBody>
      </p:sp>
      <p:sp>
        <p:nvSpPr>
          <p:cNvPr id="39" name="Shape 37"/>
          <p:cNvSpPr/>
          <p:nvPr/>
        </p:nvSpPr>
        <p:spPr>
          <a:xfrm>
            <a:off x="8595360" y="2697480"/>
            <a:ext cx="1051560" cy="411480"/>
          </a:xfrm>
          <a:prstGeom prst="rect">
            <a:avLst/>
          </a:prstGeom>
          <a:solidFill>
            <a:srgbClr val="EEF1F5"/>
          </a:solidFill>
          <a:ln w="12700">
            <a:solidFill>
              <a:srgbClr val="CADCFC"/>
            </a:solidFill>
            <a:prstDash val="solid"/>
          </a:ln>
        </p:spPr>
      </p:sp>
      <p:sp>
        <p:nvSpPr>
          <p:cNvPr id="40" name="Text 38"/>
          <p:cNvSpPr/>
          <p:nvPr/>
        </p:nvSpPr>
        <p:spPr>
          <a:xfrm>
            <a:off x="8595360" y="2697480"/>
            <a:ext cx="105156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41" name="Shape 39"/>
          <p:cNvSpPr/>
          <p:nvPr/>
        </p:nvSpPr>
        <p:spPr>
          <a:xfrm>
            <a:off x="9646920" y="2697480"/>
            <a:ext cx="960120" cy="411480"/>
          </a:xfrm>
          <a:prstGeom prst="rect">
            <a:avLst/>
          </a:prstGeom>
          <a:solidFill>
            <a:srgbClr val="EEF1F5"/>
          </a:solidFill>
          <a:ln w="12700">
            <a:solidFill>
              <a:srgbClr val="CADCFC"/>
            </a:solidFill>
            <a:prstDash val="solid"/>
          </a:ln>
        </p:spPr>
      </p:sp>
      <p:sp>
        <p:nvSpPr>
          <p:cNvPr id="42" name="Text 40"/>
          <p:cNvSpPr/>
          <p:nvPr/>
        </p:nvSpPr>
        <p:spPr>
          <a:xfrm>
            <a:off x="9646920" y="2697480"/>
            <a:ext cx="96012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43" name="Shape 41"/>
          <p:cNvSpPr/>
          <p:nvPr/>
        </p:nvSpPr>
        <p:spPr>
          <a:xfrm>
            <a:off x="10607040" y="2697480"/>
            <a:ext cx="1005840" cy="411480"/>
          </a:xfrm>
          <a:prstGeom prst="rect">
            <a:avLst/>
          </a:prstGeom>
          <a:solidFill>
            <a:srgbClr val="EEF1F5"/>
          </a:solidFill>
          <a:ln w="12700">
            <a:solidFill>
              <a:srgbClr val="CADCFC"/>
            </a:solidFill>
            <a:prstDash val="solid"/>
          </a:ln>
        </p:spPr>
      </p:sp>
      <p:sp>
        <p:nvSpPr>
          <p:cNvPr id="44" name="Text 42"/>
          <p:cNvSpPr/>
          <p:nvPr/>
        </p:nvSpPr>
        <p:spPr>
          <a:xfrm>
            <a:off x="10607040" y="2697480"/>
            <a:ext cx="100584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45" name="Text 43"/>
          <p:cNvSpPr/>
          <p:nvPr/>
        </p:nvSpPr>
        <p:spPr>
          <a:xfrm>
            <a:off x="6309360" y="3182112"/>
            <a:ext cx="5303520" cy="274320"/>
          </a:xfrm>
          <a:prstGeom prst="rect">
            <a:avLst/>
          </a:prstGeom>
          <a:noFill/>
          <a:ln/>
        </p:spPr>
        <p:txBody>
          <a:bodyPr wrap="square" rtlCol="0" anchor="ctr"/>
          <a:lstStyle/>
          <a:p>
            <a:pPr indent="0" marL="0">
              <a:buNone/>
            </a:pPr>
            <a:r>
              <a:rPr lang="en-US" sz="900" i="1" dirty="0">
                <a:solidFill>
                  <a:srgbClr val="5C6B7A"/>
                </a:solidFill>
                <a:latin typeface="Calibri" pitchFamily="34" charset="0"/>
                <a:ea typeface="Calibri" pitchFamily="34" charset="-122"/>
                <a:cs typeface="Calibri" pitchFamily="34" charset="-120"/>
              </a:rPr>
              <a:t>Fill from the notebook's comparison table after running.</a:t>
            </a:r>
            <a:endParaRPr lang="en-US" sz="900" dirty="0"/>
          </a:p>
        </p:txBody>
      </p:sp>
      <p:sp>
        <p:nvSpPr>
          <p:cNvPr id="46" name="Shape 44"/>
          <p:cNvSpPr/>
          <p:nvPr/>
        </p:nvSpPr>
        <p:spPr>
          <a:xfrm>
            <a:off x="6309360" y="3520440"/>
            <a:ext cx="5303520" cy="1417320"/>
          </a:xfrm>
          <a:prstGeom prst="roundRect">
            <a:avLst>
              <a:gd name="adj" fmla="val 3871"/>
            </a:avLst>
          </a:prstGeom>
          <a:solidFill>
            <a:srgbClr val="FFFFFF"/>
          </a:solidFill>
          <a:ln w="12700">
            <a:solidFill>
              <a:srgbClr val="CADCFC"/>
            </a:solidFill>
            <a:prstDash val="solid"/>
          </a:ln>
        </p:spPr>
      </p:sp>
      <p:sp>
        <p:nvSpPr>
          <p:cNvPr id="47" name="Text 45"/>
          <p:cNvSpPr/>
          <p:nvPr/>
        </p:nvSpPr>
        <p:spPr>
          <a:xfrm>
            <a:off x="6510528" y="3611880"/>
            <a:ext cx="4901184" cy="274320"/>
          </a:xfrm>
          <a:prstGeom prst="rect">
            <a:avLst/>
          </a:prstGeom>
          <a:noFill/>
          <a:ln/>
        </p:spPr>
        <p:txBody>
          <a:bodyPr wrap="square" rtlCol="0" anchor="ctr"/>
          <a:lstStyle/>
          <a:p>
            <a:pPr indent="0" marL="0">
              <a:buNone/>
            </a:pPr>
            <a:r>
              <a:rPr lang="en-US" sz="1200" b="1" dirty="0">
                <a:solidFill>
                  <a:srgbClr val="1B4965"/>
                </a:solidFill>
                <a:latin typeface="Cambria" pitchFamily="34" charset="0"/>
                <a:ea typeface="Cambria" pitchFamily="34" charset="-122"/>
                <a:cs typeface="Cambria" pitchFamily="34" charset="-120"/>
              </a:rPr>
              <a:t>What drives the model</a:t>
            </a:r>
            <a:endParaRPr lang="en-US" sz="1200" dirty="0"/>
          </a:p>
        </p:txBody>
      </p:sp>
      <p:sp>
        <p:nvSpPr>
          <p:cNvPr id="48" name="Text 46"/>
          <p:cNvSpPr/>
          <p:nvPr/>
        </p:nvSpPr>
        <p:spPr>
          <a:xfrm>
            <a:off x="6510528" y="3886200"/>
            <a:ext cx="4901184" cy="960120"/>
          </a:xfrm>
          <a:prstGeom prst="rect">
            <a:avLst/>
          </a:prstGeom>
          <a:noFill/>
          <a:ln/>
        </p:spPr>
        <p:txBody>
          <a:bodyPr wrap="square" rtlCol="0" anchor="t"/>
          <a:lstStyle/>
          <a:p>
            <a:pPr indent="0" marL="0">
              <a:lnSpc>
                <a:spcPct val="110000"/>
              </a:lnSpc>
              <a:buNone/>
            </a:pPr>
            <a:r>
              <a:rPr lang="en-US" sz="1050" dirty="0">
                <a:solidFill>
                  <a:srgbClr val="0D1B2A"/>
                </a:solidFill>
                <a:latin typeface="Calibri" pitchFamily="34" charset="0"/>
                <a:ea typeface="Calibri" pitchFamily="34" charset="-122"/>
                <a:cs typeface="Calibri" pitchFamily="34" charset="-120"/>
              </a:rPr>
              <a:t>Interpretable by construction: α + β measures how long volatility shocks persist; the γ leverage term quantifies the asymmetry between down-moves and up-moves.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10972800" y="365760"/>
            <a:ext cx="731520" cy="731520"/>
          </a:xfrm>
          <a:prstGeom prst="ellipse">
            <a:avLst/>
          </a:prstGeom>
          <a:solidFill>
            <a:srgbClr val="0D1B2A"/>
          </a:solidFill>
          <a:ln/>
        </p:spPr>
      </p:sp>
      <p:sp>
        <p:nvSpPr>
          <p:cNvPr id="3" name="Shape 1"/>
          <p:cNvSpPr/>
          <p:nvPr/>
        </p:nvSpPr>
        <p:spPr>
          <a:xfrm flipV="1">
            <a:off x="11133734" y="588142"/>
            <a:ext cx="122895" cy="204826"/>
          </a:xfrm>
          <a:prstGeom prst="line">
            <a:avLst/>
          </a:prstGeom>
          <a:noFill/>
          <a:ln w="25400">
            <a:solidFill>
              <a:srgbClr val="F7931A"/>
            </a:solidFill>
            <a:prstDash val="solid"/>
          </a:ln>
        </p:spPr>
      </p:sp>
      <p:sp>
        <p:nvSpPr>
          <p:cNvPr id="4" name="Shape 2"/>
          <p:cNvSpPr/>
          <p:nvPr/>
        </p:nvSpPr>
        <p:spPr>
          <a:xfrm>
            <a:off x="11256630" y="588142"/>
            <a:ext cx="81930" cy="245791"/>
          </a:xfrm>
          <a:prstGeom prst="line">
            <a:avLst/>
          </a:prstGeom>
          <a:noFill/>
          <a:ln w="25400">
            <a:solidFill>
              <a:srgbClr val="F7931A"/>
            </a:solidFill>
            <a:prstDash val="solid"/>
          </a:ln>
        </p:spPr>
      </p:sp>
      <p:sp>
        <p:nvSpPr>
          <p:cNvPr id="5" name="Shape 3"/>
          <p:cNvSpPr/>
          <p:nvPr/>
        </p:nvSpPr>
        <p:spPr>
          <a:xfrm flipV="1">
            <a:off x="11338560" y="526694"/>
            <a:ext cx="102413" cy="307238"/>
          </a:xfrm>
          <a:prstGeom prst="line">
            <a:avLst/>
          </a:prstGeom>
          <a:noFill/>
          <a:ln w="25400">
            <a:solidFill>
              <a:srgbClr val="F7931A"/>
            </a:solidFill>
            <a:prstDash val="solid"/>
          </a:ln>
        </p:spPr>
      </p:sp>
      <p:sp>
        <p:nvSpPr>
          <p:cNvPr id="6" name="Shape 4"/>
          <p:cNvSpPr/>
          <p:nvPr/>
        </p:nvSpPr>
        <p:spPr>
          <a:xfrm>
            <a:off x="11440973" y="526694"/>
            <a:ext cx="102413" cy="184343"/>
          </a:xfrm>
          <a:prstGeom prst="line">
            <a:avLst/>
          </a:prstGeom>
          <a:noFill/>
          <a:ln w="25400">
            <a:solidFill>
              <a:srgbClr val="F7931A"/>
            </a:solidFill>
            <a:prstDash val="solid"/>
          </a:ln>
        </p:spPr>
      </p:sp>
      <p:sp>
        <p:nvSpPr>
          <p:cNvPr id="7" name="Text 5"/>
          <p:cNvSpPr/>
          <p:nvPr/>
        </p:nvSpPr>
        <p:spPr>
          <a:xfrm>
            <a:off x="548640" y="365760"/>
            <a:ext cx="10058400" cy="640080"/>
          </a:xfrm>
          <a:prstGeom prst="rect">
            <a:avLst/>
          </a:prstGeom>
          <a:noFill/>
          <a:ln/>
        </p:spPr>
        <p:txBody>
          <a:bodyPr wrap="square" rtlCol="0" anchor="ctr"/>
          <a:lstStyle/>
          <a:p>
            <a:pPr indent="0" marL="0">
              <a:buNone/>
            </a:pPr>
            <a:r>
              <a:rPr lang="en-US" sz="3000" b="1" dirty="0">
                <a:solidFill>
                  <a:srgbClr val="0D1B2A"/>
                </a:solidFill>
                <a:latin typeface="Cambria" pitchFamily="34" charset="0"/>
                <a:ea typeface="Cambria" pitchFamily="34" charset="-122"/>
                <a:cs typeface="Cambria" pitchFamily="34" charset="-120"/>
              </a:rPr>
              <a:t>Model 2 — HAR-RV / HAR-RV-X</a:t>
            </a:r>
            <a:endParaRPr lang="en-US" sz="3000" dirty="0"/>
          </a:p>
        </p:txBody>
      </p:sp>
      <p:sp>
        <p:nvSpPr>
          <p:cNvPr id="8" name="Text 6"/>
          <p:cNvSpPr/>
          <p:nvPr/>
        </p:nvSpPr>
        <p:spPr>
          <a:xfrm>
            <a:off x="548640" y="932688"/>
            <a:ext cx="10515600" cy="365760"/>
          </a:xfrm>
          <a:prstGeom prst="rect">
            <a:avLst/>
          </a:prstGeom>
          <a:noFill/>
          <a:ln/>
        </p:spPr>
        <p:txBody>
          <a:bodyPr wrap="square" rtlCol="0" anchor="ctr"/>
          <a:lstStyle/>
          <a:p>
            <a:pPr indent="0" marL="0">
              <a:buNone/>
            </a:pPr>
            <a:r>
              <a:rPr lang="en-US" sz="1400" i="1" dirty="0">
                <a:solidFill>
                  <a:srgbClr val="5C6B7A"/>
                </a:solidFill>
                <a:latin typeface="Calibri" pitchFamily="34" charset="0"/>
                <a:ea typeface="Calibri" pitchFamily="34" charset="-122"/>
                <a:cs typeface="Calibri" pitchFamily="34" charset="-120"/>
              </a:rPr>
              <a:t>Best version: HAR-RV-X with Ridge regularisation</a:t>
            </a:r>
            <a:endParaRPr lang="en-US" sz="1400" dirty="0"/>
          </a:p>
        </p:txBody>
      </p:sp>
      <p:sp>
        <p:nvSpPr>
          <p:cNvPr id="9" name="Text 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C6B7A"/>
                </a:solidFill>
                <a:latin typeface="Calibri" pitchFamily="34" charset="0"/>
                <a:ea typeface="Calibri" pitchFamily="34" charset="-122"/>
                <a:cs typeface="Calibri" pitchFamily="34" charset="-120"/>
              </a:rPr>
              <a:t>BTC Volatility Prediction  |  Capstone</a:t>
            </a:r>
            <a:endParaRPr lang="en-US" sz="900" dirty="0"/>
          </a:p>
        </p:txBody>
      </p:sp>
      <p:sp>
        <p:nvSpPr>
          <p:cNvPr id="10" name="Text 8"/>
          <p:cNvSpPr/>
          <p:nvPr/>
        </p:nvSpPr>
        <p:spPr>
          <a:xfrm>
            <a:off x="11521440" y="6537960"/>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8</a:t>
            </a:r>
            <a:endParaRPr lang="en-US" sz="900" dirty="0"/>
          </a:p>
        </p:txBody>
      </p:sp>
      <p:sp>
        <p:nvSpPr>
          <p:cNvPr id="11" name="Shape 9"/>
          <p:cNvSpPr/>
          <p:nvPr/>
        </p:nvSpPr>
        <p:spPr>
          <a:xfrm>
            <a:off x="548640" y="1508760"/>
            <a:ext cx="5486400" cy="1207008"/>
          </a:xfrm>
          <a:prstGeom prst="roundRect">
            <a:avLst>
              <a:gd name="adj" fmla="val 4545"/>
            </a:avLst>
          </a:prstGeom>
          <a:solidFill>
            <a:srgbClr val="FFFFFF"/>
          </a:solidFill>
          <a:ln w="12700">
            <a:solidFill>
              <a:srgbClr val="CADCFC"/>
            </a:solidFill>
            <a:prstDash val="solid"/>
          </a:ln>
        </p:spPr>
      </p:sp>
      <p:sp>
        <p:nvSpPr>
          <p:cNvPr id="12" name="Text 10"/>
          <p:cNvSpPr/>
          <p:nvPr/>
        </p:nvSpPr>
        <p:spPr>
          <a:xfrm>
            <a:off x="777240" y="1600200"/>
            <a:ext cx="5029200" cy="292608"/>
          </a:xfrm>
          <a:prstGeom prst="rect">
            <a:avLst/>
          </a:prstGeom>
          <a:noFill/>
          <a:ln/>
        </p:spPr>
        <p:txBody>
          <a:bodyPr wrap="square" rtlCol="0" anchor="ctr"/>
          <a:lstStyle/>
          <a:p>
            <a:pPr indent="0" marL="0">
              <a:buNone/>
            </a:pPr>
            <a:r>
              <a:rPr lang="en-US" sz="1300" b="1" dirty="0">
                <a:solidFill>
                  <a:srgbClr val="1B4965"/>
                </a:solidFill>
                <a:latin typeface="Cambria" pitchFamily="34" charset="0"/>
                <a:ea typeface="Cambria" pitchFamily="34" charset="-122"/>
                <a:cs typeface="Cambria" pitchFamily="34" charset="-120"/>
              </a:rPr>
              <a:t>Base version: HAR-RV</a:t>
            </a:r>
            <a:endParaRPr lang="en-US" sz="1300" dirty="0"/>
          </a:p>
        </p:txBody>
      </p:sp>
      <p:sp>
        <p:nvSpPr>
          <p:cNvPr id="13" name="Text 11"/>
          <p:cNvSpPr/>
          <p:nvPr/>
        </p:nvSpPr>
        <p:spPr>
          <a:xfrm>
            <a:off x="777240" y="1892808"/>
            <a:ext cx="5029200" cy="749808"/>
          </a:xfrm>
          <a:prstGeom prst="rect">
            <a:avLst/>
          </a:prstGeom>
          <a:noFill/>
          <a:ln/>
        </p:spPr>
        <p:txBody>
          <a:bodyPr wrap="square" rtlCol="0" anchor="t"/>
          <a:lstStyle/>
          <a:p>
            <a:pPr indent="0" marL="0">
              <a:lnSpc>
                <a:spcPct val="110000"/>
              </a:lnSpc>
              <a:buNone/>
            </a:pPr>
            <a:r>
              <a:rPr lang="en-US" sz="1150" dirty="0">
                <a:solidFill>
                  <a:srgbClr val="0D1B2A"/>
                </a:solidFill>
                <a:latin typeface="Calibri" pitchFamily="34" charset="0"/>
                <a:ea typeface="Calibri" pitchFamily="34" charset="-122"/>
                <a:cs typeface="Calibri" pitchFamily="34" charset="-120"/>
              </a:rPr>
              <a:t>Regresses volatility on volatility measured over three horizons — past day, past week, past month (24h / 168h / 720h). Captures long memory: different market participants act on different timescales.</a:t>
            </a:r>
            <a:endParaRPr lang="en-US" sz="1150" dirty="0"/>
          </a:p>
        </p:txBody>
      </p:sp>
      <p:sp>
        <p:nvSpPr>
          <p:cNvPr id="14" name="Shape 12"/>
          <p:cNvSpPr/>
          <p:nvPr/>
        </p:nvSpPr>
        <p:spPr>
          <a:xfrm>
            <a:off x="548640" y="2834640"/>
            <a:ext cx="5486400" cy="1207008"/>
          </a:xfrm>
          <a:prstGeom prst="roundRect">
            <a:avLst>
              <a:gd name="adj" fmla="val 4545"/>
            </a:avLst>
          </a:prstGeom>
          <a:solidFill>
            <a:srgbClr val="FFFFFF"/>
          </a:solidFill>
          <a:ln w="12700">
            <a:solidFill>
              <a:srgbClr val="CADCFC"/>
            </a:solidFill>
            <a:prstDash val="solid"/>
          </a:ln>
        </p:spPr>
      </p:sp>
      <p:sp>
        <p:nvSpPr>
          <p:cNvPr id="15" name="Text 13"/>
          <p:cNvSpPr/>
          <p:nvPr/>
        </p:nvSpPr>
        <p:spPr>
          <a:xfrm>
            <a:off x="777240" y="2926080"/>
            <a:ext cx="5029200" cy="292608"/>
          </a:xfrm>
          <a:prstGeom prst="rect">
            <a:avLst/>
          </a:prstGeom>
          <a:noFill/>
          <a:ln/>
        </p:spPr>
        <p:txBody>
          <a:bodyPr wrap="square" rtlCol="0" anchor="ctr"/>
          <a:lstStyle/>
          <a:p>
            <a:pPr indent="0" marL="0">
              <a:buNone/>
            </a:pPr>
            <a:r>
              <a:rPr lang="en-US" sz="1300" b="1" dirty="0">
                <a:solidFill>
                  <a:srgbClr val="1B4965"/>
                </a:solidFill>
                <a:latin typeface="Cambria" pitchFamily="34" charset="0"/>
                <a:ea typeface="Cambria" pitchFamily="34" charset="-122"/>
                <a:cs typeface="Cambria" pitchFamily="34" charset="-120"/>
              </a:rPr>
              <a:t>Improvement: the 'X'</a:t>
            </a:r>
            <a:endParaRPr lang="en-US" sz="1300" dirty="0"/>
          </a:p>
        </p:txBody>
      </p:sp>
      <p:sp>
        <p:nvSpPr>
          <p:cNvPr id="16" name="Text 14"/>
          <p:cNvSpPr/>
          <p:nvPr/>
        </p:nvSpPr>
        <p:spPr>
          <a:xfrm>
            <a:off x="777240" y="3218688"/>
            <a:ext cx="5029200" cy="749808"/>
          </a:xfrm>
          <a:prstGeom prst="rect">
            <a:avLst/>
          </a:prstGeom>
          <a:noFill/>
          <a:ln/>
        </p:spPr>
        <p:txBody>
          <a:bodyPr wrap="square" rtlCol="0" anchor="t"/>
          <a:lstStyle/>
          <a:p>
            <a:pPr indent="0" marL="0">
              <a:lnSpc>
                <a:spcPct val="110000"/>
              </a:lnSpc>
              <a:buNone/>
            </a:pPr>
            <a:r>
              <a:rPr lang="en-US" sz="1150" dirty="0">
                <a:solidFill>
                  <a:srgbClr val="0D1B2A"/>
                </a:solidFill>
                <a:latin typeface="Calibri" pitchFamily="34" charset="0"/>
                <a:ea typeface="Calibri" pitchFamily="34" charset="-122"/>
                <a:cs typeface="Calibri" pitchFamily="34" charset="-120"/>
              </a:rPr>
              <a:t>Adds ATR (Average True Range) as an exogenous regressor. ATR is range-based (high/low), while the target is close-to-close — so it adds genuinely new intraday information, not a restatement.</a:t>
            </a:r>
            <a:endParaRPr lang="en-US" sz="1150" dirty="0"/>
          </a:p>
        </p:txBody>
      </p:sp>
      <p:sp>
        <p:nvSpPr>
          <p:cNvPr id="17" name="Shape 15"/>
          <p:cNvSpPr/>
          <p:nvPr/>
        </p:nvSpPr>
        <p:spPr>
          <a:xfrm>
            <a:off x="548640" y="4160520"/>
            <a:ext cx="5486400" cy="1207008"/>
          </a:xfrm>
          <a:prstGeom prst="roundRect">
            <a:avLst>
              <a:gd name="adj" fmla="val 4545"/>
            </a:avLst>
          </a:prstGeom>
          <a:solidFill>
            <a:srgbClr val="FFFFFF"/>
          </a:solidFill>
          <a:ln w="12700">
            <a:solidFill>
              <a:srgbClr val="CADCFC"/>
            </a:solidFill>
            <a:prstDash val="solid"/>
          </a:ln>
        </p:spPr>
      </p:sp>
      <p:sp>
        <p:nvSpPr>
          <p:cNvPr id="18" name="Text 16"/>
          <p:cNvSpPr/>
          <p:nvPr/>
        </p:nvSpPr>
        <p:spPr>
          <a:xfrm>
            <a:off x="777240" y="4251960"/>
            <a:ext cx="5029200" cy="292608"/>
          </a:xfrm>
          <a:prstGeom prst="rect">
            <a:avLst/>
          </a:prstGeom>
          <a:noFill/>
          <a:ln/>
        </p:spPr>
        <p:txBody>
          <a:bodyPr wrap="square" rtlCol="0" anchor="ctr"/>
          <a:lstStyle/>
          <a:p>
            <a:pPr indent="0" marL="0">
              <a:buNone/>
            </a:pPr>
            <a:r>
              <a:rPr lang="en-US" sz="1300" b="1" dirty="0">
                <a:solidFill>
                  <a:srgbClr val="1B4965"/>
                </a:solidFill>
                <a:latin typeface="Cambria" pitchFamily="34" charset="0"/>
                <a:ea typeface="Cambria" pitchFamily="34" charset="-122"/>
                <a:cs typeface="Cambria" pitchFamily="34" charset="-120"/>
              </a:rPr>
              <a:t>Plus regularisation</a:t>
            </a:r>
            <a:endParaRPr lang="en-US" sz="1300" dirty="0"/>
          </a:p>
        </p:txBody>
      </p:sp>
      <p:sp>
        <p:nvSpPr>
          <p:cNvPr id="19" name="Text 17"/>
          <p:cNvSpPr/>
          <p:nvPr/>
        </p:nvSpPr>
        <p:spPr>
          <a:xfrm>
            <a:off x="777240" y="4544568"/>
            <a:ext cx="5029200" cy="749808"/>
          </a:xfrm>
          <a:prstGeom prst="rect">
            <a:avLst/>
          </a:prstGeom>
          <a:noFill/>
          <a:ln/>
        </p:spPr>
        <p:txBody>
          <a:bodyPr wrap="square" rtlCol="0" anchor="t"/>
          <a:lstStyle/>
          <a:p>
            <a:pPr indent="0" marL="0">
              <a:lnSpc>
                <a:spcPct val="110000"/>
              </a:lnSpc>
              <a:buNone/>
            </a:pPr>
            <a:r>
              <a:rPr lang="en-US" sz="1150" dirty="0">
                <a:solidFill>
                  <a:srgbClr val="0D1B2A"/>
                </a:solidFill>
                <a:latin typeface="Calibri" pitchFamily="34" charset="0"/>
                <a:ea typeface="Calibri" pitchFamily="34" charset="-122"/>
                <a:cs typeface="Calibri" pitchFamily="34" charset="-120"/>
              </a:rPr>
              <a:t>Ridge penalty tuned by GridSearchCV over TimeSeriesSplit. Needed because all four regressors measure volatility and are therefore correlated, making unpenalised coefficients unstable.</a:t>
            </a:r>
            <a:endParaRPr lang="en-US" sz="1150" dirty="0"/>
          </a:p>
        </p:txBody>
      </p:sp>
      <p:sp>
        <p:nvSpPr>
          <p:cNvPr id="20" name="Text 18"/>
          <p:cNvSpPr/>
          <p:nvPr/>
        </p:nvSpPr>
        <p:spPr>
          <a:xfrm>
            <a:off x="6309360" y="1508760"/>
            <a:ext cx="5303520" cy="320040"/>
          </a:xfrm>
          <a:prstGeom prst="rect">
            <a:avLst/>
          </a:prstGeom>
          <a:noFill/>
          <a:ln/>
        </p:spPr>
        <p:txBody>
          <a:bodyPr wrap="square" rtlCol="0" anchor="ctr"/>
          <a:lstStyle/>
          <a:p>
            <a:pPr indent="0" marL="0">
              <a:buNone/>
            </a:pPr>
            <a:r>
              <a:rPr lang="en-US" sz="1400" b="1" dirty="0">
                <a:solidFill>
                  <a:srgbClr val="0D1B2A"/>
                </a:solidFill>
                <a:latin typeface="Cambria" pitchFamily="34" charset="0"/>
                <a:ea typeface="Cambria" pitchFamily="34" charset="-122"/>
                <a:cs typeface="Cambria" pitchFamily="34" charset="-120"/>
              </a:rPr>
              <a:t>Performance vs. Base Version</a:t>
            </a:r>
            <a:endParaRPr lang="en-US" sz="1400" dirty="0"/>
          </a:p>
        </p:txBody>
      </p:sp>
      <p:sp>
        <p:nvSpPr>
          <p:cNvPr id="21" name="Shape 19"/>
          <p:cNvSpPr/>
          <p:nvPr/>
        </p:nvSpPr>
        <p:spPr>
          <a:xfrm>
            <a:off x="6309360" y="1901952"/>
            <a:ext cx="2286000" cy="384048"/>
          </a:xfrm>
          <a:prstGeom prst="rect">
            <a:avLst/>
          </a:prstGeom>
          <a:solidFill>
            <a:srgbClr val="0D1B2A"/>
          </a:solidFill>
          <a:ln w="12700">
            <a:solidFill>
              <a:srgbClr val="F7F8FA"/>
            </a:solidFill>
            <a:prstDash val="solid"/>
          </a:ln>
        </p:spPr>
      </p:sp>
      <p:sp>
        <p:nvSpPr>
          <p:cNvPr id="22" name="Text 20"/>
          <p:cNvSpPr/>
          <p:nvPr/>
        </p:nvSpPr>
        <p:spPr>
          <a:xfrm>
            <a:off x="6309360" y="1901952"/>
            <a:ext cx="2286000" cy="384048"/>
          </a:xfrm>
          <a:prstGeom prst="rect">
            <a:avLst/>
          </a:prstGeom>
          <a:noFill/>
          <a:ln/>
        </p:spPr>
        <p:txBody>
          <a:bodyPr wrap="square" rtlCol="0" anchor="ctr"/>
          <a:lstStyle/>
          <a:p>
            <a:pPr algn="ctr" indent="0" marL="0">
              <a:buNone/>
            </a:pPr>
            <a:r>
              <a:rPr lang="en-US" sz="1100" b="1" dirty="0">
                <a:solidFill>
                  <a:srgbClr val="F7931A"/>
                </a:solidFill>
                <a:latin typeface="Calibri" pitchFamily="34" charset="0"/>
                <a:ea typeface="Calibri" pitchFamily="34" charset="-122"/>
                <a:cs typeface="Calibri" pitchFamily="34" charset="-120"/>
              </a:rPr>
              <a:t>Version</a:t>
            </a:r>
            <a:endParaRPr lang="en-US" sz="1100" dirty="0"/>
          </a:p>
        </p:txBody>
      </p:sp>
      <p:sp>
        <p:nvSpPr>
          <p:cNvPr id="23" name="Shape 21"/>
          <p:cNvSpPr/>
          <p:nvPr/>
        </p:nvSpPr>
        <p:spPr>
          <a:xfrm>
            <a:off x="8595360" y="1901952"/>
            <a:ext cx="1051560" cy="384048"/>
          </a:xfrm>
          <a:prstGeom prst="rect">
            <a:avLst/>
          </a:prstGeom>
          <a:solidFill>
            <a:srgbClr val="0D1B2A"/>
          </a:solidFill>
          <a:ln w="12700">
            <a:solidFill>
              <a:srgbClr val="F7F8FA"/>
            </a:solidFill>
            <a:prstDash val="solid"/>
          </a:ln>
        </p:spPr>
      </p:sp>
      <p:sp>
        <p:nvSpPr>
          <p:cNvPr id="24" name="Text 22"/>
          <p:cNvSpPr/>
          <p:nvPr/>
        </p:nvSpPr>
        <p:spPr>
          <a:xfrm>
            <a:off x="8595360" y="1901952"/>
            <a:ext cx="1051560" cy="384048"/>
          </a:xfrm>
          <a:prstGeom prst="rect">
            <a:avLst/>
          </a:prstGeom>
          <a:noFill/>
          <a:ln/>
        </p:spPr>
        <p:txBody>
          <a:bodyPr wrap="square" rtlCol="0" anchor="ctr"/>
          <a:lstStyle/>
          <a:p>
            <a:pPr algn="ctr" indent="0" marL="0">
              <a:buNone/>
            </a:pPr>
            <a:r>
              <a:rPr lang="en-US" sz="1100" b="1" dirty="0">
                <a:solidFill>
                  <a:srgbClr val="F7931A"/>
                </a:solidFill>
                <a:latin typeface="Calibri" pitchFamily="34" charset="0"/>
                <a:ea typeface="Calibri" pitchFamily="34" charset="-122"/>
                <a:cs typeface="Calibri" pitchFamily="34" charset="-120"/>
              </a:rPr>
              <a:t>RMSE</a:t>
            </a:r>
            <a:endParaRPr lang="en-US" sz="1100" dirty="0"/>
          </a:p>
        </p:txBody>
      </p:sp>
      <p:sp>
        <p:nvSpPr>
          <p:cNvPr id="25" name="Shape 23"/>
          <p:cNvSpPr/>
          <p:nvPr/>
        </p:nvSpPr>
        <p:spPr>
          <a:xfrm>
            <a:off x="9646920" y="1901952"/>
            <a:ext cx="960120" cy="384048"/>
          </a:xfrm>
          <a:prstGeom prst="rect">
            <a:avLst/>
          </a:prstGeom>
          <a:solidFill>
            <a:srgbClr val="0D1B2A"/>
          </a:solidFill>
          <a:ln w="12700">
            <a:solidFill>
              <a:srgbClr val="F7F8FA"/>
            </a:solidFill>
            <a:prstDash val="solid"/>
          </a:ln>
        </p:spPr>
      </p:sp>
      <p:sp>
        <p:nvSpPr>
          <p:cNvPr id="26" name="Text 24"/>
          <p:cNvSpPr/>
          <p:nvPr/>
        </p:nvSpPr>
        <p:spPr>
          <a:xfrm>
            <a:off x="9646920" y="1901952"/>
            <a:ext cx="960120" cy="384048"/>
          </a:xfrm>
          <a:prstGeom prst="rect">
            <a:avLst/>
          </a:prstGeom>
          <a:noFill/>
          <a:ln/>
        </p:spPr>
        <p:txBody>
          <a:bodyPr wrap="square" rtlCol="0" anchor="ctr"/>
          <a:lstStyle/>
          <a:p>
            <a:pPr algn="ctr" indent="0" marL="0">
              <a:buNone/>
            </a:pPr>
            <a:r>
              <a:rPr lang="en-US" sz="1100" b="1" dirty="0">
                <a:solidFill>
                  <a:srgbClr val="F7931A"/>
                </a:solidFill>
                <a:latin typeface="Calibri" pitchFamily="34" charset="0"/>
                <a:ea typeface="Calibri" pitchFamily="34" charset="-122"/>
                <a:cs typeface="Calibri" pitchFamily="34" charset="-120"/>
              </a:rPr>
              <a:t>MAE</a:t>
            </a:r>
            <a:endParaRPr lang="en-US" sz="1100" dirty="0"/>
          </a:p>
        </p:txBody>
      </p:sp>
      <p:sp>
        <p:nvSpPr>
          <p:cNvPr id="27" name="Shape 25"/>
          <p:cNvSpPr/>
          <p:nvPr/>
        </p:nvSpPr>
        <p:spPr>
          <a:xfrm>
            <a:off x="10607040" y="1901952"/>
            <a:ext cx="1005840" cy="384048"/>
          </a:xfrm>
          <a:prstGeom prst="rect">
            <a:avLst/>
          </a:prstGeom>
          <a:solidFill>
            <a:srgbClr val="0D1B2A"/>
          </a:solidFill>
          <a:ln w="12700">
            <a:solidFill>
              <a:srgbClr val="F7F8FA"/>
            </a:solidFill>
            <a:prstDash val="solid"/>
          </a:ln>
        </p:spPr>
      </p:sp>
      <p:sp>
        <p:nvSpPr>
          <p:cNvPr id="28" name="Text 26"/>
          <p:cNvSpPr/>
          <p:nvPr/>
        </p:nvSpPr>
        <p:spPr>
          <a:xfrm>
            <a:off x="10607040" y="1901952"/>
            <a:ext cx="1005840" cy="384048"/>
          </a:xfrm>
          <a:prstGeom prst="rect">
            <a:avLst/>
          </a:prstGeom>
          <a:noFill/>
          <a:ln/>
        </p:spPr>
        <p:txBody>
          <a:bodyPr wrap="square" rtlCol="0" anchor="ctr"/>
          <a:lstStyle/>
          <a:p>
            <a:pPr algn="ctr" indent="0" marL="0">
              <a:buNone/>
            </a:pPr>
            <a:r>
              <a:rPr lang="en-US" sz="1100" b="1" dirty="0">
                <a:solidFill>
                  <a:srgbClr val="F7931A"/>
                </a:solidFill>
                <a:latin typeface="Calibri" pitchFamily="34" charset="0"/>
                <a:ea typeface="Calibri" pitchFamily="34" charset="-122"/>
                <a:cs typeface="Calibri" pitchFamily="34" charset="-120"/>
              </a:rPr>
              <a:t>R²</a:t>
            </a:r>
            <a:endParaRPr lang="en-US" sz="1100" dirty="0"/>
          </a:p>
        </p:txBody>
      </p:sp>
      <p:sp>
        <p:nvSpPr>
          <p:cNvPr id="29" name="Shape 27"/>
          <p:cNvSpPr/>
          <p:nvPr/>
        </p:nvSpPr>
        <p:spPr>
          <a:xfrm>
            <a:off x="6309360" y="2286000"/>
            <a:ext cx="2286000" cy="411480"/>
          </a:xfrm>
          <a:prstGeom prst="rect">
            <a:avLst/>
          </a:prstGeom>
          <a:solidFill>
            <a:srgbClr val="FFFFFF"/>
          </a:solidFill>
          <a:ln w="12700">
            <a:solidFill>
              <a:srgbClr val="CADCFC"/>
            </a:solidFill>
            <a:prstDash val="solid"/>
          </a:ln>
        </p:spPr>
      </p:sp>
      <p:sp>
        <p:nvSpPr>
          <p:cNvPr id="30" name="Text 28"/>
          <p:cNvSpPr/>
          <p:nvPr/>
        </p:nvSpPr>
        <p:spPr>
          <a:xfrm>
            <a:off x="6309360" y="2286000"/>
            <a:ext cx="2286000" cy="411480"/>
          </a:xfrm>
          <a:prstGeom prst="rect">
            <a:avLst/>
          </a:prstGeom>
          <a:noFill/>
          <a:ln/>
        </p:spPr>
        <p:txBody>
          <a:bodyPr wrap="square" lIns="73152" tIns="73152" rIns="73152" bIns="73152" rtlCol="0" anchor="ctr"/>
          <a:lstStyle/>
          <a:p>
            <a:pPr algn="l" indent="0" marL="0">
              <a:buNone/>
            </a:pPr>
            <a:r>
              <a:rPr lang="en-US" sz="1050" b="1" dirty="0">
                <a:solidFill>
                  <a:srgbClr val="0D1B2A"/>
                </a:solidFill>
                <a:latin typeface="Calibri" pitchFamily="34" charset="0"/>
                <a:ea typeface="Calibri" pitchFamily="34" charset="-122"/>
                <a:cs typeface="Calibri" pitchFamily="34" charset="-120"/>
              </a:rPr>
              <a:t>HAR-RV — base</a:t>
            </a:r>
            <a:endParaRPr lang="en-US" sz="1050" dirty="0"/>
          </a:p>
        </p:txBody>
      </p:sp>
      <p:sp>
        <p:nvSpPr>
          <p:cNvPr id="31" name="Shape 29"/>
          <p:cNvSpPr/>
          <p:nvPr/>
        </p:nvSpPr>
        <p:spPr>
          <a:xfrm>
            <a:off x="8595360" y="2286000"/>
            <a:ext cx="1051560" cy="411480"/>
          </a:xfrm>
          <a:prstGeom prst="rect">
            <a:avLst/>
          </a:prstGeom>
          <a:solidFill>
            <a:srgbClr val="FFFFFF"/>
          </a:solidFill>
          <a:ln w="12700">
            <a:solidFill>
              <a:srgbClr val="CADCFC"/>
            </a:solidFill>
            <a:prstDash val="solid"/>
          </a:ln>
        </p:spPr>
      </p:sp>
      <p:sp>
        <p:nvSpPr>
          <p:cNvPr id="32" name="Text 30"/>
          <p:cNvSpPr/>
          <p:nvPr/>
        </p:nvSpPr>
        <p:spPr>
          <a:xfrm>
            <a:off x="8595360" y="2286000"/>
            <a:ext cx="105156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33" name="Shape 31"/>
          <p:cNvSpPr/>
          <p:nvPr/>
        </p:nvSpPr>
        <p:spPr>
          <a:xfrm>
            <a:off x="9646920" y="2286000"/>
            <a:ext cx="960120" cy="411480"/>
          </a:xfrm>
          <a:prstGeom prst="rect">
            <a:avLst/>
          </a:prstGeom>
          <a:solidFill>
            <a:srgbClr val="FFFFFF"/>
          </a:solidFill>
          <a:ln w="12700">
            <a:solidFill>
              <a:srgbClr val="CADCFC"/>
            </a:solidFill>
            <a:prstDash val="solid"/>
          </a:ln>
        </p:spPr>
      </p:sp>
      <p:sp>
        <p:nvSpPr>
          <p:cNvPr id="34" name="Text 32"/>
          <p:cNvSpPr/>
          <p:nvPr/>
        </p:nvSpPr>
        <p:spPr>
          <a:xfrm>
            <a:off x="9646920" y="2286000"/>
            <a:ext cx="96012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35" name="Shape 33"/>
          <p:cNvSpPr/>
          <p:nvPr/>
        </p:nvSpPr>
        <p:spPr>
          <a:xfrm>
            <a:off x="10607040" y="2286000"/>
            <a:ext cx="1005840" cy="411480"/>
          </a:xfrm>
          <a:prstGeom prst="rect">
            <a:avLst/>
          </a:prstGeom>
          <a:solidFill>
            <a:srgbClr val="FFFFFF"/>
          </a:solidFill>
          <a:ln w="12700">
            <a:solidFill>
              <a:srgbClr val="CADCFC"/>
            </a:solidFill>
            <a:prstDash val="solid"/>
          </a:ln>
        </p:spPr>
      </p:sp>
      <p:sp>
        <p:nvSpPr>
          <p:cNvPr id="36" name="Text 34"/>
          <p:cNvSpPr/>
          <p:nvPr/>
        </p:nvSpPr>
        <p:spPr>
          <a:xfrm>
            <a:off x="10607040" y="2286000"/>
            <a:ext cx="100584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37" name="Shape 35"/>
          <p:cNvSpPr/>
          <p:nvPr/>
        </p:nvSpPr>
        <p:spPr>
          <a:xfrm>
            <a:off x="6309360" y="2697480"/>
            <a:ext cx="2286000" cy="411480"/>
          </a:xfrm>
          <a:prstGeom prst="rect">
            <a:avLst/>
          </a:prstGeom>
          <a:solidFill>
            <a:srgbClr val="EEF1F5"/>
          </a:solidFill>
          <a:ln w="12700">
            <a:solidFill>
              <a:srgbClr val="CADCFC"/>
            </a:solidFill>
            <a:prstDash val="solid"/>
          </a:ln>
        </p:spPr>
      </p:sp>
      <p:sp>
        <p:nvSpPr>
          <p:cNvPr id="38" name="Text 36"/>
          <p:cNvSpPr/>
          <p:nvPr/>
        </p:nvSpPr>
        <p:spPr>
          <a:xfrm>
            <a:off x="6309360" y="2697480"/>
            <a:ext cx="2286000" cy="411480"/>
          </a:xfrm>
          <a:prstGeom prst="rect">
            <a:avLst/>
          </a:prstGeom>
          <a:noFill/>
          <a:ln/>
        </p:spPr>
        <p:txBody>
          <a:bodyPr wrap="square" lIns="73152" tIns="73152" rIns="73152" bIns="73152" rtlCol="0" anchor="ctr"/>
          <a:lstStyle/>
          <a:p>
            <a:pPr algn="l" indent="0" marL="0">
              <a:buNone/>
            </a:pPr>
            <a:r>
              <a:rPr lang="en-US" sz="1050" b="1" dirty="0">
                <a:solidFill>
                  <a:srgbClr val="0D1B2A"/>
                </a:solidFill>
                <a:latin typeface="Calibri" pitchFamily="34" charset="0"/>
                <a:ea typeface="Calibri" pitchFamily="34" charset="-122"/>
                <a:cs typeface="Calibri" pitchFamily="34" charset="-120"/>
              </a:rPr>
              <a:t>HAR-RV-X — best</a:t>
            </a:r>
            <a:endParaRPr lang="en-US" sz="1050" dirty="0"/>
          </a:p>
        </p:txBody>
      </p:sp>
      <p:sp>
        <p:nvSpPr>
          <p:cNvPr id="39" name="Shape 37"/>
          <p:cNvSpPr/>
          <p:nvPr/>
        </p:nvSpPr>
        <p:spPr>
          <a:xfrm>
            <a:off x="8595360" y="2697480"/>
            <a:ext cx="1051560" cy="411480"/>
          </a:xfrm>
          <a:prstGeom prst="rect">
            <a:avLst/>
          </a:prstGeom>
          <a:solidFill>
            <a:srgbClr val="EEF1F5"/>
          </a:solidFill>
          <a:ln w="12700">
            <a:solidFill>
              <a:srgbClr val="CADCFC"/>
            </a:solidFill>
            <a:prstDash val="solid"/>
          </a:ln>
        </p:spPr>
      </p:sp>
      <p:sp>
        <p:nvSpPr>
          <p:cNvPr id="40" name="Text 38"/>
          <p:cNvSpPr/>
          <p:nvPr/>
        </p:nvSpPr>
        <p:spPr>
          <a:xfrm>
            <a:off x="8595360" y="2697480"/>
            <a:ext cx="105156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41" name="Shape 39"/>
          <p:cNvSpPr/>
          <p:nvPr/>
        </p:nvSpPr>
        <p:spPr>
          <a:xfrm>
            <a:off x="9646920" y="2697480"/>
            <a:ext cx="960120" cy="411480"/>
          </a:xfrm>
          <a:prstGeom prst="rect">
            <a:avLst/>
          </a:prstGeom>
          <a:solidFill>
            <a:srgbClr val="EEF1F5"/>
          </a:solidFill>
          <a:ln w="12700">
            <a:solidFill>
              <a:srgbClr val="CADCFC"/>
            </a:solidFill>
            <a:prstDash val="solid"/>
          </a:ln>
        </p:spPr>
      </p:sp>
      <p:sp>
        <p:nvSpPr>
          <p:cNvPr id="42" name="Text 40"/>
          <p:cNvSpPr/>
          <p:nvPr/>
        </p:nvSpPr>
        <p:spPr>
          <a:xfrm>
            <a:off x="9646920" y="2697480"/>
            <a:ext cx="96012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43" name="Shape 41"/>
          <p:cNvSpPr/>
          <p:nvPr/>
        </p:nvSpPr>
        <p:spPr>
          <a:xfrm>
            <a:off x="10607040" y="2697480"/>
            <a:ext cx="1005840" cy="411480"/>
          </a:xfrm>
          <a:prstGeom prst="rect">
            <a:avLst/>
          </a:prstGeom>
          <a:solidFill>
            <a:srgbClr val="EEF1F5"/>
          </a:solidFill>
          <a:ln w="12700">
            <a:solidFill>
              <a:srgbClr val="CADCFC"/>
            </a:solidFill>
            <a:prstDash val="solid"/>
          </a:ln>
        </p:spPr>
      </p:sp>
      <p:sp>
        <p:nvSpPr>
          <p:cNvPr id="44" name="Text 42"/>
          <p:cNvSpPr/>
          <p:nvPr/>
        </p:nvSpPr>
        <p:spPr>
          <a:xfrm>
            <a:off x="10607040" y="2697480"/>
            <a:ext cx="100584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45" name="Text 43"/>
          <p:cNvSpPr/>
          <p:nvPr/>
        </p:nvSpPr>
        <p:spPr>
          <a:xfrm>
            <a:off x="6309360" y="3182112"/>
            <a:ext cx="5303520" cy="274320"/>
          </a:xfrm>
          <a:prstGeom prst="rect">
            <a:avLst/>
          </a:prstGeom>
          <a:noFill/>
          <a:ln/>
        </p:spPr>
        <p:txBody>
          <a:bodyPr wrap="square" rtlCol="0" anchor="ctr"/>
          <a:lstStyle/>
          <a:p>
            <a:pPr indent="0" marL="0">
              <a:buNone/>
            </a:pPr>
            <a:r>
              <a:rPr lang="en-US" sz="900" i="1" dirty="0">
                <a:solidFill>
                  <a:srgbClr val="5C6B7A"/>
                </a:solidFill>
                <a:latin typeface="Calibri" pitchFamily="34" charset="0"/>
                <a:ea typeface="Calibri" pitchFamily="34" charset="-122"/>
                <a:cs typeface="Calibri" pitchFamily="34" charset="-120"/>
              </a:rPr>
              <a:t>Fill from the notebook's comparison table after running.</a:t>
            </a:r>
            <a:endParaRPr lang="en-US" sz="900" dirty="0"/>
          </a:p>
        </p:txBody>
      </p:sp>
      <p:sp>
        <p:nvSpPr>
          <p:cNvPr id="46" name="Shape 44"/>
          <p:cNvSpPr/>
          <p:nvPr/>
        </p:nvSpPr>
        <p:spPr>
          <a:xfrm>
            <a:off x="6309360" y="3520440"/>
            <a:ext cx="5303520" cy="1417320"/>
          </a:xfrm>
          <a:prstGeom prst="roundRect">
            <a:avLst>
              <a:gd name="adj" fmla="val 3871"/>
            </a:avLst>
          </a:prstGeom>
          <a:solidFill>
            <a:srgbClr val="FFFFFF"/>
          </a:solidFill>
          <a:ln w="12700">
            <a:solidFill>
              <a:srgbClr val="CADCFC"/>
            </a:solidFill>
            <a:prstDash val="solid"/>
          </a:ln>
        </p:spPr>
      </p:sp>
      <p:sp>
        <p:nvSpPr>
          <p:cNvPr id="47" name="Text 45"/>
          <p:cNvSpPr/>
          <p:nvPr/>
        </p:nvSpPr>
        <p:spPr>
          <a:xfrm>
            <a:off x="6510528" y="3611880"/>
            <a:ext cx="4901184" cy="274320"/>
          </a:xfrm>
          <a:prstGeom prst="rect">
            <a:avLst/>
          </a:prstGeom>
          <a:noFill/>
          <a:ln/>
        </p:spPr>
        <p:txBody>
          <a:bodyPr wrap="square" rtlCol="0" anchor="ctr"/>
          <a:lstStyle/>
          <a:p>
            <a:pPr indent="0" marL="0">
              <a:buNone/>
            </a:pPr>
            <a:r>
              <a:rPr lang="en-US" sz="1200" b="1" dirty="0">
                <a:solidFill>
                  <a:srgbClr val="1B4965"/>
                </a:solidFill>
                <a:latin typeface="Cambria" pitchFamily="34" charset="0"/>
                <a:ea typeface="Cambria" pitchFamily="34" charset="-122"/>
                <a:cs typeface="Cambria" pitchFamily="34" charset="-120"/>
              </a:rPr>
              <a:t>What drives the model</a:t>
            </a:r>
            <a:endParaRPr lang="en-US" sz="1200" dirty="0"/>
          </a:p>
        </p:txBody>
      </p:sp>
      <p:sp>
        <p:nvSpPr>
          <p:cNvPr id="48" name="Text 46"/>
          <p:cNvSpPr/>
          <p:nvPr/>
        </p:nvSpPr>
        <p:spPr>
          <a:xfrm>
            <a:off x="6510528" y="3886200"/>
            <a:ext cx="4901184" cy="960120"/>
          </a:xfrm>
          <a:prstGeom prst="rect">
            <a:avLst/>
          </a:prstGeom>
          <a:noFill/>
          <a:ln/>
        </p:spPr>
        <p:txBody>
          <a:bodyPr wrap="square" rtlCol="0" anchor="t"/>
          <a:lstStyle/>
          <a:p>
            <a:pPr indent="0" marL="0">
              <a:lnSpc>
                <a:spcPct val="110000"/>
              </a:lnSpc>
              <a:buNone/>
            </a:pPr>
            <a:r>
              <a:rPr lang="en-US" sz="1050" dirty="0">
                <a:solidFill>
                  <a:srgbClr val="0D1B2A"/>
                </a:solidFill>
                <a:latin typeface="Calibri" pitchFamily="34" charset="0"/>
                <a:ea typeface="Calibri" pitchFamily="34" charset="-122"/>
                <a:cs typeface="Calibri" pitchFamily="34" charset="-120"/>
              </a:rPr>
              <a:t>Coefficients are directly readable: β_d, β_w, β_m show how much the day / week / month horizons each contribute, and β_x shows what the intraday range adds on top.</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10972800" y="365760"/>
            <a:ext cx="731520" cy="731520"/>
          </a:xfrm>
          <a:prstGeom prst="ellipse">
            <a:avLst/>
          </a:prstGeom>
          <a:solidFill>
            <a:srgbClr val="0D1B2A"/>
          </a:solidFill>
          <a:ln/>
        </p:spPr>
      </p:sp>
      <p:sp>
        <p:nvSpPr>
          <p:cNvPr id="3" name="Shape 1"/>
          <p:cNvSpPr/>
          <p:nvPr/>
        </p:nvSpPr>
        <p:spPr>
          <a:xfrm flipV="1">
            <a:off x="11133734" y="588142"/>
            <a:ext cx="122895" cy="204826"/>
          </a:xfrm>
          <a:prstGeom prst="line">
            <a:avLst/>
          </a:prstGeom>
          <a:noFill/>
          <a:ln w="25400">
            <a:solidFill>
              <a:srgbClr val="F7931A"/>
            </a:solidFill>
            <a:prstDash val="solid"/>
          </a:ln>
        </p:spPr>
      </p:sp>
      <p:sp>
        <p:nvSpPr>
          <p:cNvPr id="4" name="Shape 2"/>
          <p:cNvSpPr/>
          <p:nvPr/>
        </p:nvSpPr>
        <p:spPr>
          <a:xfrm>
            <a:off x="11256630" y="588142"/>
            <a:ext cx="81930" cy="245791"/>
          </a:xfrm>
          <a:prstGeom prst="line">
            <a:avLst/>
          </a:prstGeom>
          <a:noFill/>
          <a:ln w="25400">
            <a:solidFill>
              <a:srgbClr val="F7931A"/>
            </a:solidFill>
            <a:prstDash val="solid"/>
          </a:ln>
        </p:spPr>
      </p:sp>
      <p:sp>
        <p:nvSpPr>
          <p:cNvPr id="5" name="Shape 3"/>
          <p:cNvSpPr/>
          <p:nvPr/>
        </p:nvSpPr>
        <p:spPr>
          <a:xfrm flipV="1">
            <a:off x="11338560" y="526694"/>
            <a:ext cx="102413" cy="307238"/>
          </a:xfrm>
          <a:prstGeom prst="line">
            <a:avLst/>
          </a:prstGeom>
          <a:noFill/>
          <a:ln w="25400">
            <a:solidFill>
              <a:srgbClr val="F7931A"/>
            </a:solidFill>
            <a:prstDash val="solid"/>
          </a:ln>
        </p:spPr>
      </p:sp>
      <p:sp>
        <p:nvSpPr>
          <p:cNvPr id="6" name="Shape 4"/>
          <p:cNvSpPr/>
          <p:nvPr/>
        </p:nvSpPr>
        <p:spPr>
          <a:xfrm>
            <a:off x="11440973" y="526694"/>
            <a:ext cx="102413" cy="184343"/>
          </a:xfrm>
          <a:prstGeom prst="line">
            <a:avLst/>
          </a:prstGeom>
          <a:noFill/>
          <a:ln w="25400">
            <a:solidFill>
              <a:srgbClr val="F7931A"/>
            </a:solidFill>
            <a:prstDash val="solid"/>
          </a:ln>
        </p:spPr>
      </p:sp>
      <p:sp>
        <p:nvSpPr>
          <p:cNvPr id="7" name="Text 5"/>
          <p:cNvSpPr/>
          <p:nvPr/>
        </p:nvSpPr>
        <p:spPr>
          <a:xfrm>
            <a:off x="548640" y="365760"/>
            <a:ext cx="10058400" cy="640080"/>
          </a:xfrm>
          <a:prstGeom prst="rect">
            <a:avLst/>
          </a:prstGeom>
          <a:noFill/>
          <a:ln/>
        </p:spPr>
        <p:txBody>
          <a:bodyPr wrap="square" rtlCol="0" anchor="ctr"/>
          <a:lstStyle/>
          <a:p>
            <a:pPr indent="0" marL="0">
              <a:buNone/>
            </a:pPr>
            <a:r>
              <a:rPr lang="en-US" sz="3000" b="1" dirty="0">
                <a:solidFill>
                  <a:srgbClr val="0D1B2A"/>
                </a:solidFill>
                <a:latin typeface="Cambria" pitchFamily="34" charset="0"/>
                <a:ea typeface="Cambria" pitchFamily="34" charset="-122"/>
                <a:cs typeface="Cambria" pitchFamily="34" charset="-120"/>
              </a:rPr>
              <a:t>Model 3 — LSTM</a:t>
            </a:r>
            <a:endParaRPr lang="en-US" sz="3000" dirty="0"/>
          </a:p>
        </p:txBody>
      </p:sp>
      <p:sp>
        <p:nvSpPr>
          <p:cNvPr id="8" name="Text 6"/>
          <p:cNvSpPr/>
          <p:nvPr/>
        </p:nvSpPr>
        <p:spPr>
          <a:xfrm>
            <a:off x="548640" y="932688"/>
            <a:ext cx="10515600" cy="365760"/>
          </a:xfrm>
          <a:prstGeom prst="rect">
            <a:avLst/>
          </a:prstGeom>
          <a:noFill/>
          <a:ln/>
        </p:spPr>
        <p:txBody>
          <a:bodyPr wrap="square" rtlCol="0" anchor="ctr"/>
          <a:lstStyle/>
          <a:p>
            <a:pPr indent="0" marL="0">
              <a:buNone/>
            </a:pPr>
            <a:r>
              <a:rPr lang="en-US" sz="1400" i="1" dirty="0">
                <a:solidFill>
                  <a:srgbClr val="5C6B7A"/>
                </a:solidFill>
                <a:latin typeface="Calibri" pitchFamily="34" charset="0"/>
                <a:ea typeface="Calibri" pitchFamily="34" charset="-122"/>
                <a:cs typeface="Calibri" pitchFamily="34" charset="-120"/>
              </a:rPr>
              <a:t>Best version: tuned architecture and lookback window</a:t>
            </a:r>
            <a:endParaRPr lang="en-US" sz="1400" dirty="0"/>
          </a:p>
        </p:txBody>
      </p:sp>
      <p:sp>
        <p:nvSpPr>
          <p:cNvPr id="9" name="Text 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C6B7A"/>
                </a:solidFill>
                <a:latin typeface="Calibri" pitchFamily="34" charset="0"/>
                <a:ea typeface="Calibri" pitchFamily="34" charset="-122"/>
                <a:cs typeface="Calibri" pitchFamily="34" charset="-120"/>
              </a:rPr>
              <a:t>BTC Volatility Prediction  |  Capstone</a:t>
            </a:r>
            <a:endParaRPr lang="en-US" sz="900" dirty="0"/>
          </a:p>
        </p:txBody>
      </p:sp>
      <p:sp>
        <p:nvSpPr>
          <p:cNvPr id="10" name="Text 8"/>
          <p:cNvSpPr/>
          <p:nvPr/>
        </p:nvSpPr>
        <p:spPr>
          <a:xfrm>
            <a:off x="11521440" y="6537960"/>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9</a:t>
            </a:r>
            <a:endParaRPr lang="en-US" sz="900" dirty="0"/>
          </a:p>
        </p:txBody>
      </p:sp>
      <p:sp>
        <p:nvSpPr>
          <p:cNvPr id="11" name="Shape 9"/>
          <p:cNvSpPr/>
          <p:nvPr/>
        </p:nvSpPr>
        <p:spPr>
          <a:xfrm>
            <a:off x="548640" y="1508760"/>
            <a:ext cx="5486400" cy="1207008"/>
          </a:xfrm>
          <a:prstGeom prst="roundRect">
            <a:avLst>
              <a:gd name="adj" fmla="val 4545"/>
            </a:avLst>
          </a:prstGeom>
          <a:solidFill>
            <a:srgbClr val="FFFFFF"/>
          </a:solidFill>
          <a:ln w="12700">
            <a:solidFill>
              <a:srgbClr val="CADCFC"/>
            </a:solidFill>
            <a:prstDash val="solid"/>
          </a:ln>
        </p:spPr>
      </p:sp>
      <p:sp>
        <p:nvSpPr>
          <p:cNvPr id="12" name="Text 10"/>
          <p:cNvSpPr/>
          <p:nvPr/>
        </p:nvSpPr>
        <p:spPr>
          <a:xfrm>
            <a:off x="777240" y="1600200"/>
            <a:ext cx="5029200" cy="292608"/>
          </a:xfrm>
          <a:prstGeom prst="rect">
            <a:avLst/>
          </a:prstGeom>
          <a:noFill/>
          <a:ln/>
        </p:spPr>
        <p:txBody>
          <a:bodyPr wrap="square" rtlCol="0" anchor="ctr"/>
          <a:lstStyle/>
          <a:p>
            <a:pPr indent="0" marL="0">
              <a:buNone/>
            </a:pPr>
            <a:r>
              <a:rPr lang="en-US" sz="1300" b="1" dirty="0">
                <a:solidFill>
                  <a:srgbClr val="1B4965"/>
                </a:solidFill>
                <a:latin typeface="Cambria" pitchFamily="34" charset="0"/>
                <a:ea typeface="Cambria" pitchFamily="34" charset="-122"/>
                <a:cs typeface="Cambria" pitchFamily="34" charset="-120"/>
              </a:rPr>
              <a:t>Base version</a:t>
            </a:r>
            <a:endParaRPr lang="en-US" sz="1300" dirty="0"/>
          </a:p>
        </p:txBody>
      </p:sp>
      <p:sp>
        <p:nvSpPr>
          <p:cNvPr id="13" name="Text 11"/>
          <p:cNvSpPr/>
          <p:nvPr/>
        </p:nvSpPr>
        <p:spPr>
          <a:xfrm>
            <a:off x="777240" y="1892808"/>
            <a:ext cx="5029200" cy="749808"/>
          </a:xfrm>
          <a:prstGeom prst="rect">
            <a:avLst/>
          </a:prstGeom>
          <a:noFill/>
          <a:ln/>
        </p:spPr>
        <p:txBody>
          <a:bodyPr wrap="square" rtlCol="0" anchor="t"/>
          <a:lstStyle/>
          <a:p>
            <a:pPr indent="0" marL="0">
              <a:lnSpc>
                <a:spcPct val="110000"/>
              </a:lnSpc>
              <a:buNone/>
            </a:pPr>
            <a:r>
              <a:rPr lang="en-US" sz="1150" dirty="0">
                <a:solidFill>
                  <a:srgbClr val="0D1B2A"/>
                </a:solidFill>
                <a:latin typeface="Calibri" pitchFamily="34" charset="0"/>
                <a:ea typeface="Calibri" pitchFamily="34" charset="-122"/>
                <a:cs typeface="Calibri" pitchFamily="34" charset="-120"/>
              </a:rPr>
              <a:t>Single LSTM layer, 50 units, no dropout, 30-hour lookback, default Adam optimiser. Reads a rolling window of past hours as a sequence rather than a flat row.</a:t>
            </a:r>
            <a:endParaRPr lang="en-US" sz="1150" dirty="0"/>
          </a:p>
        </p:txBody>
      </p:sp>
      <p:sp>
        <p:nvSpPr>
          <p:cNvPr id="14" name="Shape 12"/>
          <p:cNvSpPr/>
          <p:nvPr/>
        </p:nvSpPr>
        <p:spPr>
          <a:xfrm>
            <a:off x="548640" y="2834640"/>
            <a:ext cx="5486400" cy="1207008"/>
          </a:xfrm>
          <a:prstGeom prst="roundRect">
            <a:avLst>
              <a:gd name="adj" fmla="val 4545"/>
            </a:avLst>
          </a:prstGeom>
          <a:solidFill>
            <a:srgbClr val="FFFFFF"/>
          </a:solidFill>
          <a:ln w="12700">
            <a:solidFill>
              <a:srgbClr val="CADCFC"/>
            </a:solidFill>
            <a:prstDash val="solid"/>
          </a:ln>
        </p:spPr>
      </p:sp>
      <p:sp>
        <p:nvSpPr>
          <p:cNvPr id="15" name="Text 13"/>
          <p:cNvSpPr/>
          <p:nvPr/>
        </p:nvSpPr>
        <p:spPr>
          <a:xfrm>
            <a:off x="777240" y="2926080"/>
            <a:ext cx="5029200" cy="292608"/>
          </a:xfrm>
          <a:prstGeom prst="rect">
            <a:avLst/>
          </a:prstGeom>
          <a:noFill/>
          <a:ln/>
        </p:spPr>
        <p:txBody>
          <a:bodyPr wrap="square" rtlCol="0" anchor="ctr"/>
          <a:lstStyle/>
          <a:p>
            <a:pPr indent="0" marL="0">
              <a:buNone/>
            </a:pPr>
            <a:r>
              <a:rPr lang="en-US" sz="1300" b="1" dirty="0">
                <a:solidFill>
                  <a:srgbClr val="1B4965"/>
                </a:solidFill>
                <a:latin typeface="Cambria" pitchFamily="34" charset="0"/>
                <a:ea typeface="Cambria" pitchFamily="34" charset="-122"/>
                <a:cs typeface="Cambria" pitchFamily="34" charset="-120"/>
              </a:rPr>
              <a:t>Improvement: architecture search</a:t>
            </a:r>
            <a:endParaRPr lang="en-US" sz="1300" dirty="0"/>
          </a:p>
        </p:txBody>
      </p:sp>
      <p:sp>
        <p:nvSpPr>
          <p:cNvPr id="16" name="Text 14"/>
          <p:cNvSpPr/>
          <p:nvPr/>
        </p:nvSpPr>
        <p:spPr>
          <a:xfrm>
            <a:off x="777240" y="3218688"/>
            <a:ext cx="5029200" cy="749808"/>
          </a:xfrm>
          <a:prstGeom prst="rect">
            <a:avLst/>
          </a:prstGeom>
          <a:noFill/>
          <a:ln/>
        </p:spPr>
        <p:txBody>
          <a:bodyPr wrap="square" rtlCol="0" anchor="t"/>
          <a:lstStyle/>
          <a:p>
            <a:pPr indent="0" marL="0">
              <a:lnSpc>
                <a:spcPct val="110000"/>
              </a:lnSpc>
              <a:buNone/>
            </a:pPr>
            <a:r>
              <a:rPr lang="en-US" sz="1150" dirty="0">
                <a:solidFill>
                  <a:srgbClr val="0D1B2A"/>
                </a:solidFill>
                <a:latin typeface="Calibri" pitchFamily="34" charset="0"/>
                <a:ea typeface="Calibri" pitchFamily="34" charset="-122"/>
                <a:cs typeface="Calibri" pitchFamily="34" charset="-120"/>
              </a:rPr>
              <a:t>Searched units (32/50/64), dropout (0.1–0.3), and lookback (12/24/48/72 hours) on a validation slice carved from the training period only — the test set stayed untouched until the final fit.</a:t>
            </a:r>
            <a:endParaRPr lang="en-US" sz="1150" dirty="0"/>
          </a:p>
        </p:txBody>
      </p:sp>
      <p:sp>
        <p:nvSpPr>
          <p:cNvPr id="17" name="Shape 15"/>
          <p:cNvSpPr/>
          <p:nvPr/>
        </p:nvSpPr>
        <p:spPr>
          <a:xfrm>
            <a:off x="548640" y="4160520"/>
            <a:ext cx="5486400" cy="1207008"/>
          </a:xfrm>
          <a:prstGeom prst="roundRect">
            <a:avLst>
              <a:gd name="adj" fmla="val 4545"/>
            </a:avLst>
          </a:prstGeom>
          <a:solidFill>
            <a:srgbClr val="FFFFFF"/>
          </a:solidFill>
          <a:ln w="12700">
            <a:solidFill>
              <a:srgbClr val="CADCFC"/>
            </a:solidFill>
            <a:prstDash val="solid"/>
          </a:ln>
        </p:spPr>
      </p:sp>
      <p:sp>
        <p:nvSpPr>
          <p:cNvPr id="18" name="Text 16"/>
          <p:cNvSpPr/>
          <p:nvPr/>
        </p:nvSpPr>
        <p:spPr>
          <a:xfrm>
            <a:off x="777240" y="4251960"/>
            <a:ext cx="5029200" cy="292608"/>
          </a:xfrm>
          <a:prstGeom prst="rect">
            <a:avLst/>
          </a:prstGeom>
          <a:noFill/>
          <a:ln/>
        </p:spPr>
        <p:txBody>
          <a:bodyPr wrap="square" rtlCol="0" anchor="ctr"/>
          <a:lstStyle/>
          <a:p>
            <a:pPr indent="0" marL="0">
              <a:buNone/>
            </a:pPr>
            <a:r>
              <a:rPr lang="en-US" sz="1300" b="1" dirty="0">
                <a:solidFill>
                  <a:srgbClr val="1B4965"/>
                </a:solidFill>
                <a:latin typeface="Cambria" pitchFamily="34" charset="0"/>
                <a:ea typeface="Cambria" pitchFamily="34" charset="-122"/>
                <a:cs typeface="Cambria" pitchFamily="34" charset="-120"/>
              </a:rPr>
              <a:t>Why it's included</a:t>
            </a:r>
            <a:endParaRPr lang="en-US" sz="1300" dirty="0"/>
          </a:p>
        </p:txBody>
      </p:sp>
      <p:sp>
        <p:nvSpPr>
          <p:cNvPr id="19" name="Text 17"/>
          <p:cNvSpPr/>
          <p:nvPr/>
        </p:nvSpPr>
        <p:spPr>
          <a:xfrm>
            <a:off x="777240" y="4544568"/>
            <a:ext cx="5029200" cy="749808"/>
          </a:xfrm>
          <a:prstGeom prst="rect">
            <a:avLst/>
          </a:prstGeom>
          <a:noFill/>
          <a:ln/>
        </p:spPr>
        <p:txBody>
          <a:bodyPr wrap="square" rtlCol="0" anchor="t"/>
          <a:lstStyle/>
          <a:p>
            <a:pPr indent="0" marL="0">
              <a:lnSpc>
                <a:spcPct val="110000"/>
              </a:lnSpc>
              <a:buNone/>
            </a:pPr>
            <a:r>
              <a:rPr lang="en-US" sz="1150" dirty="0">
                <a:solidFill>
                  <a:srgbClr val="0D1B2A"/>
                </a:solidFill>
                <a:latin typeface="Calibri" pitchFamily="34" charset="0"/>
                <a:ea typeface="Calibri" pitchFamily="34" charset="-122"/>
                <a:cs typeface="Calibri" pitchFamily="34" charset="-120"/>
              </a:rPr>
              <a:t>GARCH and HAR both impose a fixed functional form. The LSTM can in principle discover nonlinear interactions they cannot express — directly testing whether the classical models leave structure on the table.</a:t>
            </a:r>
            <a:endParaRPr lang="en-US" sz="1150" dirty="0"/>
          </a:p>
        </p:txBody>
      </p:sp>
      <p:sp>
        <p:nvSpPr>
          <p:cNvPr id="20" name="Text 18"/>
          <p:cNvSpPr/>
          <p:nvPr/>
        </p:nvSpPr>
        <p:spPr>
          <a:xfrm>
            <a:off x="6309360" y="1508760"/>
            <a:ext cx="5303520" cy="320040"/>
          </a:xfrm>
          <a:prstGeom prst="rect">
            <a:avLst/>
          </a:prstGeom>
          <a:noFill/>
          <a:ln/>
        </p:spPr>
        <p:txBody>
          <a:bodyPr wrap="square" rtlCol="0" anchor="ctr"/>
          <a:lstStyle/>
          <a:p>
            <a:pPr indent="0" marL="0">
              <a:buNone/>
            </a:pPr>
            <a:r>
              <a:rPr lang="en-US" sz="1400" b="1" dirty="0">
                <a:solidFill>
                  <a:srgbClr val="0D1B2A"/>
                </a:solidFill>
                <a:latin typeface="Cambria" pitchFamily="34" charset="0"/>
                <a:ea typeface="Cambria" pitchFamily="34" charset="-122"/>
                <a:cs typeface="Cambria" pitchFamily="34" charset="-120"/>
              </a:rPr>
              <a:t>Performance vs. Base Version</a:t>
            </a:r>
            <a:endParaRPr lang="en-US" sz="1400" dirty="0"/>
          </a:p>
        </p:txBody>
      </p:sp>
      <p:sp>
        <p:nvSpPr>
          <p:cNvPr id="21" name="Shape 19"/>
          <p:cNvSpPr/>
          <p:nvPr/>
        </p:nvSpPr>
        <p:spPr>
          <a:xfrm>
            <a:off x="6309360" y="1901952"/>
            <a:ext cx="2286000" cy="384048"/>
          </a:xfrm>
          <a:prstGeom prst="rect">
            <a:avLst/>
          </a:prstGeom>
          <a:solidFill>
            <a:srgbClr val="0D1B2A"/>
          </a:solidFill>
          <a:ln w="12700">
            <a:solidFill>
              <a:srgbClr val="F7F8FA"/>
            </a:solidFill>
            <a:prstDash val="solid"/>
          </a:ln>
        </p:spPr>
      </p:sp>
      <p:sp>
        <p:nvSpPr>
          <p:cNvPr id="22" name="Text 20"/>
          <p:cNvSpPr/>
          <p:nvPr/>
        </p:nvSpPr>
        <p:spPr>
          <a:xfrm>
            <a:off x="6309360" y="1901952"/>
            <a:ext cx="2286000" cy="384048"/>
          </a:xfrm>
          <a:prstGeom prst="rect">
            <a:avLst/>
          </a:prstGeom>
          <a:noFill/>
          <a:ln/>
        </p:spPr>
        <p:txBody>
          <a:bodyPr wrap="square" rtlCol="0" anchor="ctr"/>
          <a:lstStyle/>
          <a:p>
            <a:pPr algn="ctr" indent="0" marL="0">
              <a:buNone/>
            </a:pPr>
            <a:r>
              <a:rPr lang="en-US" sz="1100" b="1" dirty="0">
                <a:solidFill>
                  <a:srgbClr val="F7931A"/>
                </a:solidFill>
                <a:latin typeface="Calibri" pitchFamily="34" charset="0"/>
                <a:ea typeface="Calibri" pitchFamily="34" charset="-122"/>
                <a:cs typeface="Calibri" pitchFamily="34" charset="-120"/>
              </a:rPr>
              <a:t>Version</a:t>
            </a:r>
            <a:endParaRPr lang="en-US" sz="1100" dirty="0"/>
          </a:p>
        </p:txBody>
      </p:sp>
      <p:sp>
        <p:nvSpPr>
          <p:cNvPr id="23" name="Shape 21"/>
          <p:cNvSpPr/>
          <p:nvPr/>
        </p:nvSpPr>
        <p:spPr>
          <a:xfrm>
            <a:off x="8595360" y="1901952"/>
            <a:ext cx="1051560" cy="384048"/>
          </a:xfrm>
          <a:prstGeom prst="rect">
            <a:avLst/>
          </a:prstGeom>
          <a:solidFill>
            <a:srgbClr val="0D1B2A"/>
          </a:solidFill>
          <a:ln w="12700">
            <a:solidFill>
              <a:srgbClr val="F7F8FA"/>
            </a:solidFill>
            <a:prstDash val="solid"/>
          </a:ln>
        </p:spPr>
      </p:sp>
      <p:sp>
        <p:nvSpPr>
          <p:cNvPr id="24" name="Text 22"/>
          <p:cNvSpPr/>
          <p:nvPr/>
        </p:nvSpPr>
        <p:spPr>
          <a:xfrm>
            <a:off x="8595360" y="1901952"/>
            <a:ext cx="1051560" cy="384048"/>
          </a:xfrm>
          <a:prstGeom prst="rect">
            <a:avLst/>
          </a:prstGeom>
          <a:noFill/>
          <a:ln/>
        </p:spPr>
        <p:txBody>
          <a:bodyPr wrap="square" rtlCol="0" anchor="ctr"/>
          <a:lstStyle/>
          <a:p>
            <a:pPr algn="ctr" indent="0" marL="0">
              <a:buNone/>
            </a:pPr>
            <a:r>
              <a:rPr lang="en-US" sz="1100" b="1" dirty="0">
                <a:solidFill>
                  <a:srgbClr val="F7931A"/>
                </a:solidFill>
                <a:latin typeface="Calibri" pitchFamily="34" charset="0"/>
                <a:ea typeface="Calibri" pitchFamily="34" charset="-122"/>
                <a:cs typeface="Calibri" pitchFamily="34" charset="-120"/>
              </a:rPr>
              <a:t>RMSE</a:t>
            </a:r>
            <a:endParaRPr lang="en-US" sz="1100" dirty="0"/>
          </a:p>
        </p:txBody>
      </p:sp>
      <p:sp>
        <p:nvSpPr>
          <p:cNvPr id="25" name="Shape 23"/>
          <p:cNvSpPr/>
          <p:nvPr/>
        </p:nvSpPr>
        <p:spPr>
          <a:xfrm>
            <a:off x="9646920" y="1901952"/>
            <a:ext cx="960120" cy="384048"/>
          </a:xfrm>
          <a:prstGeom prst="rect">
            <a:avLst/>
          </a:prstGeom>
          <a:solidFill>
            <a:srgbClr val="0D1B2A"/>
          </a:solidFill>
          <a:ln w="12700">
            <a:solidFill>
              <a:srgbClr val="F7F8FA"/>
            </a:solidFill>
            <a:prstDash val="solid"/>
          </a:ln>
        </p:spPr>
      </p:sp>
      <p:sp>
        <p:nvSpPr>
          <p:cNvPr id="26" name="Text 24"/>
          <p:cNvSpPr/>
          <p:nvPr/>
        </p:nvSpPr>
        <p:spPr>
          <a:xfrm>
            <a:off x="9646920" y="1901952"/>
            <a:ext cx="960120" cy="384048"/>
          </a:xfrm>
          <a:prstGeom prst="rect">
            <a:avLst/>
          </a:prstGeom>
          <a:noFill/>
          <a:ln/>
        </p:spPr>
        <p:txBody>
          <a:bodyPr wrap="square" rtlCol="0" anchor="ctr"/>
          <a:lstStyle/>
          <a:p>
            <a:pPr algn="ctr" indent="0" marL="0">
              <a:buNone/>
            </a:pPr>
            <a:r>
              <a:rPr lang="en-US" sz="1100" b="1" dirty="0">
                <a:solidFill>
                  <a:srgbClr val="F7931A"/>
                </a:solidFill>
                <a:latin typeface="Calibri" pitchFamily="34" charset="0"/>
                <a:ea typeface="Calibri" pitchFamily="34" charset="-122"/>
                <a:cs typeface="Calibri" pitchFamily="34" charset="-120"/>
              </a:rPr>
              <a:t>MAE</a:t>
            </a:r>
            <a:endParaRPr lang="en-US" sz="1100" dirty="0"/>
          </a:p>
        </p:txBody>
      </p:sp>
      <p:sp>
        <p:nvSpPr>
          <p:cNvPr id="27" name="Shape 25"/>
          <p:cNvSpPr/>
          <p:nvPr/>
        </p:nvSpPr>
        <p:spPr>
          <a:xfrm>
            <a:off x="10607040" y="1901952"/>
            <a:ext cx="1005840" cy="384048"/>
          </a:xfrm>
          <a:prstGeom prst="rect">
            <a:avLst/>
          </a:prstGeom>
          <a:solidFill>
            <a:srgbClr val="0D1B2A"/>
          </a:solidFill>
          <a:ln w="12700">
            <a:solidFill>
              <a:srgbClr val="F7F8FA"/>
            </a:solidFill>
            <a:prstDash val="solid"/>
          </a:ln>
        </p:spPr>
      </p:sp>
      <p:sp>
        <p:nvSpPr>
          <p:cNvPr id="28" name="Text 26"/>
          <p:cNvSpPr/>
          <p:nvPr/>
        </p:nvSpPr>
        <p:spPr>
          <a:xfrm>
            <a:off x="10607040" y="1901952"/>
            <a:ext cx="1005840" cy="384048"/>
          </a:xfrm>
          <a:prstGeom prst="rect">
            <a:avLst/>
          </a:prstGeom>
          <a:noFill/>
          <a:ln/>
        </p:spPr>
        <p:txBody>
          <a:bodyPr wrap="square" rtlCol="0" anchor="ctr"/>
          <a:lstStyle/>
          <a:p>
            <a:pPr algn="ctr" indent="0" marL="0">
              <a:buNone/>
            </a:pPr>
            <a:r>
              <a:rPr lang="en-US" sz="1100" b="1" dirty="0">
                <a:solidFill>
                  <a:srgbClr val="F7931A"/>
                </a:solidFill>
                <a:latin typeface="Calibri" pitchFamily="34" charset="0"/>
                <a:ea typeface="Calibri" pitchFamily="34" charset="-122"/>
                <a:cs typeface="Calibri" pitchFamily="34" charset="-120"/>
              </a:rPr>
              <a:t>R²</a:t>
            </a:r>
            <a:endParaRPr lang="en-US" sz="1100" dirty="0"/>
          </a:p>
        </p:txBody>
      </p:sp>
      <p:sp>
        <p:nvSpPr>
          <p:cNvPr id="29" name="Shape 27"/>
          <p:cNvSpPr/>
          <p:nvPr/>
        </p:nvSpPr>
        <p:spPr>
          <a:xfrm>
            <a:off x="6309360" y="2286000"/>
            <a:ext cx="2286000" cy="411480"/>
          </a:xfrm>
          <a:prstGeom prst="rect">
            <a:avLst/>
          </a:prstGeom>
          <a:solidFill>
            <a:srgbClr val="FFFFFF"/>
          </a:solidFill>
          <a:ln w="12700">
            <a:solidFill>
              <a:srgbClr val="CADCFC"/>
            </a:solidFill>
            <a:prstDash val="solid"/>
          </a:ln>
        </p:spPr>
      </p:sp>
      <p:sp>
        <p:nvSpPr>
          <p:cNvPr id="30" name="Text 28"/>
          <p:cNvSpPr/>
          <p:nvPr/>
        </p:nvSpPr>
        <p:spPr>
          <a:xfrm>
            <a:off x="6309360" y="2286000"/>
            <a:ext cx="2286000" cy="411480"/>
          </a:xfrm>
          <a:prstGeom prst="rect">
            <a:avLst/>
          </a:prstGeom>
          <a:noFill/>
          <a:ln/>
        </p:spPr>
        <p:txBody>
          <a:bodyPr wrap="square" lIns="73152" tIns="73152" rIns="73152" bIns="73152" rtlCol="0" anchor="ctr"/>
          <a:lstStyle/>
          <a:p>
            <a:pPr algn="l" indent="0" marL="0">
              <a:buNone/>
            </a:pPr>
            <a:r>
              <a:rPr lang="en-US" sz="1050" b="1" dirty="0">
                <a:solidFill>
                  <a:srgbClr val="0D1B2A"/>
                </a:solidFill>
                <a:latin typeface="Calibri" pitchFamily="34" charset="0"/>
                <a:ea typeface="Calibri" pitchFamily="34" charset="-122"/>
                <a:cs typeface="Calibri" pitchFamily="34" charset="-120"/>
              </a:rPr>
              <a:t>LSTM — base</a:t>
            </a:r>
            <a:endParaRPr lang="en-US" sz="1050" dirty="0"/>
          </a:p>
        </p:txBody>
      </p:sp>
      <p:sp>
        <p:nvSpPr>
          <p:cNvPr id="31" name="Shape 29"/>
          <p:cNvSpPr/>
          <p:nvPr/>
        </p:nvSpPr>
        <p:spPr>
          <a:xfrm>
            <a:off x="8595360" y="2286000"/>
            <a:ext cx="1051560" cy="411480"/>
          </a:xfrm>
          <a:prstGeom prst="rect">
            <a:avLst/>
          </a:prstGeom>
          <a:solidFill>
            <a:srgbClr val="FFFFFF"/>
          </a:solidFill>
          <a:ln w="12700">
            <a:solidFill>
              <a:srgbClr val="CADCFC"/>
            </a:solidFill>
            <a:prstDash val="solid"/>
          </a:ln>
        </p:spPr>
      </p:sp>
      <p:sp>
        <p:nvSpPr>
          <p:cNvPr id="32" name="Text 30"/>
          <p:cNvSpPr/>
          <p:nvPr/>
        </p:nvSpPr>
        <p:spPr>
          <a:xfrm>
            <a:off x="8595360" y="2286000"/>
            <a:ext cx="105156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33" name="Shape 31"/>
          <p:cNvSpPr/>
          <p:nvPr/>
        </p:nvSpPr>
        <p:spPr>
          <a:xfrm>
            <a:off x="9646920" y="2286000"/>
            <a:ext cx="960120" cy="411480"/>
          </a:xfrm>
          <a:prstGeom prst="rect">
            <a:avLst/>
          </a:prstGeom>
          <a:solidFill>
            <a:srgbClr val="FFFFFF"/>
          </a:solidFill>
          <a:ln w="12700">
            <a:solidFill>
              <a:srgbClr val="CADCFC"/>
            </a:solidFill>
            <a:prstDash val="solid"/>
          </a:ln>
        </p:spPr>
      </p:sp>
      <p:sp>
        <p:nvSpPr>
          <p:cNvPr id="34" name="Text 32"/>
          <p:cNvSpPr/>
          <p:nvPr/>
        </p:nvSpPr>
        <p:spPr>
          <a:xfrm>
            <a:off x="9646920" y="2286000"/>
            <a:ext cx="96012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35" name="Shape 33"/>
          <p:cNvSpPr/>
          <p:nvPr/>
        </p:nvSpPr>
        <p:spPr>
          <a:xfrm>
            <a:off x="10607040" y="2286000"/>
            <a:ext cx="1005840" cy="411480"/>
          </a:xfrm>
          <a:prstGeom prst="rect">
            <a:avLst/>
          </a:prstGeom>
          <a:solidFill>
            <a:srgbClr val="FFFFFF"/>
          </a:solidFill>
          <a:ln w="12700">
            <a:solidFill>
              <a:srgbClr val="CADCFC"/>
            </a:solidFill>
            <a:prstDash val="solid"/>
          </a:ln>
        </p:spPr>
      </p:sp>
      <p:sp>
        <p:nvSpPr>
          <p:cNvPr id="36" name="Text 34"/>
          <p:cNvSpPr/>
          <p:nvPr/>
        </p:nvSpPr>
        <p:spPr>
          <a:xfrm>
            <a:off x="10607040" y="2286000"/>
            <a:ext cx="100584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37" name="Shape 35"/>
          <p:cNvSpPr/>
          <p:nvPr/>
        </p:nvSpPr>
        <p:spPr>
          <a:xfrm>
            <a:off x="6309360" y="2697480"/>
            <a:ext cx="2286000" cy="411480"/>
          </a:xfrm>
          <a:prstGeom prst="rect">
            <a:avLst/>
          </a:prstGeom>
          <a:solidFill>
            <a:srgbClr val="EEF1F5"/>
          </a:solidFill>
          <a:ln w="12700">
            <a:solidFill>
              <a:srgbClr val="CADCFC"/>
            </a:solidFill>
            <a:prstDash val="solid"/>
          </a:ln>
        </p:spPr>
      </p:sp>
      <p:sp>
        <p:nvSpPr>
          <p:cNvPr id="38" name="Text 36"/>
          <p:cNvSpPr/>
          <p:nvPr/>
        </p:nvSpPr>
        <p:spPr>
          <a:xfrm>
            <a:off x="6309360" y="2697480"/>
            <a:ext cx="2286000" cy="411480"/>
          </a:xfrm>
          <a:prstGeom prst="rect">
            <a:avLst/>
          </a:prstGeom>
          <a:noFill/>
          <a:ln/>
        </p:spPr>
        <p:txBody>
          <a:bodyPr wrap="square" lIns="73152" tIns="73152" rIns="73152" bIns="73152" rtlCol="0" anchor="ctr"/>
          <a:lstStyle/>
          <a:p>
            <a:pPr algn="l" indent="0" marL="0">
              <a:buNone/>
            </a:pPr>
            <a:r>
              <a:rPr lang="en-US" sz="1050" b="1" dirty="0">
                <a:solidFill>
                  <a:srgbClr val="0D1B2A"/>
                </a:solidFill>
                <a:latin typeface="Calibri" pitchFamily="34" charset="0"/>
                <a:ea typeface="Calibri" pitchFamily="34" charset="-122"/>
                <a:cs typeface="Calibri" pitchFamily="34" charset="-120"/>
              </a:rPr>
              <a:t>LSTM — tuned</a:t>
            </a:r>
            <a:endParaRPr lang="en-US" sz="1050" dirty="0"/>
          </a:p>
        </p:txBody>
      </p:sp>
      <p:sp>
        <p:nvSpPr>
          <p:cNvPr id="39" name="Shape 37"/>
          <p:cNvSpPr/>
          <p:nvPr/>
        </p:nvSpPr>
        <p:spPr>
          <a:xfrm>
            <a:off x="8595360" y="2697480"/>
            <a:ext cx="1051560" cy="411480"/>
          </a:xfrm>
          <a:prstGeom prst="rect">
            <a:avLst/>
          </a:prstGeom>
          <a:solidFill>
            <a:srgbClr val="EEF1F5"/>
          </a:solidFill>
          <a:ln w="12700">
            <a:solidFill>
              <a:srgbClr val="CADCFC"/>
            </a:solidFill>
            <a:prstDash val="solid"/>
          </a:ln>
        </p:spPr>
      </p:sp>
      <p:sp>
        <p:nvSpPr>
          <p:cNvPr id="40" name="Text 38"/>
          <p:cNvSpPr/>
          <p:nvPr/>
        </p:nvSpPr>
        <p:spPr>
          <a:xfrm>
            <a:off x="8595360" y="2697480"/>
            <a:ext cx="105156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41" name="Shape 39"/>
          <p:cNvSpPr/>
          <p:nvPr/>
        </p:nvSpPr>
        <p:spPr>
          <a:xfrm>
            <a:off x="9646920" y="2697480"/>
            <a:ext cx="960120" cy="411480"/>
          </a:xfrm>
          <a:prstGeom prst="rect">
            <a:avLst/>
          </a:prstGeom>
          <a:solidFill>
            <a:srgbClr val="EEF1F5"/>
          </a:solidFill>
          <a:ln w="12700">
            <a:solidFill>
              <a:srgbClr val="CADCFC"/>
            </a:solidFill>
            <a:prstDash val="solid"/>
          </a:ln>
        </p:spPr>
      </p:sp>
      <p:sp>
        <p:nvSpPr>
          <p:cNvPr id="42" name="Text 40"/>
          <p:cNvSpPr/>
          <p:nvPr/>
        </p:nvSpPr>
        <p:spPr>
          <a:xfrm>
            <a:off x="9646920" y="2697480"/>
            <a:ext cx="96012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43" name="Shape 41"/>
          <p:cNvSpPr/>
          <p:nvPr/>
        </p:nvSpPr>
        <p:spPr>
          <a:xfrm>
            <a:off x="10607040" y="2697480"/>
            <a:ext cx="1005840" cy="411480"/>
          </a:xfrm>
          <a:prstGeom prst="rect">
            <a:avLst/>
          </a:prstGeom>
          <a:solidFill>
            <a:srgbClr val="EEF1F5"/>
          </a:solidFill>
          <a:ln w="12700">
            <a:solidFill>
              <a:srgbClr val="CADCFC"/>
            </a:solidFill>
            <a:prstDash val="solid"/>
          </a:ln>
        </p:spPr>
      </p:sp>
      <p:sp>
        <p:nvSpPr>
          <p:cNvPr id="44" name="Text 42"/>
          <p:cNvSpPr/>
          <p:nvPr/>
        </p:nvSpPr>
        <p:spPr>
          <a:xfrm>
            <a:off x="10607040" y="2697480"/>
            <a:ext cx="1005840" cy="411480"/>
          </a:xfrm>
          <a:prstGeom prst="rect">
            <a:avLst/>
          </a:prstGeom>
          <a:noFill/>
          <a:ln/>
        </p:spPr>
        <p:txBody>
          <a:bodyPr wrap="square" lIns="0" tIns="0" rIns="0" bIns="0" rtlCol="0" anchor="ctr"/>
          <a:lstStyle/>
          <a:p>
            <a:pPr algn="ctr" indent="0" marL="0">
              <a:buNone/>
            </a:pPr>
            <a:r>
              <a:rPr lang="en-US" sz="1050" dirty="0">
                <a:solidFill>
                  <a:srgbClr val="0D1B2A"/>
                </a:solidFill>
                <a:latin typeface="Calibri" pitchFamily="34" charset="0"/>
                <a:ea typeface="Calibri" pitchFamily="34" charset="-122"/>
                <a:cs typeface="Calibri" pitchFamily="34" charset="-120"/>
              </a:rPr>
              <a:t>—</a:t>
            </a:r>
            <a:endParaRPr lang="en-US" sz="1050" dirty="0"/>
          </a:p>
        </p:txBody>
      </p:sp>
      <p:sp>
        <p:nvSpPr>
          <p:cNvPr id="45" name="Text 43"/>
          <p:cNvSpPr/>
          <p:nvPr/>
        </p:nvSpPr>
        <p:spPr>
          <a:xfrm>
            <a:off x="6309360" y="3182112"/>
            <a:ext cx="5303520" cy="274320"/>
          </a:xfrm>
          <a:prstGeom prst="rect">
            <a:avLst/>
          </a:prstGeom>
          <a:noFill/>
          <a:ln/>
        </p:spPr>
        <p:txBody>
          <a:bodyPr wrap="square" rtlCol="0" anchor="ctr"/>
          <a:lstStyle/>
          <a:p>
            <a:pPr indent="0" marL="0">
              <a:buNone/>
            </a:pPr>
            <a:r>
              <a:rPr lang="en-US" sz="900" i="1" dirty="0">
                <a:solidFill>
                  <a:srgbClr val="5C6B7A"/>
                </a:solidFill>
                <a:latin typeface="Calibri" pitchFamily="34" charset="0"/>
                <a:ea typeface="Calibri" pitchFamily="34" charset="-122"/>
                <a:cs typeface="Calibri" pitchFamily="34" charset="-120"/>
              </a:rPr>
              <a:t>Fill from the notebook's comparison table after running.</a:t>
            </a:r>
            <a:endParaRPr lang="en-US" sz="900" dirty="0"/>
          </a:p>
        </p:txBody>
      </p:sp>
      <p:sp>
        <p:nvSpPr>
          <p:cNvPr id="46" name="Shape 44"/>
          <p:cNvSpPr/>
          <p:nvPr/>
        </p:nvSpPr>
        <p:spPr>
          <a:xfrm>
            <a:off x="6309360" y="3520440"/>
            <a:ext cx="5303520" cy="1417320"/>
          </a:xfrm>
          <a:prstGeom prst="roundRect">
            <a:avLst>
              <a:gd name="adj" fmla="val 3871"/>
            </a:avLst>
          </a:prstGeom>
          <a:solidFill>
            <a:srgbClr val="FFFFFF"/>
          </a:solidFill>
          <a:ln w="12700">
            <a:solidFill>
              <a:srgbClr val="CADCFC"/>
            </a:solidFill>
            <a:prstDash val="solid"/>
          </a:ln>
        </p:spPr>
      </p:sp>
      <p:sp>
        <p:nvSpPr>
          <p:cNvPr id="47" name="Text 45"/>
          <p:cNvSpPr/>
          <p:nvPr/>
        </p:nvSpPr>
        <p:spPr>
          <a:xfrm>
            <a:off x="6510528" y="3611880"/>
            <a:ext cx="4901184" cy="274320"/>
          </a:xfrm>
          <a:prstGeom prst="rect">
            <a:avLst/>
          </a:prstGeom>
          <a:noFill/>
          <a:ln/>
        </p:spPr>
        <p:txBody>
          <a:bodyPr wrap="square" rtlCol="0" anchor="ctr"/>
          <a:lstStyle/>
          <a:p>
            <a:pPr indent="0" marL="0">
              <a:buNone/>
            </a:pPr>
            <a:r>
              <a:rPr lang="en-US" sz="1200" b="1" dirty="0">
                <a:solidFill>
                  <a:srgbClr val="1B4965"/>
                </a:solidFill>
                <a:latin typeface="Cambria" pitchFamily="34" charset="0"/>
                <a:ea typeface="Cambria" pitchFamily="34" charset="-122"/>
                <a:cs typeface="Cambria" pitchFamily="34" charset="-120"/>
              </a:rPr>
              <a:t>What drives the model</a:t>
            </a:r>
            <a:endParaRPr lang="en-US" sz="1200" dirty="0"/>
          </a:p>
        </p:txBody>
      </p:sp>
      <p:sp>
        <p:nvSpPr>
          <p:cNvPr id="48" name="Text 46"/>
          <p:cNvSpPr/>
          <p:nvPr/>
        </p:nvSpPr>
        <p:spPr>
          <a:xfrm>
            <a:off x="6510528" y="3886200"/>
            <a:ext cx="4901184" cy="960120"/>
          </a:xfrm>
          <a:prstGeom prst="rect">
            <a:avLst/>
          </a:prstGeom>
          <a:noFill/>
          <a:ln/>
        </p:spPr>
        <p:txBody>
          <a:bodyPr wrap="square" rtlCol="0" anchor="t"/>
          <a:lstStyle/>
          <a:p>
            <a:pPr indent="0" marL="0">
              <a:lnSpc>
                <a:spcPct val="110000"/>
              </a:lnSpc>
              <a:buNone/>
            </a:pPr>
            <a:r>
              <a:rPr lang="en-US" sz="1050" dirty="0">
                <a:solidFill>
                  <a:srgbClr val="0D1B2A"/>
                </a:solidFill>
                <a:latin typeface="Calibri" pitchFamily="34" charset="0"/>
                <a:ea typeface="Calibri" pitchFamily="34" charset="-122"/>
                <a:cs typeface="Calibri" pitchFamily="34" charset="-120"/>
              </a:rPr>
              <a:t>Trade-off stated honestly: the LSTM forfeits interpretability (thousands of opaque weights vs. GARCH's meaningful α, β) and is the most prone to overfitting a target this noisy.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10972800" y="365760"/>
            <a:ext cx="731520" cy="731520"/>
          </a:xfrm>
          <a:prstGeom prst="ellipse">
            <a:avLst/>
          </a:prstGeom>
          <a:solidFill>
            <a:srgbClr val="0D1B2A"/>
          </a:solidFill>
          <a:ln/>
        </p:spPr>
      </p:sp>
      <p:sp>
        <p:nvSpPr>
          <p:cNvPr id="3" name="Shape 1"/>
          <p:cNvSpPr/>
          <p:nvPr/>
        </p:nvSpPr>
        <p:spPr>
          <a:xfrm flipV="1">
            <a:off x="11133734" y="588142"/>
            <a:ext cx="122895" cy="204826"/>
          </a:xfrm>
          <a:prstGeom prst="line">
            <a:avLst/>
          </a:prstGeom>
          <a:noFill/>
          <a:ln w="25400">
            <a:solidFill>
              <a:srgbClr val="F7931A"/>
            </a:solidFill>
            <a:prstDash val="solid"/>
          </a:ln>
        </p:spPr>
      </p:sp>
      <p:sp>
        <p:nvSpPr>
          <p:cNvPr id="4" name="Shape 2"/>
          <p:cNvSpPr/>
          <p:nvPr/>
        </p:nvSpPr>
        <p:spPr>
          <a:xfrm>
            <a:off x="11256630" y="588142"/>
            <a:ext cx="81930" cy="245791"/>
          </a:xfrm>
          <a:prstGeom prst="line">
            <a:avLst/>
          </a:prstGeom>
          <a:noFill/>
          <a:ln w="25400">
            <a:solidFill>
              <a:srgbClr val="F7931A"/>
            </a:solidFill>
            <a:prstDash val="solid"/>
          </a:ln>
        </p:spPr>
      </p:sp>
      <p:sp>
        <p:nvSpPr>
          <p:cNvPr id="5" name="Shape 3"/>
          <p:cNvSpPr/>
          <p:nvPr/>
        </p:nvSpPr>
        <p:spPr>
          <a:xfrm flipV="1">
            <a:off x="11338560" y="526694"/>
            <a:ext cx="102413" cy="307238"/>
          </a:xfrm>
          <a:prstGeom prst="line">
            <a:avLst/>
          </a:prstGeom>
          <a:noFill/>
          <a:ln w="25400">
            <a:solidFill>
              <a:srgbClr val="F7931A"/>
            </a:solidFill>
            <a:prstDash val="solid"/>
          </a:ln>
        </p:spPr>
      </p:sp>
      <p:sp>
        <p:nvSpPr>
          <p:cNvPr id="6" name="Shape 4"/>
          <p:cNvSpPr/>
          <p:nvPr/>
        </p:nvSpPr>
        <p:spPr>
          <a:xfrm>
            <a:off x="11440973" y="526694"/>
            <a:ext cx="102413" cy="184343"/>
          </a:xfrm>
          <a:prstGeom prst="line">
            <a:avLst/>
          </a:prstGeom>
          <a:noFill/>
          <a:ln w="25400">
            <a:solidFill>
              <a:srgbClr val="F7931A"/>
            </a:solidFill>
            <a:prstDash val="solid"/>
          </a:ln>
        </p:spPr>
      </p:sp>
      <p:sp>
        <p:nvSpPr>
          <p:cNvPr id="7" name="Text 5"/>
          <p:cNvSpPr/>
          <p:nvPr/>
        </p:nvSpPr>
        <p:spPr>
          <a:xfrm>
            <a:off x="548640" y="365760"/>
            <a:ext cx="10058400" cy="640080"/>
          </a:xfrm>
          <a:prstGeom prst="rect">
            <a:avLst/>
          </a:prstGeom>
          <a:noFill/>
          <a:ln/>
        </p:spPr>
        <p:txBody>
          <a:bodyPr wrap="square" rtlCol="0" anchor="ctr"/>
          <a:lstStyle/>
          <a:p>
            <a:pPr indent="0" marL="0">
              <a:buNone/>
            </a:pPr>
            <a:r>
              <a:rPr lang="en-US" sz="3000" b="1" dirty="0">
                <a:solidFill>
                  <a:srgbClr val="0D1B2A"/>
                </a:solidFill>
                <a:latin typeface="Cambria" pitchFamily="34" charset="0"/>
                <a:ea typeface="Cambria" pitchFamily="34" charset="-122"/>
                <a:cs typeface="Cambria" pitchFamily="34" charset="-120"/>
              </a:rPr>
              <a:t>Model Comparison</a:t>
            </a:r>
            <a:endParaRPr lang="en-US" sz="3000" dirty="0"/>
          </a:p>
        </p:txBody>
      </p:sp>
      <p:sp>
        <p:nvSpPr>
          <p:cNvPr id="8" name="Text 6"/>
          <p:cNvSpPr/>
          <p:nvPr/>
        </p:nvSpPr>
        <p:spPr>
          <a:xfrm>
            <a:off x="548640" y="932688"/>
            <a:ext cx="10515600" cy="365760"/>
          </a:xfrm>
          <a:prstGeom prst="rect">
            <a:avLst/>
          </a:prstGeom>
          <a:noFill/>
          <a:ln/>
        </p:spPr>
        <p:txBody>
          <a:bodyPr wrap="square" rtlCol="0" anchor="ctr"/>
          <a:lstStyle/>
          <a:p>
            <a:pPr indent="0" marL="0">
              <a:buNone/>
            </a:pPr>
            <a:r>
              <a:rPr lang="en-US" sz="1400" i="1" dirty="0">
                <a:solidFill>
                  <a:srgbClr val="5C6B7A"/>
                </a:solidFill>
                <a:latin typeface="Calibri" pitchFamily="34" charset="0"/>
                <a:ea typeface="Calibri" pitchFamily="34" charset="-122"/>
                <a:cs typeface="Calibri" pitchFamily="34" charset="-120"/>
              </a:rPr>
              <a:t>All models scored on identical held-out data</a:t>
            </a:r>
            <a:endParaRPr lang="en-US" sz="1400" dirty="0"/>
          </a:p>
        </p:txBody>
      </p:sp>
      <p:sp>
        <p:nvSpPr>
          <p:cNvPr id="9" name="Text 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C6B7A"/>
                </a:solidFill>
                <a:latin typeface="Calibri" pitchFamily="34" charset="0"/>
                <a:ea typeface="Calibri" pitchFamily="34" charset="-122"/>
                <a:cs typeface="Calibri" pitchFamily="34" charset="-120"/>
              </a:rPr>
              <a:t>BTC Volatility Prediction  |  Capstone</a:t>
            </a:r>
            <a:endParaRPr lang="en-US" sz="900" dirty="0"/>
          </a:p>
        </p:txBody>
      </p:sp>
      <p:sp>
        <p:nvSpPr>
          <p:cNvPr id="10" name="Text 8"/>
          <p:cNvSpPr/>
          <p:nvPr/>
        </p:nvSpPr>
        <p:spPr>
          <a:xfrm>
            <a:off x="11521440" y="6537960"/>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10</a:t>
            </a:r>
            <a:endParaRPr lang="en-US" sz="900" dirty="0"/>
          </a:p>
        </p:txBody>
      </p:sp>
      <p:sp>
        <p:nvSpPr>
          <p:cNvPr id="11" name="Shape 9"/>
          <p:cNvSpPr/>
          <p:nvPr/>
        </p:nvSpPr>
        <p:spPr>
          <a:xfrm>
            <a:off x="548640" y="1554480"/>
            <a:ext cx="3474720" cy="457200"/>
          </a:xfrm>
          <a:prstGeom prst="rect">
            <a:avLst/>
          </a:prstGeom>
          <a:solidFill>
            <a:srgbClr val="0D1B2A"/>
          </a:solidFill>
          <a:ln w="12700">
            <a:solidFill>
              <a:srgbClr val="F7F8FA"/>
            </a:solidFill>
            <a:prstDash val="solid"/>
          </a:ln>
        </p:spPr>
      </p:sp>
      <p:sp>
        <p:nvSpPr>
          <p:cNvPr id="12" name="Text 10"/>
          <p:cNvSpPr/>
          <p:nvPr/>
        </p:nvSpPr>
        <p:spPr>
          <a:xfrm>
            <a:off x="548640" y="1554480"/>
            <a:ext cx="3474720" cy="457200"/>
          </a:xfrm>
          <a:prstGeom prst="rect">
            <a:avLst/>
          </a:prstGeom>
          <a:noFill/>
          <a:ln/>
        </p:spPr>
        <p:txBody>
          <a:bodyPr wrap="square" rtlCol="0" anchor="ctr"/>
          <a:lstStyle/>
          <a:p>
            <a:pPr algn="ctr" indent="0" marL="0">
              <a:buNone/>
            </a:pPr>
            <a:r>
              <a:rPr lang="en-US" sz="1200" b="1" dirty="0">
                <a:solidFill>
                  <a:srgbClr val="F7931A"/>
                </a:solidFill>
                <a:latin typeface="Calibri" pitchFamily="34" charset="0"/>
                <a:ea typeface="Calibri" pitchFamily="34" charset="-122"/>
                <a:cs typeface="Calibri" pitchFamily="34" charset="-120"/>
              </a:rPr>
              <a:t>Model</a:t>
            </a:r>
            <a:endParaRPr lang="en-US" sz="1200" dirty="0"/>
          </a:p>
        </p:txBody>
      </p:sp>
      <p:sp>
        <p:nvSpPr>
          <p:cNvPr id="13" name="Shape 11"/>
          <p:cNvSpPr/>
          <p:nvPr/>
        </p:nvSpPr>
        <p:spPr>
          <a:xfrm>
            <a:off x="4023360" y="1554480"/>
            <a:ext cx="1463040" cy="457200"/>
          </a:xfrm>
          <a:prstGeom prst="rect">
            <a:avLst/>
          </a:prstGeom>
          <a:solidFill>
            <a:srgbClr val="0D1B2A"/>
          </a:solidFill>
          <a:ln w="12700">
            <a:solidFill>
              <a:srgbClr val="F7F8FA"/>
            </a:solidFill>
            <a:prstDash val="solid"/>
          </a:ln>
        </p:spPr>
      </p:sp>
      <p:sp>
        <p:nvSpPr>
          <p:cNvPr id="14" name="Text 12"/>
          <p:cNvSpPr/>
          <p:nvPr/>
        </p:nvSpPr>
        <p:spPr>
          <a:xfrm>
            <a:off x="4023360" y="1554480"/>
            <a:ext cx="1463040" cy="457200"/>
          </a:xfrm>
          <a:prstGeom prst="rect">
            <a:avLst/>
          </a:prstGeom>
          <a:noFill/>
          <a:ln/>
        </p:spPr>
        <p:txBody>
          <a:bodyPr wrap="square" rtlCol="0" anchor="ctr"/>
          <a:lstStyle/>
          <a:p>
            <a:pPr algn="ctr" indent="0" marL="0">
              <a:buNone/>
            </a:pPr>
            <a:r>
              <a:rPr lang="en-US" sz="1200" b="1" dirty="0">
                <a:solidFill>
                  <a:srgbClr val="F7931A"/>
                </a:solidFill>
                <a:latin typeface="Calibri" pitchFamily="34" charset="0"/>
                <a:ea typeface="Calibri" pitchFamily="34" charset="-122"/>
                <a:cs typeface="Calibri" pitchFamily="34" charset="-120"/>
              </a:rPr>
              <a:t>RMSE</a:t>
            </a:r>
            <a:endParaRPr lang="en-US" sz="1200" dirty="0"/>
          </a:p>
        </p:txBody>
      </p:sp>
      <p:sp>
        <p:nvSpPr>
          <p:cNvPr id="15" name="Shape 13"/>
          <p:cNvSpPr/>
          <p:nvPr/>
        </p:nvSpPr>
        <p:spPr>
          <a:xfrm>
            <a:off x="5486400" y="1554480"/>
            <a:ext cx="1463040" cy="457200"/>
          </a:xfrm>
          <a:prstGeom prst="rect">
            <a:avLst/>
          </a:prstGeom>
          <a:solidFill>
            <a:srgbClr val="0D1B2A"/>
          </a:solidFill>
          <a:ln w="12700">
            <a:solidFill>
              <a:srgbClr val="F7F8FA"/>
            </a:solidFill>
            <a:prstDash val="solid"/>
          </a:ln>
        </p:spPr>
      </p:sp>
      <p:sp>
        <p:nvSpPr>
          <p:cNvPr id="16" name="Text 14"/>
          <p:cNvSpPr/>
          <p:nvPr/>
        </p:nvSpPr>
        <p:spPr>
          <a:xfrm>
            <a:off x="5486400" y="1554480"/>
            <a:ext cx="1463040" cy="457200"/>
          </a:xfrm>
          <a:prstGeom prst="rect">
            <a:avLst/>
          </a:prstGeom>
          <a:noFill/>
          <a:ln/>
        </p:spPr>
        <p:txBody>
          <a:bodyPr wrap="square" rtlCol="0" anchor="ctr"/>
          <a:lstStyle/>
          <a:p>
            <a:pPr algn="ctr" indent="0" marL="0">
              <a:buNone/>
            </a:pPr>
            <a:r>
              <a:rPr lang="en-US" sz="1200" b="1" dirty="0">
                <a:solidFill>
                  <a:srgbClr val="F7931A"/>
                </a:solidFill>
                <a:latin typeface="Calibri" pitchFamily="34" charset="0"/>
                <a:ea typeface="Calibri" pitchFamily="34" charset="-122"/>
                <a:cs typeface="Calibri" pitchFamily="34" charset="-120"/>
              </a:rPr>
              <a:t>MAE</a:t>
            </a:r>
            <a:endParaRPr lang="en-US" sz="1200" dirty="0"/>
          </a:p>
        </p:txBody>
      </p:sp>
      <p:sp>
        <p:nvSpPr>
          <p:cNvPr id="17" name="Shape 15"/>
          <p:cNvSpPr/>
          <p:nvPr/>
        </p:nvSpPr>
        <p:spPr>
          <a:xfrm>
            <a:off x="6949440" y="1554480"/>
            <a:ext cx="1463040" cy="457200"/>
          </a:xfrm>
          <a:prstGeom prst="rect">
            <a:avLst/>
          </a:prstGeom>
          <a:solidFill>
            <a:srgbClr val="0D1B2A"/>
          </a:solidFill>
          <a:ln w="12700">
            <a:solidFill>
              <a:srgbClr val="F7F8FA"/>
            </a:solidFill>
            <a:prstDash val="solid"/>
          </a:ln>
        </p:spPr>
      </p:sp>
      <p:sp>
        <p:nvSpPr>
          <p:cNvPr id="18" name="Text 16"/>
          <p:cNvSpPr/>
          <p:nvPr/>
        </p:nvSpPr>
        <p:spPr>
          <a:xfrm>
            <a:off x="6949440" y="1554480"/>
            <a:ext cx="1463040" cy="457200"/>
          </a:xfrm>
          <a:prstGeom prst="rect">
            <a:avLst/>
          </a:prstGeom>
          <a:noFill/>
          <a:ln/>
        </p:spPr>
        <p:txBody>
          <a:bodyPr wrap="square" rtlCol="0" anchor="ctr"/>
          <a:lstStyle/>
          <a:p>
            <a:pPr algn="ctr" indent="0" marL="0">
              <a:buNone/>
            </a:pPr>
            <a:r>
              <a:rPr lang="en-US" sz="1200" b="1" dirty="0">
                <a:solidFill>
                  <a:srgbClr val="F7931A"/>
                </a:solidFill>
                <a:latin typeface="Calibri" pitchFamily="34" charset="0"/>
                <a:ea typeface="Calibri" pitchFamily="34" charset="-122"/>
                <a:cs typeface="Calibri" pitchFamily="34" charset="-120"/>
              </a:rPr>
              <a:t>R²</a:t>
            </a:r>
            <a:endParaRPr lang="en-US" sz="1200" dirty="0"/>
          </a:p>
        </p:txBody>
      </p:sp>
      <p:sp>
        <p:nvSpPr>
          <p:cNvPr id="19" name="Shape 17"/>
          <p:cNvSpPr/>
          <p:nvPr/>
        </p:nvSpPr>
        <p:spPr>
          <a:xfrm>
            <a:off x="8412480" y="1554480"/>
            <a:ext cx="3200400" cy="457200"/>
          </a:xfrm>
          <a:prstGeom prst="rect">
            <a:avLst/>
          </a:prstGeom>
          <a:solidFill>
            <a:srgbClr val="0D1B2A"/>
          </a:solidFill>
          <a:ln w="12700">
            <a:solidFill>
              <a:srgbClr val="F7F8FA"/>
            </a:solidFill>
            <a:prstDash val="solid"/>
          </a:ln>
        </p:spPr>
      </p:sp>
      <p:sp>
        <p:nvSpPr>
          <p:cNvPr id="20" name="Text 18"/>
          <p:cNvSpPr/>
          <p:nvPr/>
        </p:nvSpPr>
        <p:spPr>
          <a:xfrm>
            <a:off x="8412480" y="1554480"/>
            <a:ext cx="3200400" cy="457200"/>
          </a:xfrm>
          <a:prstGeom prst="rect">
            <a:avLst/>
          </a:prstGeom>
          <a:noFill/>
          <a:ln/>
        </p:spPr>
        <p:txBody>
          <a:bodyPr wrap="square" rtlCol="0" anchor="ctr"/>
          <a:lstStyle/>
          <a:p>
            <a:pPr algn="ctr" indent="0" marL="0">
              <a:buNone/>
            </a:pPr>
            <a:r>
              <a:rPr lang="en-US" sz="1200" b="1" dirty="0">
                <a:solidFill>
                  <a:srgbClr val="F7931A"/>
                </a:solidFill>
                <a:latin typeface="Calibri" pitchFamily="34" charset="0"/>
                <a:ea typeface="Calibri" pitchFamily="34" charset="-122"/>
                <a:cs typeface="Calibri" pitchFamily="34" charset="-120"/>
              </a:rPr>
              <a:t>Beats persistence?</a:t>
            </a:r>
            <a:endParaRPr lang="en-US" sz="1200" dirty="0"/>
          </a:p>
        </p:txBody>
      </p:sp>
      <p:sp>
        <p:nvSpPr>
          <p:cNvPr id="21" name="Shape 19"/>
          <p:cNvSpPr/>
          <p:nvPr/>
        </p:nvSpPr>
        <p:spPr>
          <a:xfrm>
            <a:off x="548640" y="2011680"/>
            <a:ext cx="3474720" cy="566928"/>
          </a:xfrm>
          <a:prstGeom prst="rect">
            <a:avLst/>
          </a:prstGeom>
          <a:solidFill>
            <a:srgbClr val="FFFFFF"/>
          </a:solidFill>
          <a:ln w="12700">
            <a:solidFill>
              <a:srgbClr val="CADCFC"/>
            </a:solidFill>
            <a:prstDash val="solid"/>
          </a:ln>
        </p:spPr>
      </p:sp>
      <p:sp>
        <p:nvSpPr>
          <p:cNvPr id="22" name="Text 20"/>
          <p:cNvSpPr/>
          <p:nvPr/>
        </p:nvSpPr>
        <p:spPr>
          <a:xfrm>
            <a:off x="548640" y="2011680"/>
            <a:ext cx="3474720" cy="566928"/>
          </a:xfrm>
          <a:prstGeom prst="rect">
            <a:avLst/>
          </a:prstGeom>
          <a:noFill/>
          <a:ln/>
        </p:spPr>
        <p:txBody>
          <a:bodyPr wrap="square" lIns="91440" tIns="91440" rIns="91440" bIns="91440" rtlCol="0" anchor="ctr"/>
          <a:lstStyle/>
          <a:p>
            <a:pPr algn="l" indent="0" marL="0">
              <a:buNone/>
            </a:pPr>
            <a:r>
              <a:rPr lang="en-US" sz="1150" b="1" dirty="0">
                <a:solidFill>
                  <a:srgbClr val="0D1B2A"/>
                </a:solidFill>
                <a:latin typeface="Calibri" pitchFamily="34" charset="0"/>
                <a:ea typeface="Calibri" pitchFamily="34" charset="-122"/>
                <a:cs typeface="Calibri" pitchFamily="34" charset="-120"/>
              </a:rPr>
              <a:t>Naive persistence (baseline)</a:t>
            </a:r>
            <a:endParaRPr lang="en-US" sz="1150" dirty="0"/>
          </a:p>
        </p:txBody>
      </p:sp>
      <p:sp>
        <p:nvSpPr>
          <p:cNvPr id="23" name="Shape 21"/>
          <p:cNvSpPr/>
          <p:nvPr/>
        </p:nvSpPr>
        <p:spPr>
          <a:xfrm>
            <a:off x="4023360" y="2011680"/>
            <a:ext cx="1463040" cy="566928"/>
          </a:xfrm>
          <a:prstGeom prst="rect">
            <a:avLst/>
          </a:prstGeom>
          <a:solidFill>
            <a:srgbClr val="FFFFFF"/>
          </a:solidFill>
          <a:ln w="12700">
            <a:solidFill>
              <a:srgbClr val="CADCFC"/>
            </a:solidFill>
            <a:prstDash val="solid"/>
          </a:ln>
        </p:spPr>
      </p:sp>
      <p:sp>
        <p:nvSpPr>
          <p:cNvPr id="24" name="Text 22"/>
          <p:cNvSpPr/>
          <p:nvPr/>
        </p:nvSpPr>
        <p:spPr>
          <a:xfrm>
            <a:off x="4023360" y="2011680"/>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25" name="Shape 23"/>
          <p:cNvSpPr/>
          <p:nvPr/>
        </p:nvSpPr>
        <p:spPr>
          <a:xfrm>
            <a:off x="5486400" y="2011680"/>
            <a:ext cx="1463040" cy="566928"/>
          </a:xfrm>
          <a:prstGeom prst="rect">
            <a:avLst/>
          </a:prstGeom>
          <a:solidFill>
            <a:srgbClr val="FFFFFF"/>
          </a:solidFill>
          <a:ln w="12700">
            <a:solidFill>
              <a:srgbClr val="CADCFC"/>
            </a:solidFill>
            <a:prstDash val="solid"/>
          </a:ln>
        </p:spPr>
      </p:sp>
      <p:sp>
        <p:nvSpPr>
          <p:cNvPr id="26" name="Text 24"/>
          <p:cNvSpPr/>
          <p:nvPr/>
        </p:nvSpPr>
        <p:spPr>
          <a:xfrm>
            <a:off x="5486400" y="2011680"/>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27" name="Shape 25"/>
          <p:cNvSpPr/>
          <p:nvPr/>
        </p:nvSpPr>
        <p:spPr>
          <a:xfrm>
            <a:off x="6949440" y="2011680"/>
            <a:ext cx="1463040" cy="566928"/>
          </a:xfrm>
          <a:prstGeom prst="rect">
            <a:avLst/>
          </a:prstGeom>
          <a:solidFill>
            <a:srgbClr val="FFFFFF"/>
          </a:solidFill>
          <a:ln w="12700">
            <a:solidFill>
              <a:srgbClr val="CADCFC"/>
            </a:solidFill>
            <a:prstDash val="solid"/>
          </a:ln>
        </p:spPr>
      </p:sp>
      <p:sp>
        <p:nvSpPr>
          <p:cNvPr id="28" name="Text 26"/>
          <p:cNvSpPr/>
          <p:nvPr/>
        </p:nvSpPr>
        <p:spPr>
          <a:xfrm>
            <a:off x="6949440" y="2011680"/>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29" name="Shape 27"/>
          <p:cNvSpPr/>
          <p:nvPr/>
        </p:nvSpPr>
        <p:spPr>
          <a:xfrm>
            <a:off x="8412480" y="2011680"/>
            <a:ext cx="3200400" cy="566928"/>
          </a:xfrm>
          <a:prstGeom prst="rect">
            <a:avLst/>
          </a:prstGeom>
          <a:solidFill>
            <a:srgbClr val="FFFFFF"/>
          </a:solidFill>
          <a:ln w="12700">
            <a:solidFill>
              <a:srgbClr val="CADCFC"/>
            </a:solidFill>
            <a:prstDash val="solid"/>
          </a:ln>
        </p:spPr>
      </p:sp>
      <p:sp>
        <p:nvSpPr>
          <p:cNvPr id="30" name="Text 28"/>
          <p:cNvSpPr/>
          <p:nvPr/>
        </p:nvSpPr>
        <p:spPr>
          <a:xfrm>
            <a:off x="8412480" y="2011680"/>
            <a:ext cx="320040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31" name="Shape 29"/>
          <p:cNvSpPr/>
          <p:nvPr/>
        </p:nvSpPr>
        <p:spPr>
          <a:xfrm>
            <a:off x="548640" y="2578608"/>
            <a:ext cx="3474720" cy="566928"/>
          </a:xfrm>
          <a:prstGeom prst="rect">
            <a:avLst/>
          </a:prstGeom>
          <a:solidFill>
            <a:srgbClr val="EEF1F5"/>
          </a:solidFill>
          <a:ln w="12700">
            <a:solidFill>
              <a:srgbClr val="CADCFC"/>
            </a:solidFill>
            <a:prstDash val="solid"/>
          </a:ln>
        </p:spPr>
      </p:sp>
      <p:sp>
        <p:nvSpPr>
          <p:cNvPr id="32" name="Text 30"/>
          <p:cNvSpPr/>
          <p:nvPr/>
        </p:nvSpPr>
        <p:spPr>
          <a:xfrm>
            <a:off x="548640" y="2578608"/>
            <a:ext cx="3474720" cy="566928"/>
          </a:xfrm>
          <a:prstGeom prst="rect">
            <a:avLst/>
          </a:prstGeom>
          <a:noFill/>
          <a:ln/>
        </p:spPr>
        <p:txBody>
          <a:bodyPr wrap="square" lIns="91440" tIns="91440" rIns="91440" bIns="91440" rtlCol="0" anchor="ctr"/>
          <a:lstStyle/>
          <a:p>
            <a:pPr algn="l" indent="0" marL="0">
              <a:buNone/>
            </a:pPr>
            <a:r>
              <a:rPr lang="en-US" sz="1150" b="1" dirty="0">
                <a:solidFill>
                  <a:srgbClr val="0D1B2A"/>
                </a:solidFill>
                <a:latin typeface="Calibri" pitchFamily="34" charset="0"/>
                <a:ea typeface="Calibri" pitchFamily="34" charset="-122"/>
                <a:cs typeface="Calibri" pitchFamily="34" charset="-120"/>
              </a:rPr>
              <a:t>Holt-Winters (baseline)</a:t>
            </a:r>
            <a:endParaRPr lang="en-US" sz="1150" dirty="0"/>
          </a:p>
        </p:txBody>
      </p:sp>
      <p:sp>
        <p:nvSpPr>
          <p:cNvPr id="33" name="Shape 31"/>
          <p:cNvSpPr/>
          <p:nvPr/>
        </p:nvSpPr>
        <p:spPr>
          <a:xfrm>
            <a:off x="4023360" y="2578608"/>
            <a:ext cx="1463040" cy="566928"/>
          </a:xfrm>
          <a:prstGeom prst="rect">
            <a:avLst/>
          </a:prstGeom>
          <a:solidFill>
            <a:srgbClr val="EEF1F5"/>
          </a:solidFill>
          <a:ln w="12700">
            <a:solidFill>
              <a:srgbClr val="CADCFC"/>
            </a:solidFill>
            <a:prstDash val="solid"/>
          </a:ln>
        </p:spPr>
      </p:sp>
      <p:sp>
        <p:nvSpPr>
          <p:cNvPr id="34" name="Text 32"/>
          <p:cNvSpPr/>
          <p:nvPr/>
        </p:nvSpPr>
        <p:spPr>
          <a:xfrm>
            <a:off x="4023360" y="2578608"/>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35" name="Shape 33"/>
          <p:cNvSpPr/>
          <p:nvPr/>
        </p:nvSpPr>
        <p:spPr>
          <a:xfrm>
            <a:off x="5486400" y="2578608"/>
            <a:ext cx="1463040" cy="566928"/>
          </a:xfrm>
          <a:prstGeom prst="rect">
            <a:avLst/>
          </a:prstGeom>
          <a:solidFill>
            <a:srgbClr val="EEF1F5"/>
          </a:solidFill>
          <a:ln w="12700">
            <a:solidFill>
              <a:srgbClr val="CADCFC"/>
            </a:solidFill>
            <a:prstDash val="solid"/>
          </a:ln>
        </p:spPr>
      </p:sp>
      <p:sp>
        <p:nvSpPr>
          <p:cNvPr id="36" name="Text 34"/>
          <p:cNvSpPr/>
          <p:nvPr/>
        </p:nvSpPr>
        <p:spPr>
          <a:xfrm>
            <a:off x="5486400" y="2578608"/>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37" name="Shape 35"/>
          <p:cNvSpPr/>
          <p:nvPr/>
        </p:nvSpPr>
        <p:spPr>
          <a:xfrm>
            <a:off x="6949440" y="2578608"/>
            <a:ext cx="1463040" cy="566928"/>
          </a:xfrm>
          <a:prstGeom prst="rect">
            <a:avLst/>
          </a:prstGeom>
          <a:solidFill>
            <a:srgbClr val="EEF1F5"/>
          </a:solidFill>
          <a:ln w="12700">
            <a:solidFill>
              <a:srgbClr val="CADCFC"/>
            </a:solidFill>
            <a:prstDash val="solid"/>
          </a:ln>
        </p:spPr>
      </p:sp>
      <p:sp>
        <p:nvSpPr>
          <p:cNvPr id="38" name="Text 36"/>
          <p:cNvSpPr/>
          <p:nvPr/>
        </p:nvSpPr>
        <p:spPr>
          <a:xfrm>
            <a:off x="6949440" y="2578608"/>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39" name="Shape 37"/>
          <p:cNvSpPr/>
          <p:nvPr/>
        </p:nvSpPr>
        <p:spPr>
          <a:xfrm>
            <a:off x="8412480" y="2578608"/>
            <a:ext cx="3200400" cy="566928"/>
          </a:xfrm>
          <a:prstGeom prst="rect">
            <a:avLst/>
          </a:prstGeom>
          <a:solidFill>
            <a:srgbClr val="EEF1F5"/>
          </a:solidFill>
          <a:ln w="12700">
            <a:solidFill>
              <a:srgbClr val="CADCFC"/>
            </a:solidFill>
            <a:prstDash val="solid"/>
          </a:ln>
        </p:spPr>
      </p:sp>
      <p:sp>
        <p:nvSpPr>
          <p:cNvPr id="40" name="Text 38"/>
          <p:cNvSpPr/>
          <p:nvPr/>
        </p:nvSpPr>
        <p:spPr>
          <a:xfrm>
            <a:off x="8412480" y="2578608"/>
            <a:ext cx="320040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41" name="Shape 39"/>
          <p:cNvSpPr/>
          <p:nvPr/>
        </p:nvSpPr>
        <p:spPr>
          <a:xfrm>
            <a:off x="548640" y="3145536"/>
            <a:ext cx="3474720" cy="566928"/>
          </a:xfrm>
          <a:prstGeom prst="rect">
            <a:avLst/>
          </a:prstGeom>
          <a:solidFill>
            <a:srgbClr val="FFFFFF"/>
          </a:solidFill>
          <a:ln w="12700">
            <a:solidFill>
              <a:srgbClr val="CADCFC"/>
            </a:solidFill>
            <a:prstDash val="solid"/>
          </a:ln>
        </p:spPr>
      </p:sp>
      <p:sp>
        <p:nvSpPr>
          <p:cNvPr id="42" name="Text 40"/>
          <p:cNvSpPr/>
          <p:nvPr/>
        </p:nvSpPr>
        <p:spPr>
          <a:xfrm>
            <a:off x="548640" y="3145536"/>
            <a:ext cx="3474720" cy="566928"/>
          </a:xfrm>
          <a:prstGeom prst="rect">
            <a:avLst/>
          </a:prstGeom>
          <a:noFill/>
          <a:ln/>
        </p:spPr>
        <p:txBody>
          <a:bodyPr wrap="square" lIns="91440" tIns="91440" rIns="91440" bIns="91440" rtlCol="0" anchor="ctr"/>
          <a:lstStyle/>
          <a:p>
            <a:pPr algn="l" indent="0" marL="0">
              <a:buNone/>
            </a:pPr>
            <a:r>
              <a:rPr lang="en-US" sz="1150" b="1" dirty="0">
                <a:solidFill>
                  <a:srgbClr val="0D1B2A"/>
                </a:solidFill>
                <a:latin typeface="Calibri" pitchFamily="34" charset="0"/>
                <a:ea typeface="Calibri" pitchFamily="34" charset="-122"/>
                <a:cs typeface="Calibri" pitchFamily="34" charset="-120"/>
              </a:rPr>
              <a:t>GARCH → EGARCH / GJR</a:t>
            </a:r>
            <a:endParaRPr lang="en-US" sz="1150" dirty="0"/>
          </a:p>
        </p:txBody>
      </p:sp>
      <p:sp>
        <p:nvSpPr>
          <p:cNvPr id="43" name="Shape 41"/>
          <p:cNvSpPr/>
          <p:nvPr/>
        </p:nvSpPr>
        <p:spPr>
          <a:xfrm>
            <a:off x="4023360" y="3145536"/>
            <a:ext cx="1463040" cy="566928"/>
          </a:xfrm>
          <a:prstGeom prst="rect">
            <a:avLst/>
          </a:prstGeom>
          <a:solidFill>
            <a:srgbClr val="FFFFFF"/>
          </a:solidFill>
          <a:ln w="12700">
            <a:solidFill>
              <a:srgbClr val="CADCFC"/>
            </a:solidFill>
            <a:prstDash val="solid"/>
          </a:ln>
        </p:spPr>
      </p:sp>
      <p:sp>
        <p:nvSpPr>
          <p:cNvPr id="44" name="Text 42"/>
          <p:cNvSpPr/>
          <p:nvPr/>
        </p:nvSpPr>
        <p:spPr>
          <a:xfrm>
            <a:off x="4023360" y="3145536"/>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45" name="Shape 43"/>
          <p:cNvSpPr/>
          <p:nvPr/>
        </p:nvSpPr>
        <p:spPr>
          <a:xfrm>
            <a:off x="5486400" y="3145536"/>
            <a:ext cx="1463040" cy="566928"/>
          </a:xfrm>
          <a:prstGeom prst="rect">
            <a:avLst/>
          </a:prstGeom>
          <a:solidFill>
            <a:srgbClr val="FFFFFF"/>
          </a:solidFill>
          <a:ln w="12700">
            <a:solidFill>
              <a:srgbClr val="CADCFC"/>
            </a:solidFill>
            <a:prstDash val="solid"/>
          </a:ln>
        </p:spPr>
      </p:sp>
      <p:sp>
        <p:nvSpPr>
          <p:cNvPr id="46" name="Text 44"/>
          <p:cNvSpPr/>
          <p:nvPr/>
        </p:nvSpPr>
        <p:spPr>
          <a:xfrm>
            <a:off x="5486400" y="3145536"/>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47" name="Shape 45"/>
          <p:cNvSpPr/>
          <p:nvPr/>
        </p:nvSpPr>
        <p:spPr>
          <a:xfrm>
            <a:off x="6949440" y="3145536"/>
            <a:ext cx="1463040" cy="566928"/>
          </a:xfrm>
          <a:prstGeom prst="rect">
            <a:avLst/>
          </a:prstGeom>
          <a:solidFill>
            <a:srgbClr val="FFFFFF"/>
          </a:solidFill>
          <a:ln w="12700">
            <a:solidFill>
              <a:srgbClr val="CADCFC"/>
            </a:solidFill>
            <a:prstDash val="solid"/>
          </a:ln>
        </p:spPr>
      </p:sp>
      <p:sp>
        <p:nvSpPr>
          <p:cNvPr id="48" name="Text 46"/>
          <p:cNvSpPr/>
          <p:nvPr/>
        </p:nvSpPr>
        <p:spPr>
          <a:xfrm>
            <a:off x="6949440" y="3145536"/>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49" name="Shape 47"/>
          <p:cNvSpPr/>
          <p:nvPr/>
        </p:nvSpPr>
        <p:spPr>
          <a:xfrm>
            <a:off x="8412480" y="3145536"/>
            <a:ext cx="3200400" cy="566928"/>
          </a:xfrm>
          <a:prstGeom prst="rect">
            <a:avLst/>
          </a:prstGeom>
          <a:solidFill>
            <a:srgbClr val="FFFFFF"/>
          </a:solidFill>
          <a:ln w="12700">
            <a:solidFill>
              <a:srgbClr val="CADCFC"/>
            </a:solidFill>
            <a:prstDash val="solid"/>
          </a:ln>
        </p:spPr>
      </p:sp>
      <p:sp>
        <p:nvSpPr>
          <p:cNvPr id="50" name="Text 48"/>
          <p:cNvSpPr/>
          <p:nvPr/>
        </p:nvSpPr>
        <p:spPr>
          <a:xfrm>
            <a:off x="8412480" y="3145536"/>
            <a:ext cx="320040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51" name="Shape 49"/>
          <p:cNvSpPr/>
          <p:nvPr/>
        </p:nvSpPr>
        <p:spPr>
          <a:xfrm>
            <a:off x="548640" y="3712464"/>
            <a:ext cx="3474720" cy="566928"/>
          </a:xfrm>
          <a:prstGeom prst="rect">
            <a:avLst/>
          </a:prstGeom>
          <a:solidFill>
            <a:srgbClr val="EEF1F5"/>
          </a:solidFill>
          <a:ln w="12700">
            <a:solidFill>
              <a:srgbClr val="CADCFC"/>
            </a:solidFill>
            <a:prstDash val="solid"/>
          </a:ln>
        </p:spPr>
      </p:sp>
      <p:sp>
        <p:nvSpPr>
          <p:cNvPr id="52" name="Text 50"/>
          <p:cNvSpPr/>
          <p:nvPr/>
        </p:nvSpPr>
        <p:spPr>
          <a:xfrm>
            <a:off x="548640" y="3712464"/>
            <a:ext cx="3474720" cy="566928"/>
          </a:xfrm>
          <a:prstGeom prst="rect">
            <a:avLst/>
          </a:prstGeom>
          <a:noFill/>
          <a:ln/>
        </p:spPr>
        <p:txBody>
          <a:bodyPr wrap="square" lIns="91440" tIns="91440" rIns="91440" bIns="91440" rtlCol="0" anchor="ctr"/>
          <a:lstStyle/>
          <a:p>
            <a:pPr algn="l" indent="0" marL="0">
              <a:buNone/>
            </a:pPr>
            <a:r>
              <a:rPr lang="en-US" sz="1150" b="1" dirty="0">
                <a:solidFill>
                  <a:srgbClr val="0D1B2A"/>
                </a:solidFill>
                <a:latin typeface="Calibri" pitchFamily="34" charset="0"/>
                <a:ea typeface="Calibri" pitchFamily="34" charset="-122"/>
                <a:cs typeface="Calibri" pitchFamily="34" charset="-120"/>
              </a:rPr>
              <a:t>HAR-RV → HAR-RV-X</a:t>
            </a:r>
            <a:endParaRPr lang="en-US" sz="1150" dirty="0"/>
          </a:p>
        </p:txBody>
      </p:sp>
      <p:sp>
        <p:nvSpPr>
          <p:cNvPr id="53" name="Shape 51"/>
          <p:cNvSpPr/>
          <p:nvPr/>
        </p:nvSpPr>
        <p:spPr>
          <a:xfrm>
            <a:off x="4023360" y="3712464"/>
            <a:ext cx="1463040" cy="566928"/>
          </a:xfrm>
          <a:prstGeom prst="rect">
            <a:avLst/>
          </a:prstGeom>
          <a:solidFill>
            <a:srgbClr val="EEF1F5"/>
          </a:solidFill>
          <a:ln w="12700">
            <a:solidFill>
              <a:srgbClr val="CADCFC"/>
            </a:solidFill>
            <a:prstDash val="solid"/>
          </a:ln>
        </p:spPr>
      </p:sp>
      <p:sp>
        <p:nvSpPr>
          <p:cNvPr id="54" name="Text 52"/>
          <p:cNvSpPr/>
          <p:nvPr/>
        </p:nvSpPr>
        <p:spPr>
          <a:xfrm>
            <a:off x="4023360" y="3712464"/>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55" name="Shape 53"/>
          <p:cNvSpPr/>
          <p:nvPr/>
        </p:nvSpPr>
        <p:spPr>
          <a:xfrm>
            <a:off x="5486400" y="3712464"/>
            <a:ext cx="1463040" cy="566928"/>
          </a:xfrm>
          <a:prstGeom prst="rect">
            <a:avLst/>
          </a:prstGeom>
          <a:solidFill>
            <a:srgbClr val="EEF1F5"/>
          </a:solidFill>
          <a:ln w="12700">
            <a:solidFill>
              <a:srgbClr val="CADCFC"/>
            </a:solidFill>
            <a:prstDash val="solid"/>
          </a:ln>
        </p:spPr>
      </p:sp>
      <p:sp>
        <p:nvSpPr>
          <p:cNvPr id="56" name="Text 54"/>
          <p:cNvSpPr/>
          <p:nvPr/>
        </p:nvSpPr>
        <p:spPr>
          <a:xfrm>
            <a:off x="5486400" y="3712464"/>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57" name="Shape 55"/>
          <p:cNvSpPr/>
          <p:nvPr/>
        </p:nvSpPr>
        <p:spPr>
          <a:xfrm>
            <a:off x="6949440" y="3712464"/>
            <a:ext cx="1463040" cy="566928"/>
          </a:xfrm>
          <a:prstGeom prst="rect">
            <a:avLst/>
          </a:prstGeom>
          <a:solidFill>
            <a:srgbClr val="EEF1F5"/>
          </a:solidFill>
          <a:ln w="12700">
            <a:solidFill>
              <a:srgbClr val="CADCFC"/>
            </a:solidFill>
            <a:prstDash val="solid"/>
          </a:ln>
        </p:spPr>
      </p:sp>
      <p:sp>
        <p:nvSpPr>
          <p:cNvPr id="58" name="Text 56"/>
          <p:cNvSpPr/>
          <p:nvPr/>
        </p:nvSpPr>
        <p:spPr>
          <a:xfrm>
            <a:off x="6949440" y="3712464"/>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59" name="Shape 57"/>
          <p:cNvSpPr/>
          <p:nvPr/>
        </p:nvSpPr>
        <p:spPr>
          <a:xfrm>
            <a:off x="8412480" y="3712464"/>
            <a:ext cx="3200400" cy="566928"/>
          </a:xfrm>
          <a:prstGeom prst="rect">
            <a:avLst/>
          </a:prstGeom>
          <a:solidFill>
            <a:srgbClr val="EEF1F5"/>
          </a:solidFill>
          <a:ln w="12700">
            <a:solidFill>
              <a:srgbClr val="CADCFC"/>
            </a:solidFill>
            <a:prstDash val="solid"/>
          </a:ln>
        </p:spPr>
      </p:sp>
      <p:sp>
        <p:nvSpPr>
          <p:cNvPr id="60" name="Text 58"/>
          <p:cNvSpPr/>
          <p:nvPr/>
        </p:nvSpPr>
        <p:spPr>
          <a:xfrm>
            <a:off x="8412480" y="3712464"/>
            <a:ext cx="320040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61" name="Shape 59"/>
          <p:cNvSpPr/>
          <p:nvPr/>
        </p:nvSpPr>
        <p:spPr>
          <a:xfrm>
            <a:off x="548640" y="4279392"/>
            <a:ext cx="3474720" cy="566928"/>
          </a:xfrm>
          <a:prstGeom prst="rect">
            <a:avLst/>
          </a:prstGeom>
          <a:solidFill>
            <a:srgbClr val="FFFFFF"/>
          </a:solidFill>
          <a:ln w="12700">
            <a:solidFill>
              <a:srgbClr val="CADCFC"/>
            </a:solidFill>
            <a:prstDash val="solid"/>
          </a:ln>
        </p:spPr>
      </p:sp>
      <p:sp>
        <p:nvSpPr>
          <p:cNvPr id="62" name="Text 60"/>
          <p:cNvSpPr/>
          <p:nvPr/>
        </p:nvSpPr>
        <p:spPr>
          <a:xfrm>
            <a:off x="548640" y="4279392"/>
            <a:ext cx="3474720" cy="566928"/>
          </a:xfrm>
          <a:prstGeom prst="rect">
            <a:avLst/>
          </a:prstGeom>
          <a:noFill/>
          <a:ln/>
        </p:spPr>
        <p:txBody>
          <a:bodyPr wrap="square" lIns="91440" tIns="91440" rIns="91440" bIns="91440" rtlCol="0" anchor="ctr"/>
          <a:lstStyle/>
          <a:p>
            <a:pPr algn="l" indent="0" marL="0">
              <a:buNone/>
            </a:pPr>
            <a:r>
              <a:rPr lang="en-US" sz="1150" b="1" dirty="0">
                <a:solidFill>
                  <a:srgbClr val="0D1B2A"/>
                </a:solidFill>
                <a:latin typeface="Calibri" pitchFamily="34" charset="0"/>
                <a:ea typeface="Calibri" pitchFamily="34" charset="-122"/>
                <a:cs typeface="Calibri" pitchFamily="34" charset="-120"/>
              </a:rPr>
              <a:t>LSTM (tuned)</a:t>
            </a:r>
            <a:endParaRPr lang="en-US" sz="1150" dirty="0"/>
          </a:p>
        </p:txBody>
      </p:sp>
      <p:sp>
        <p:nvSpPr>
          <p:cNvPr id="63" name="Shape 61"/>
          <p:cNvSpPr/>
          <p:nvPr/>
        </p:nvSpPr>
        <p:spPr>
          <a:xfrm>
            <a:off x="4023360" y="4279392"/>
            <a:ext cx="1463040" cy="566928"/>
          </a:xfrm>
          <a:prstGeom prst="rect">
            <a:avLst/>
          </a:prstGeom>
          <a:solidFill>
            <a:srgbClr val="FFFFFF"/>
          </a:solidFill>
          <a:ln w="12700">
            <a:solidFill>
              <a:srgbClr val="CADCFC"/>
            </a:solidFill>
            <a:prstDash val="solid"/>
          </a:ln>
        </p:spPr>
      </p:sp>
      <p:sp>
        <p:nvSpPr>
          <p:cNvPr id="64" name="Text 62"/>
          <p:cNvSpPr/>
          <p:nvPr/>
        </p:nvSpPr>
        <p:spPr>
          <a:xfrm>
            <a:off x="4023360" y="4279392"/>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65" name="Shape 63"/>
          <p:cNvSpPr/>
          <p:nvPr/>
        </p:nvSpPr>
        <p:spPr>
          <a:xfrm>
            <a:off x="5486400" y="4279392"/>
            <a:ext cx="1463040" cy="566928"/>
          </a:xfrm>
          <a:prstGeom prst="rect">
            <a:avLst/>
          </a:prstGeom>
          <a:solidFill>
            <a:srgbClr val="FFFFFF"/>
          </a:solidFill>
          <a:ln w="12700">
            <a:solidFill>
              <a:srgbClr val="CADCFC"/>
            </a:solidFill>
            <a:prstDash val="solid"/>
          </a:ln>
        </p:spPr>
      </p:sp>
      <p:sp>
        <p:nvSpPr>
          <p:cNvPr id="66" name="Text 64"/>
          <p:cNvSpPr/>
          <p:nvPr/>
        </p:nvSpPr>
        <p:spPr>
          <a:xfrm>
            <a:off x="5486400" y="4279392"/>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67" name="Shape 65"/>
          <p:cNvSpPr/>
          <p:nvPr/>
        </p:nvSpPr>
        <p:spPr>
          <a:xfrm>
            <a:off x="6949440" y="4279392"/>
            <a:ext cx="1463040" cy="566928"/>
          </a:xfrm>
          <a:prstGeom prst="rect">
            <a:avLst/>
          </a:prstGeom>
          <a:solidFill>
            <a:srgbClr val="FFFFFF"/>
          </a:solidFill>
          <a:ln w="12700">
            <a:solidFill>
              <a:srgbClr val="CADCFC"/>
            </a:solidFill>
            <a:prstDash val="solid"/>
          </a:ln>
        </p:spPr>
      </p:sp>
      <p:sp>
        <p:nvSpPr>
          <p:cNvPr id="68" name="Text 66"/>
          <p:cNvSpPr/>
          <p:nvPr/>
        </p:nvSpPr>
        <p:spPr>
          <a:xfrm>
            <a:off x="6949440" y="4279392"/>
            <a:ext cx="146304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69" name="Shape 67"/>
          <p:cNvSpPr/>
          <p:nvPr/>
        </p:nvSpPr>
        <p:spPr>
          <a:xfrm>
            <a:off x="8412480" y="4279392"/>
            <a:ext cx="3200400" cy="566928"/>
          </a:xfrm>
          <a:prstGeom prst="rect">
            <a:avLst/>
          </a:prstGeom>
          <a:solidFill>
            <a:srgbClr val="FFFFFF"/>
          </a:solidFill>
          <a:ln w="12700">
            <a:solidFill>
              <a:srgbClr val="CADCFC"/>
            </a:solidFill>
            <a:prstDash val="solid"/>
          </a:ln>
        </p:spPr>
      </p:sp>
      <p:sp>
        <p:nvSpPr>
          <p:cNvPr id="70" name="Text 68"/>
          <p:cNvSpPr/>
          <p:nvPr/>
        </p:nvSpPr>
        <p:spPr>
          <a:xfrm>
            <a:off x="8412480" y="4279392"/>
            <a:ext cx="3200400" cy="566928"/>
          </a:xfrm>
          <a:prstGeom prst="rect">
            <a:avLst/>
          </a:prstGeom>
          <a:noFill/>
          <a:ln/>
        </p:spPr>
        <p:txBody>
          <a:bodyPr wrap="square" lIns="0" tIns="0" rIns="0" bIns="0" rtlCol="0" anchor="ctr"/>
          <a:lstStyle/>
          <a:p>
            <a:pPr algn="ctr" indent="0" marL="0">
              <a:buNone/>
            </a:pPr>
            <a:r>
              <a:rPr lang="en-US" sz="1150" dirty="0">
                <a:solidFill>
                  <a:srgbClr val="0D1B2A"/>
                </a:solidFill>
                <a:latin typeface="Calibri" pitchFamily="34" charset="0"/>
                <a:ea typeface="Calibri" pitchFamily="34" charset="-122"/>
                <a:cs typeface="Calibri" pitchFamily="34" charset="-120"/>
              </a:rPr>
              <a:t>—</a:t>
            </a:r>
            <a:endParaRPr lang="en-US" sz="1150" dirty="0"/>
          </a:p>
        </p:txBody>
      </p:sp>
      <p:sp>
        <p:nvSpPr>
          <p:cNvPr id="71" name="Text 69"/>
          <p:cNvSpPr/>
          <p:nvPr/>
        </p:nvSpPr>
        <p:spPr>
          <a:xfrm>
            <a:off x="548640" y="4956048"/>
            <a:ext cx="11064240" cy="274320"/>
          </a:xfrm>
          <a:prstGeom prst="rect">
            <a:avLst/>
          </a:prstGeom>
          <a:noFill/>
          <a:ln/>
        </p:spPr>
        <p:txBody>
          <a:bodyPr wrap="square" rtlCol="0" anchor="ctr"/>
          <a:lstStyle/>
          <a:p>
            <a:pPr algn="ctr" indent="0" marL="0">
              <a:buNone/>
            </a:pPr>
            <a:r>
              <a:rPr lang="en-US" sz="1050" i="1" dirty="0">
                <a:solidFill>
                  <a:srgbClr val="5C6B7A"/>
                </a:solidFill>
                <a:latin typeface="Calibri" pitchFamily="34" charset="0"/>
                <a:ea typeface="Calibri" pitchFamily="34" charset="-122"/>
                <a:cs typeface="Calibri" pitchFamily="34" charset="-120"/>
              </a:rPr>
              <a:t>Fill from the notebook's auto-generated comparison table — it is built from the results list, not typed by hand.</a:t>
            </a:r>
            <a:endParaRPr lang="en-US" sz="1050" dirty="0"/>
          </a:p>
        </p:txBody>
      </p:sp>
      <p:sp>
        <p:nvSpPr>
          <p:cNvPr id="72" name="Shape 70"/>
          <p:cNvSpPr/>
          <p:nvPr/>
        </p:nvSpPr>
        <p:spPr>
          <a:xfrm>
            <a:off x="548640" y="5349240"/>
            <a:ext cx="11064240" cy="914400"/>
          </a:xfrm>
          <a:prstGeom prst="roundRect">
            <a:avLst>
              <a:gd name="adj" fmla="val 8000"/>
            </a:avLst>
          </a:prstGeom>
          <a:solidFill>
            <a:srgbClr val="FFFFFF"/>
          </a:solidFill>
          <a:ln w="19050">
            <a:solidFill>
              <a:srgbClr val="F7931A"/>
            </a:solidFill>
            <a:prstDash val="solid"/>
          </a:ln>
        </p:spPr>
      </p:sp>
      <p:sp>
        <p:nvSpPr>
          <p:cNvPr id="73" name="Text 71"/>
          <p:cNvSpPr/>
          <p:nvPr/>
        </p:nvSpPr>
        <p:spPr>
          <a:xfrm>
            <a:off x="822960" y="5468112"/>
            <a:ext cx="10515600" cy="731520"/>
          </a:xfrm>
          <a:prstGeom prst="rect">
            <a:avLst/>
          </a:prstGeom>
          <a:noFill/>
          <a:ln/>
        </p:spPr>
        <p:txBody>
          <a:bodyPr wrap="square" rtlCol="0" anchor="t"/>
          <a:lstStyle/>
          <a:p>
            <a:pPr indent="0" marL="0">
              <a:lnSpc>
                <a:spcPct val="112000"/>
              </a:lnSpc>
              <a:buNone/>
            </a:pPr>
            <a:r>
              <a:rPr lang="en-US" sz="1200" b="1" dirty="0">
                <a:solidFill>
                  <a:srgbClr val="F7931A"/>
                </a:solidFill>
                <a:latin typeface="Calibri" pitchFamily="34" charset="0"/>
                <a:ea typeface="Calibri" pitchFamily="34" charset="-122"/>
                <a:cs typeface="Calibri" pitchFamily="34" charset="-120"/>
              </a:rPr>
              <a:t>Best model:  </a:t>
            </a:r>
            <a:pPr indent="0" marL="0">
              <a:lnSpc>
                <a:spcPct val="112000"/>
              </a:lnSpc>
              <a:buNone/>
            </a:pPr>
            <a:r>
              <a:rPr lang="en-US" sz="1200" dirty="0">
                <a:solidFill>
                  <a:srgbClr val="0D1B2A"/>
                </a:solidFill>
                <a:latin typeface="Calibri" pitchFamily="34" charset="0"/>
                <a:ea typeface="Calibri" pitchFamily="34" charset="-122"/>
                <a:cs typeface="Calibri" pitchFamily="34" charset="-120"/>
              </a:rPr>
              <a:t>[fill in after running] — chosen on RMSE, but weighing interpretability and cost too. GARCH's parameters carry precise financial meaning; the LSTM's do not. A model that wins historically but loses on live data is a different finding than one that wins on both.</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10972800" y="365760"/>
            <a:ext cx="731520" cy="731520"/>
          </a:xfrm>
          <a:prstGeom prst="ellipse">
            <a:avLst/>
          </a:prstGeom>
          <a:solidFill>
            <a:srgbClr val="0D1B2A"/>
          </a:solidFill>
          <a:ln/>
        </p:spPr>
      </p:sp>
      <p:sp>
        <p:nvSpPr>
          <p:cNvPr id="3" name="Shape 1"/>
          <p:cNvSpPr/>
          <p:nvPr/>
        </p:nvSpPr>
        <p:spPr>
          <a:xfrm flipV="1">
            <a:off x="11133734" y="588142"/>
            <a:ext cx="122895" cy="204826"/>
          </a:xfrm>
          <a:prstGeom prst="line">
            <a:avLst/>
          </a:prstGeom>
          <a:noFill/>
          <a:ln w="25400">
            <a:solidFill>
              <a:srgbClr val="F7931A"/>
            </a:solidFill>
            <a:prstDash val="solid"/>
          </a:ln>
        </p:spPr>
      </p:sp>
      <p:sp>
        <p:nvSpPr>
          <p:cNvPr id="4" name="Shape 2"/>
          <p:cNvSpPr/>
          <p:nvPr/>
        </p:nvSpPr>
        <p:spPr>
          <a:xfrm>
            <a:off x="11256630" y="588142"/>
            <a:ext cx="81930" cy="245791"/>
          </a:xfrm>
          <a:prstGeom prst="line">
            <a:avLst/>
          </a:prstGeom>
          <a:noFill/>
          <a:ln w="25400">
            <a:solidFill>
              <a:srgbClr val="F7931A"/>
            </a:solidFill>
            <a:prstDash val="solid"/>
          </a:ln>
        </p:spPr>
      </p:sp>
      <p:sp>
        <p:nvSpPr>
          <p:cNvPr id="5" name="Shape 3"/>
          <p:cNvSpPr/>
          <p:nvPr/>
        </p:nvSpPr>
        <p:spPr>
          <a:xfrm flipV="1">
            <a:off x="11338560" y="526694"/>
            <a:ext cx="102413" cy="307238"/>
          </a:xfrm>
          <a:prstGeom prst="line">
            <a:avLst/>
          </a:prstGeom>
          <a:noFill/>
          <a:ln w="25400">
            <a:solidFill>
              <a:srgbClr val="F7931A"/>
            </a:solidFill>
            <a:prstDash val="solid"/>
          </a:ln>
        </p:spPr>
      </p:sp>
      <p:sp>
        <p:nvSpPr>
          <p:cNvPr id="6" name="Shape 4"/>
          <p:cNvSpPr/>
          <p:nvPr/>
        </p:nvSpPr>
        <p:spPr>
          <a:xfrm>
            <a:off x="11440973" y="526694"/>
            <a:ext cx="102413" cy="184343"/>
          </a:xfrm>
          <a:prstGeom prst="line">
            <a:avLst/>
          </a:prstGeom>
          <a:noFill/>
          <a:ln w="25400">
            <a:solidFill>
              <a:srgbClr val="F7931A"/>
            </a:solidFill>
            <a:prstDash val="solid"/>
          </a:ln>
        </p:spPr>
      </p:sp>
      <p:sp>
        <p:nvSpPr>
          <p:cNvPr id="7" name="Text 5"/>
          <p:cNvSpPr/>
          <p:nvPr/>
        </p:nvSpPr>
        <p:spPr>
          <a:xfrm>
            <a:off x="548640" y="365760"/>
            <a:ext cx="10058400" cy="640080"/>
          </a:xfrm>
          <a:prstGeom prst="rect">
            <a:avLst/>
          </a:prstGeom>
          <a:noFill/>
          <a:ln/>
        </p:spPr>
        <p:txBody>
          <a:bodyPr wrap="square" rtlCol="0" anchor="ctr"/>
          <a:lstStyle/>
          <a:p>
            <a:pPr indent="0" marL="0">
              <a:buNone/>
            </a:pPr>
            <a:r>
              <a:rPr lang="en-US" sz="3000" b="1" dirty="0">
                <a:solidFill>
                  <a:srgbClr val="0D1B2A"/>
                </a:solidFill>
                <a:latin typeface="Cambria" pitchFamily="34" charset="0"/>
                <a:ea typeface="Cambria" pitchFamily="34" charset="-122"/>
                <a:cs typeface="Cambria" pitchFamily="34" charset="-120"/>
              </a:rPr>
              <a:t>Live Testing on Unseen Data</a:t>
            </a:r>
            <a:endParaRPr lang="en-US" sz="3000" dirty="0"/>
          </a:p>
        </p:txBody>
      </p:sp>
      <p:sp>
        <p:nvSpPr>
          <p:cNvPr id="8" name="Text 6"/>
          <p:cNvSpPr/>
          <p:nvPr/>
        </p:nvSpPr>
        <p:spPr>
          <a:xfrm>
            <a:off x="548640" y="932688"/>
            <a:ext cx="10515600" cy="365760"/>
          </a:xfrm>
          <a:prstGeom prst="rect">
            <a:avLst/>
          </a:prstGeom>
          <a:noFill/>
          <a:ln/>
        </p:spPr>
        <p:txBody>
          <a:bodyPr wrap="square" rtlCol="0" anchor="ctr"/>
          <a:lstStyle/>
          <a:p>
            <a:pPr indent="0" marL="0">
              <a:buNone/>
            </a:pPr>
            <a:r>
              <a:rPr lang="en-US" sz="1400" i="1" dirty="0">
                <a:solidFill>
                  <a:srgbClr val="5C6B7A"/>
                </a:solidFill>
                <a:latin typeface="Calibri" pitchFamily="34" charset="0"/>
                <a:ea typeface="Calibri" pitchFamily="34" charset="-122"/>
                <a:cs typeface="Calibri" pitchFamily="34" charset="-120"/>
              </a:rPr>
              <a:t>The stronger validation — predictions logged before the outcome exists</a:t>
            </a:r>
            <a:endParaRPr lang="en-US" sz="1400" dirty="0"/>
          </a:p>
        </p:txBody>
      </p:sp>
      <p:sp>
        <p:nvSpPr>
          <p:cNvPr id="9" name="Text 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C6B7A"/>
                </a:solidFill>
                <a:latin typeface="Calibri" pitchFamily="34" charset="0"/>
                <a:ea typeface="Calibri" pitchFamily="34" charset="-122"/>
                <a:cs typeface="Calibri" pitchFamily="34" charset="-120"/>
              </a:rPr>
              <a:t>BTC Volatility Prediction  |  Capstone</a:t>
            </a:r>
            <a:endParaRPr lang="en-US" sz="900" dirty="0"/>
          </a:p>
        </p:txBody>
      </p:sp>
      <p:sp>
        <p:nvSpPr>
          <p:cNvPr id="10" name="Text 8"/>
          <p:cNvSpPr/>
          <p:nvPr/>
        </p:nvSpPr>
        <p:spPr>
          <a:xfrm>
            <a:off x="11521440" y="6537960"/>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11</a:t>
            </a:r>
            <a:endParaRPr lang="en-US" sz="900" dirty="0"/>
          </a:p>
        </p:txBody>
      </p:sp>
      <p:sp>
        <p:nvSpPr>
          <p:cNvPr id="11" name="Shape 9"/>
          <p:cNvSpPr/>
          <p:nvPr/>
        </p:nvSpPr>
        <p:spPr>
          <a:xfrm>
            <a:off x="548640" y="1645920"/>
            <a:ext cx="2697480" cy="2377440"/>
          </a:xfrm>
          <a:prstGeom prst="roundRect">
            <a:avLst>
              <a:gd name="adj" fmla="val 3077"/>
            </a:avLst>
          </a:prstGeom>
          <a:solidFill>
            <a:srgbClr val="FFFFFF"/>
          </a:solidFill>
          <a:ln w="12700">
            <a:solidFill>
              <a:srgbClr val="CADCFC"/>
            </a:solidFill>
            <a:prstDash val="solid"/>
          </a:ln>
        </p:spPr>
      </p:sp>
      <p:sp>
        <p:nvSpPr>
          <p:cNvPr id="12" name="Shape 10"/>
          <p:cNvSpPr/>
          <p:nvPr/>
        </p:nvSpPr>
        <p:spPr>
          <a:xfrm>
            <a:off x="1645920" y="1828800"/>
            <a:ext cx="502920" cy="502920"/>
          </a:xfrm>
          <a:prstGeom prst="ellipse">
            <a:avLst/>
          </a:prstGeom>
          <a:solidFill>
            <a:srgbClr val="1B4965"/>
          </a:solidFill>
          <a:ln/>
        </p:spPr>
      </p:sp>
      <p:sp>
        <p:nvSpPr>
          <p:cNvPr id="13" name="Text 11"/>
          <p:cNvSpPr/>
          <p:nvPr/>
        </p:nvSpPr>
        <p:spPr>
          <a:xfrm>
            <a:off x="1645920" y="1828800"/>
            <a:ext cx="502920" cy="502920"/>
          </a:xfrm>
          <a:prstGeom prst="rect">
            <a:avLst/>
          </a:prstGeom>
          <a:noFill/>
          <a:ln/>
        </p:spPr>
        <p:txBody>
          <a:bodyPr wrap="square" rtlCol="0" anchor="ctr"/>
          <a:lstStyle/>
          <a:p>
            <a:pPr algn="ctr" indent="0" marL="0">
              <a:buNone/>
            </a:pPr>
            <a:r>
              <a:rPr lang="en-US" sz="1700" b="1" dirty="0">
                <a:solidFill>
                  <a:srgbClr val="F7931A"/>
                </a:solidFill>
                <a:latin typeface="Cambria" pitchFamily="34" charset="0"/>
                <a:ea typeface="Cambria" pitchFamily="34" charset="-122"/>
                <a:cs typeface="Cambria" pitchFamily="34" charset="-120"/>
              </a:rPr>
              <a:t>1</a:t>
            </a:r>
            <a:endParaRPr lang="en-US" sz="1700" dirty="0"/>
          </a:p>
        </p:txBody>
      </p:sp>
      <p:sp>
        <p:nvSpPr>
          <p:cNvPr id="14" name="Text 12"/>
          <p:cNvSpPr/>
          <p:nvPr/>
        </p:nvSpPr>
        <p:spPr>
          <a:xfrm>
            <a:off x="731520" y="2450592"/>
            <a:ext cx="2331720" cy="320040"/>
          </a:xfrm>
          <a:prstGeom prst="rect">
            <a:avLst/>
          </a:prstGeom>
          <a:noFill/>
          <a:ln/>
        </p:spPr>
        <p:txBody>
          <a:bodyPr wrap="square" rtlCol="0" anchor="ctr"/>
          <a:lstStyle/>
          <a:p>
            <a:pPr algn="ctr" indent="0" marL="0">
              <a:buNone/>
            </a:pPr>
            <a:r>
              <a:rPr lang="en-US" sz="1300" b="1" dirty="0">
                <a:solidFill>
                  <a:srgbClr val="0D1B2A"/>
                </a:solidFill>
                <a:latin typeface="Cambria" pitchFamily="34" charset="0"/>
                <a:ea typeface="Cambria" pitchFamily="34" charset="-122"/>
                <a:cs typeface="Cambria" pitchFamily="34" charset="-120"/>
              </a:rPr>
              <a:t>Fetch new candles</a:t>
            </a:r>
            <a:endParaRPr lang="en-US" sz="1300" dirty="0"/>
          </a:p>
        </p:txBody>
      </p:sp>
      <p:sp>
        <p:nvSpPr>
          <p:cNvPr id="15" name="Text 13"/>
          <p:cNvSpPr/>
          <p:nvPr/>
        </p:nvSpPr>
        <p:spPr>
          <a:xfrm>
            <a:off x="731520" y="2788920"/>
            <a:ext cx="2331720" cy="1097280"/>
          </a:xfrm>
          <a:prstGeom prst="rect">
            <a:avLst/>
          </a:prstGeom>
          <a:noFill/>
          <a:ln/>
        </p:spPr>
        <p:txBody>
          <a:bodyPr wrap="square" rtlCol="0" anchor="t"/>
          <a:lstStyle/>
          <a:p>
            <a:pPr algn="ctr" indent="0" marL="0">
              <a:lnSpc>
                <a:spcPct val="110000"/>
              </a:lnSpc>
              <a:buNone/>
            </a:pPr>
            <a:r>
              <a:rPr lang="en-US" sz="1100" dirty="0">
                <a:solidFill>
                  <a:srgbClr val="0D1B2A"/>
                </a:solidFill>
                <a:latin typeface="Calibri" pitchFamily="34" charset="0"/>
                <a:ea typeface="Calibri" pitchFamily="34" charset="-122"/>
                <a:cs typeface="Calibri" pitchFamily="34" charset="-120"/>
              </a:rPr>
              <a:t>Pull only hours that did not exist when the training CSV was saved.</a:t>
            </a:r>
            <a:endParaRPr lang="en-US" sz="1100" dirty="0"/>
          </a:p>
        </p:txBody>
      </p:sp>
      <p:sp>
        <p:nvSpPr>
          <p:cNvPr id="16" name="Shape 14"/>
          <p:cNvSpPr/>
          <p:nvPr/>
        </p:nvSpPr>
        <p:spPr>
          <a:xfrm>
            <a:off x="3383280" y="1645920"/>
            <a:ext cx="2697480" cy="2377440"/>
          </a:xfrm>
          <a:prstGeom prst="roundRect">
            <a:avLst>
              <a:gd name="adj" fmla="val 3077"/>
            </a:avLst>
          </a:prstGeom>
          <a:solidFill>
            <a:srgbClr val="FFFFFF"/>
          </a:solidFill>
          <a:ln w="12700">
            <a:solidFill>
              <a:srgbClr val="CADCFC"/>
            </a:solidFill>
            <a:prstDash val="solid"/>
          </a:ln>
        </p:spPr>
      </p:sp>
      <p:sp>
        <p:nvSpPr>
          <p:cNvPr id="17" name="Shape 15"/>
          <p:cNvSpPr/>
          <p:nvPr/>
        </p:nvSpPr>
        <p:spPr>
          <a:xfrm>
            <a:off x="4480560" y="1828800"/>
            <a:ext cx="502920" cy="502920"/>
          </a:xfrm>
          <a:prstGeom prst="ellipse">
            <a:avLst/>
          </a:prstGeom>
          <a:solidFill>
            <a:srgbClr val="1B4965"/>
          </a:solidFill>
          <a:ln/>
        </p:spPr>
      </p:sp>
      <p:sp>
        <p:nvSpPr>
          <p:cNvPr id="18" name="Text 16"/>
          <p:cNvSpPr/>
          <p:nvPr/>
        </p:nvSpPr>
        <p:spPr>
          <a:xfrm>
            <a:off x="4480560" y="1828800"/>
            <a:ext cx="502920" cy="502920"/>
          </a:xfrm>
          <a:prstGeom prst="rect">
            <a:avLst/>
          </a:prstGeom>
          <a:noFill/>
          <a:ln/>
        </p:spPr>
        <p:txBody>
          <a:bodyPr wrap="square" rtlCol="0" anchor="ctr"/>
          <a:lstStyle/>
          <a:p>
            <a:pPr algn="ctr" indent="0" marL="0">
              <a:buNone/>
            </a:pPr>
            <a:r>
              <a:rPr lang="en-US" sz="1700" b="1" dirty="0">
                <a:solidFill>
                  <a:srgbClr val="F7931A"/>
                </a:solidFill>
                <a:latin typeface="Cambria" pitchFamily="34" charset="0"/>
                <a:ea typeface="Cambria" pitchFamily="34" charset="-122"/>
                <a:cs typeface="Cambria" pitchFamily="34" charset="-120"/>
              </a:rPr>
              <a:t>2</a:t>
            </a:r>
            <a:endParaRPr lang="en-US" sz="1700" dirty="0"/>
          </a:p>
        </p:txBody>
      </p:sp>
      <p:sp>
        <p:nvSpPr>
          <p:cNvPr id="19" name="Text 17"/>
          <p:cNvSpPr/>
          <p:nvPr/>
        </p:nvSpPr>
        <p:spPr>
          <a:xfrm>
            <a:off x="3566160" y="2450592"/>
            <a:ext cx="2331720" cy="320040"/>
          </a:xfrm>
          <a:prstGeom prst="rect">
            <a:avLst/>
          </a:prstGeom>
          <a:noFill/>
          <a:ln/>
        </p:spPr>
        <p:txBody>
          <a:bodyPr wrap="square" rtlCol="0" anchor="ctr"/>
          <a:lstStyle/>
          <a:p>
            <a:pPr algn="ctr" indent="0" marL="0">
              <a:buNone/>
            </a:pPr>
            <a:r>
              <a:rPr lang="en-US" sz="1300" b="1" dirty="0">
                <a:solidFill>
                  <a:srgbClr val="0D1B2A"/>
                </a:solidFill>
                <a:latin typeface="Cambria" pitchFamily="34" charset="0"/>
                <a:ea typeface="Cambria" pitchFamily="34" charset="-122"/>
                <a:cs typeface="Cambria" pitchFamily="34" charset="-120"/>
              </a:rPr>
              <a:t>Predict and log</a:t>
            </a:r>
            <a:endParaRPr lang="en-US" sz="1300" dirty="0"/>
          </a:p>
        </p:txBody>
      </p:sp>
      <p:sp>
        <p:nvSpPr>
          <p:cNvPr id="20" name="Text 18"/>
          <p:cNvSpPr/>
          <p:nvPr/>
        </p:nvSpPr>
        <p:spPr>
          <a:xfrm>
            <a:off x="3566160" y="2788920"/>
            <a:ext cx="2331720" cy="1097280"/>
          </a:xfrm>
          <a:prstGeom prst="rect">
            <a:avLst/>
          </a:prstGeom>
          <a:noFill/>
          <a:ln/>
        </p:spPr>
        <p:txBody>
          <a:bodyPr wrap="square" rtlCol="0" anchor="t"/>
          <a:lstStyle/>
          <a:p>
            <a:pPr algn="ctr" indent="0" marL="0">
              <a:lnSpc>
                <a:spcPct val="110000"/>
              </a:lnSpc>
              <a:buNone/>
            </a:pPr>
            <a:r>
              <a:rPr lang="en-US" sz="1100" dirty="0">
                <a:solidFill>
                  <a:srgbClr val="0D1B2A"/>
                </a:solidFill>
                <a:latin typeface="Calibri" pitchFamily="34" charset="0"/>
                <a:ea typeface="Calibri" pitchFamily="34" charset="-122"/>
                <a:cs typeface="Calibri" pitchFamily="34" charset="-120"/>
              </a:rPr>
              <a:t>Score each new hour with the saved models; append to predictions_log.csv.</a:t>
            </a:r>
            <a:endParaRPr lang="en-US" sz="1100" dirty="0"/>
          </a:p>
        </p:txBody>
      </p:sp>
      <p:sp>
        <p:nvSpPr>
          <p:cNvPr id="21" name="Shape 19"/>
          <p:cNvSpPr/>
          <p:nvPr/>
        </p:nvSpPr>
        <p:spPr>
          <a:xfrm>
            <a:off x="6217920" y="1645920"/>
            <a:ext cx="2697480" cy="2377440"/>
          </a:xfrm>
          <a:prstGeom prst="roundRect">
            <a:avLst>
              <a:gd name="adj" fmla="val 3077"/>
            </a:avLst>
          </a:prstGeom>
          <a:solidFill>
            <a:srgbClr val="FFFFFF"/>
          </a:solidFill>
          <a:ln w="12700">
            <a:solidFill>
              <a:srgbClr val="CADCFC"/>
            </a:solidFill>
            <a:prstDash val="solid"/>
          </a:ln>
        </p:spPr>
      </p:sp>
      <p:sp>
        <p:nvSpPr>
          <p:cNvPr id="22" name="Shape 20"/>
          <p:cNvSpPr/>
          <p:nvPr/>
        </p:nvSpPr>
        <p:spPr>
          <a:xfrm>
            <a:off x="7315200" y="1828800"/>
            <a:ext cx="502920" cy="502920"/>
          </a:xfrm>
          <a:prstGeom prst="ellipse">
            <a:avLst/>
          </a:prstGeom>
          <a:solidFill>
            <a:srgbClr val="1B4965"/>
          </a:solidFill>
          <a:ln/>
        </p:spPr>
      </p:sp>
      <p:sp>
        <p:nvSpPr>
          <p:cNvPr id="23" name="Text 21"/>
          <p:cNvSpPr/>
          <p:nvPr/>
        </p:nvSpPr>
        <p:spPr>
          <a:xfrm>
            <a:off x="7315200" y="1828800"/>
            <a:ext cx="502920" cy="502920"/>
          </a:xfrm>
          <a:prstGeom prst="rect">
            <a:avLst/>
          </a:prstGeom>
          <a:noFill/>
          <a:ln/>
        </p:spPr>
        <p:txBody>
          <a:bodyPr wrap="square" rtlCol="0" anchor="ctr"/>
          <a:lstStyle/>
          <a:p>
            <a:pPr algn="ctr" indent="0" marL="0">
              <a:buNone/>
            </a:pPr>
            <a:r>
              <a:rPr lang="en-US" sz="1700" b="1" dirty="0">
                <a:solidFill>
                  <a:srgbClr val="F7931A"/>
                </a:solidFill>
                <a:latin typeface="Cambria" pitchFamily="34" charset="0"/>
                <a:ea typeface="Cambria" pitchFamily="34" charset="-122"/>
                <a:cs typeface="Cambria" pitchFamily="34" charset="-120"/>
              </a:rPr>
              <a:t>3</a:t>
            </a:r>
            <a:endParaRPr lang="en-US" sz="1700" dirty="0"/>
          </a:p>
        </p:txBody>
      </p:sp>
      <p:sp>
        <p:nvSpPr>
          <p:cNvPr id="24" name="Text 22"/>
          <p:cNvSpPr/>
          <p:nvPr/>
        </p:nvSpPr>
        <p:spPr>
          <a:xfrm>
            <a:off x="6400800" y="2450592"/>
            <a:ext cx="2331720" cy="320040"/>
          </a:xfrm>
          <a:prstGeom prst="rect">
            <a:avLst/>
          </a:prstGeom>
          <a:noFill/>
          <a:ln/>
        </p:spPr>
        <p:txBody>
          <a:bodyPr wrap="square" rtlCol="0" anchor="ctr"/>
          <a:lstStyle/>
          <a:p>
            <a:pPr algn="ctr" indent="0" marL="0">
              <a:buNone/>
            </a:pPr>
            <a:r>
              <a:rPr lang="en-US" sz="1300" b="1" dirty="0">
                <a:solidFill>
                  <a:srgbClr val="0D1B2A"/>
                </a:solidFill>
                <a:latin typeface="Cambria" pitchFamily="34" charset="0"/>
                <a:ea typeface="Cambria" pitchFamily="34" charset="-122"/>
                <a:cs typeface="Cambria" pitchFamily="34" charset="-120"/>
              </a:rPr>
              <a:t>Wait 168 hours</a:t>
            </a:r>
            <a:endParaRPr lang="en-US" sz="1300" dirty="0"/>
          </a:p>
        </p:txBody>
      </p:sp>
      <p:sp>
        <p:nvSpPr>
          <p:cNvPr id="25" name="Text 23"/>
          <p:cNvSpPr/>
          <p:nvPr/>
        </p:nvSpPr>
        <p:spPr>
          <a:xfrm>
            <a:off x="6400800" y="2788920"/>
            <a:ext cx="2331720" cy="1097280"/>
          </a:xfrm>
          <a:prstGeom prst="rect">
            <a:avLst/>
          </a:prstGeom>
          <a:noFill/>
          <a:ln/>
        </p:spPr>
        <p:txBody>
          <a:bodyPr wrap="square" rtlCol="0" anchor="t"/>
          <a:lstStyle/>
          <a:p>
            <a:pPr algn="ctr" indent="0" marL="0">
              <a:lnSpc>
                <a:spcPct val="110000"/>
              </a:lnSpc>
              <a:buNone/>
            </a:pPr>
            <a:r>
              <a:rPr lang="en-US" sz="1100" dirty="0">
                <a:solidFill>
                  <a:srgbClr val="0D1B2A"/>
                </a:solidFill>
                <a:latin typeface="Calibri" pitchFamily="34" charset="0"/>
                <a:ea typeface="Calibri" pitchFamily="34" charset="-122"/>
                <a:cs typeface="Calibri" pitchFamily="34" charset="-120"/>
              </a:rPr>
              <a:t>The true 7-day volatility for that hour only becomes computable once a full week has passed.</a:t>
            </a:r>
            <a:endParaRPr lang="en-US" sz="1100" dirty="0"/>
          </a:p>
        </p:txBody>
      </p:sp>
      <p:sp>
        <p:nvSpPr>
          <p:cNvPr id="26" name="Shape 24"/>
          <p:cNvSpPr/>
          <p:nvPr/>
        </p:nvSpPr>
        <p:spPr>
          <a:xfrm>
            <a:off x="9052560" y="1645920"/>
            <a:ext cx="2697480" cy="2377440"/>
          </a:xfrm>
          <a:prstGeom prst="roundRect">
            <a:avLst>
              <a:gd name="adj" fmla="val 3077"/>
            </a:avLst>
          </a:prstGeom>
          <a:solidFill>
            <a:srgbClr val="FFFFFF"/>
          </a:solidFill>
          <a:ln w="12700">
            <a:solidFill>
              <a:srgbClr val="CADCFC"/>
            </a:solidFill>
            <a:prstDash val="solid"/>
          </a:ln>
        </p:spPr>
      </p:sp>
      <p:sp>
        <p:nvSpPr>
          <p:cNvPr id="27" name="Shape 25"/>
          <p:cNvSpPr/>
          <p:nvPr/>
        </p:nvSpPr>
        <p:spPr>
          <a:xfrm>
            <a:off x="10149840" y="1828800"/>
            <a:ext cx="502920" cy="502920"/>
          </a:xfrm>
          <a:prstGeom prst="ellipse">
            <a:avLst/>
          </a:prstGeom>
          <a:solidFill>
            <a:srgbClr val="1B4965"/>
          </a:solidFill>
          <a:ln/>
        </p:spPr>
      </p:sp>
      <p:sp>
        <p:nvSpPr>
          <p:cNvPr id="28" name="Text 26"/>
          <p:cNvSpPr/>
          <p:nvPr/>
        </p:nvSpPr>
        <p:spPr>
          <a:xfrm>
            <a:off x="10149840" y="1828800"/>
            <a:ext cx="502920" cy="502920"/>
          </a:xfrm>
          <a:prstGeom prst="rect">
            <a:avLst/>
          </a:prstGeom>
          <a:noFill/>
          <a:ln/>
        </p:spPr>
        <p:txBody>
          <a:bodyPr wrap="square" rtlCol="0" anchor="ctr"/>
          <a:lstStyle/>
          <a:p>
            <a:pPr algn="ctr" indent="0" marL="0">
              <a:buNone/>
            </a:pPr>
            <a:r>
              <a:rPr lang="en-US" sz="1700" b="1" dirty="0">
                <a:solidFill>
                  <a:srgbClr val="F7931A"/>
                </a:solidFill>
                <a:latin typeface="Cambria" pitchFamily="34" charset="0"/>
                <a:ea typeface="Cambria" pitchFamily="34" charset="-122"/>
                <a:cs typeface="Cambria" pitchFamily="34" charset="-120"/>
              </a:rPr>
              <a:t>4</a:t>
            </a:r>
            <a:endParaRPr lang="en-US" sz="1700" dirty="0"/>
          </a:p>
        </p:txBody>
      </p:sp>
      <p:sp>
        <p:nvSpPr>
          <p:cNvPr id="29" name="Text 27"/>
          <p:cNvSpPr/>
          <p:nvPr/>
        </p:nvSpPr>
        <p:spPr>
          <a:xfrm>
            <a:off x="9235440" y="2450592"/>
            <a:ext cx="2331720" cy="320040"/>
          </a:xfrm>
          <a:prstGeom prst="rect">
            <a:avLst/>
          </a:prstGeom>
          <a:noFill/>
          <a:ln/>
        </p:spPr>
        <p:txBody>
          <a:bodyPr wrap="square" rtlCol="0" anchor="ctr"/>
          <a:lstStyle/>
          <a:p>
            <a:pPr algn="ctr" indent="0" marL="0">
              <a:buNone/>
            </a:pPr>
            <a:r>
              <a:rPr lang="en-US" sz="1300" b="1" dirty="0">
                <a:solidFill>
                  <a:srgbClr val="0D1B2A"/>
                </a:solidFill>
                <a:latin typeface="Cambria" pitchFamily="34" charset="0"/>
                <a:ea typeface="Cambria" pitchFamily="34" charset="-122"/>
                <a:cs typeface="Cambria" pitchFamily="34" charset="-120"/>
              </a:rPr>
              <a:t>Score against reality</a:t>
            </a:r>
            <a:endParaRPr lang="en-US" sz="1300" dirty="0"/>
          </a:p>
        </p:txBody>
      </p:sp>
      <p:sp>
        <p:nvSpPr>
          <p:cNvPr id="30" name="Text 28"/>
          <p:cNvSpPr/>
          <p:nvPr/>
        </p:nvSpPr>
        <p:spPr>
          <a:xfrm>
            <a:off x="9235440" y="2788920"/>
            <a:ext cx="2331720" cy="1097280"/>
          </a:xfrm>
          <a:prstGeom prst="rect">
            <a:avLst/>
          </a:prstGeom>
          <a:noFill/>
          <a:ln/>
        </p:spPr>
        <p:txBody>
          <a:bodyPr wrap="square" rtlCol="0" anchor="t"/>
          <a:lstStyle/>
          <a:p>
            <a:pPr algn="ctr" indent="0" marL="0">
              <a:lnSpc>
                <a:spcPct val="110000"/>
              </a:lnSpc>
              <a:buNone/>
            </a:pPr>
            <a:r>
              <a:rPr lang="en-US" sz="1100" dirty="0">
                <a:solidFill>
                  <a:srgbClr val="0D1B2A"/>
                </a:solidFill>
                <a:latin typeface="Calibri" pitchFamily="34" charset="0"/>
                <a:ea typeface="Calibri" pitchFamily="34" charset="-122"/>
                <a:cs typeface="Calibri" pitchFamily="34" charset="-120"/>
              </a:rPr>
              <a:t>Compute genuine live RMSE/MAE — no way to peek at an answer that hasn't happened yet.</a:t>
            </a:r>
            <a:endParaRPr lang="en-US" sz="1100" dirty="0"/>
          </a:p>
        </p:txBody>
      </p:sp>
      <p:sp>
        <p:nvSpPr>
          <p:cNvPr id="31" name="Shape 29"/>
          <p:cNvSpPr/>
          <p:nvPr/>
        </p:nvSpPr>
        <p:spPr>
          <a:xfrm>
            <a:off x="548640" y="4297680"/>
            <a:ext cx="11064240" cy="1737360"/>
          </a:xfrm>
          <a:prstGeom prst="roundRect">
            <a:avLst>
              <a:gd name="adj" fmla="val 4211"/>
            </a:avLst>
          </a:prstGeom>
          <a:solidFill>
            <a:srgbClr val="0D1B2A"/>
          </a:solidFill>
          <a:ln/>
        </p:spPr>
      </p:sp>
      <p:sp>
        <p:nvSpPr>
          <p:cNvPr id="32" name="Text 30"/>
          <p:cNvSpPr/>
          <p:nvPr/>
        </p:nvSpPr>
        <p:spPr>
          <a:xfrm>
            <a:off x="868680" y="4480560"/>
            <a:ext cx="10424160" cy="320040"/>
          </a:xfrm>
          <a:prstGeom prst="rect">
            <a:avLst/>
          </a:prstGeom>
          <a:noFill/>
          <a:ln/>
        </p:spPr>
        <p:txBody>
          <a:bodyPr wrap="square" rtlCol="0" anchor="ctr"/>
          <a:lstStyle/>
          <a:p>
            <a:pPr indent="0" marL="0">
              <a:buNone/>
            </a:pPr>
            <a:r>
              <a:rPr lang="en-US" sz="1500" b="1" dirty="0">
                <a:solidFill>
                  <a:srgbClr val="F7931A"/>
                </a:solidFill>
                <a:latin typeface="Cambria" pitchFamily="34" charset="0"/>
                <a:ea typeface="Cambria" pitchFamily="34" charset="-122"/>
                <a:cs typeface="Cambria" pitchFamily="34" charset="-120"/>
              </a:rPr>
              <a:t>Why this matters more than the historical split</a:t>
            </a:r>
            <a:endParaRPr lang="en-US" sz="1500" dirty="0"/>
          </a:p>
        </p:txBody>
      </p:sp>
      <p:sp>
        <p:nvSpPr>
          <p:cNvPr id="33" name="Text 31"/>
          <p:cNvSpPr/>
          <p:nvPr/>
        </p:nvSpPr>
        <p:spPr>
          <a:xfrm>
            <a:off x="868680" y="4846320"/>
            <a:ext cx="10424160" cy="1051560"/>
          </a:xfrm>
          <a:prstGeom prst="rect">
            <a:avLst/>
          </a:prstGeom>
          <a:noFill/>
          <a:ln/>
        </p:spPr>
        <p:txBody>
          <a:bodyPr wrap="square" rtlCol="0" anchor="t"/>
          <a:lstStyle/>
          <a:p>
            <a:pPr indent="0" marL="0">
              <a:lnSpc>
                <a:spcPct val="120000"/>
              </a:lnSpc>
              <a:buNone/>
            </a:pPr>
            <a:r>
              <a:rPr lang="en-US" sz="1300" dirty="0">
                <a:solidFill>
                  <a:srgbClr val="FFFFFF"/>
                </a:solidFill>
                <a:latin typeface="Calibri" pitchFamily="34" charset="0"/>
                <a:ea typeface="Calibri" pitchFamily="34" charset="-122"/>
                <a:cs typeface="Calibri" pitchFamily="34" charset="-120"/>
              </a:rPr>
              <a:t>A historical hold-out can still flatter a model — through subtle leakage, or simply because the analyst iterated against that test set while developing. Predictions written down before the outcome exists cannot be fooled. This is the difference between claiming a model works and demonstrating 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10972800" y="365760"/>
            <a:ext cx="731520" cy="731520"/>
          </a:xfrm>
          <a:prstGeom prst="ellipse">
            <a:avLst/>
          </a:prstGeom>
          <a:solidFill>
            <a:srgbClr val="0D1B2A"/>
          </a:solidFill>
          <a:ln/>
        </p:spPr>
      </p:sp>
      <p:sp>
        <p:nvSpPr>
          <p:cNvPr id="3" name="Shape 1"/>
          <p:cNvSpPr/>
          <p:nvPr/>
        </p:nvSpPr>
        <p:spPr>
          <a:xfrm flipV="1">
            <a:off x="11133734" y="588142"/>
            <a:ext cx="122895" cy="204826"/>
          </a:xfrm>
          <a:prstGeom prst="line">
            <a:avLst/>
          </a:prstGeom>
          <a:noFill/>
          <a:ln w="25400">
            <a:solidFill>
              <a:srgbClr val="F7931A"/>
            </a:solidFill>
            <a:prstDash val="solid"/>
          </a:ln>
        </p:spPr>
      </p:sp>
      <p:sp>
        <p:nvSpPr>
          <p:cNvPr id="4" name="Shape 2"/>
          <p:cNvSpPr/>
          <p:nvPr/>
        </p:nvSpPr>
        <p:spPr>
          <a:xfrm>
            <a:off x="11256630" y="588142"/>
            <a:ext cx="81930" cy="245791"/>
          </a:xfrm>
          <a:prstGeom prst="line">
            <a:avLst/>
          </a:prstGeom>
          <a:noFill/>
          <a:ln w="25400">
            <a:solidFill>
              <a:srgbClr val="F7931A"/>
            </a:solidFill>
            <a:prstDash val="solid"/>
          </a:ln>
        </p:spPr>
      </p:sp>
      <p:sp>
        <p:nvSpPr>
          <p:cNvPr id="5" name="Shape 3"/>
          <p:cNvSpPr/>
          <p:nvPr/>
        </p:nvSpPr>
        <p:spPr>
          <a:xfrm flipV="1">
            <a:off x="11338560" y="526694"/>
            <a:ext cx="102413" cy="307238"/>
          </a:xfrm>
          <a:prstGeom prst="line">
            <a:avLst/>
          </a:prstGeom>
          <a:noFill/>
          <a:ln w="25400">
            <a:solidFill>
              <a:srgbClr val="F7931A"/>
            </a:solidFill>
            <a:prstDash val="solid"/>
          </a:ln>
        </p:spPr>
      </p:sp>
      <p:sp>
        <p:nvSpPr>
          <p:cNvPr id="6" name="Shape 4"/>
          <p:cNvSpPr/>
          <p:nvPr/>
        </p:nvSpPr>
        <p:spPr>
          <a:xfrm>
            <a:off x="11440973" y="526694"/>
            <a:ext cx="102413" cy="184343"/>
          </a:xfrm>
          <a:prstGeom prst="line">
            <a:avLst/>
          </a:prstGeom>
          <a:noFill/>
          <a:ln w="25400">
            <a:solidFill>
              <a:srgbClr val="F7931A"/>
            </a:solidFill>
            <a:prstDash val="solid"/>
          </a:ln>
        </p:spPr>
      </p:sp>
      <p:sp>
        <p:nvSpPr>
          <p:cNvPr id="7" name="Text 5"/>
          <p:cNvSpPr/>
          <p:nvPr/>
        </p:nvSpPr>
        <p:spPr>
          <a:xfrm>
            <a:off x="548640" y="365760"/>
            <a:ext cx="10058400" cy="640080"/>
          </a:xfrm>
          <a:prstGeom prst="rect">
            <a:avLst/>
          </a:prstGeom>
          <a:noFill/>
          <a:ln/>
        </p:spPr>
        <p:txBody>
          <a:bodyPr wrap="square" rtlCol="0" anchor="ctr"/>
          <a:lstStyle/>
          <a:p>
            <a:pPr indent="0" marL="0">
              <a:buNone/>
            </a:pPr>
            <a:r>
              <a:rPr lang="en-US" sz="3000" b="1" dirty="0">
                <a:solidFill>
                  <a:srgbClr val="0D1B2A"/>
                </a:solidFill>
                <a:latin typeface="Cambria" pitchFamily="34" charset="0"/>
                <a:ea typeface="Cambria" pitchFamily="34" charset="-122"/>
                <a:cs typeface="Cambria" pitchFamily="34" charset="-120"/>
              </a:rPr>
              <a:t>Conclusion</a:t>
            </a:r>
            <a:endParaRPr lang="en-US" sz="3000" dirty="0"/>
          </a:p>
        </p:txBody>
      </p:sp>
      <p:sp>
        <p:nvSpPr>
          <p:cNvPr id="8" name="Text 6"/>
          <p:cNvSpPr/>
          <p:nvPr/>
        </p:nvSpPr>
        <p:spPr>
          <a:xfrm>
            <a:off x="548640" y="932688"/>
            <a:ext cx="10515600" cy="365760"/>
          </a:xfrm>
          <a:prstGeom prst="rect">
            <a:avLst/>
          </a:prstGeom>
          <a:noFill/>
          <a:ln/>
        </p:spPr>
        <p:txBody>
          <a:bodyPr wrap="square" rtlCol="0" anchor="ctr"/>
          <a:lstStyle/>
          <a:p>
            <a:pPr indent="0" marL="0">
              <a:buNone/>
            </a:pPr>
            <a:r>
              <a:rPr lang="en-US" sz="1400" i="1" dirty="0">
                <a:solidFill>
                  <a:srgbClr val="5C6B7A"/>
                </a:solidFill>
                <a:latin typeface="Calibri" pitchFamily="34" charset="0"/>
                <a:ea typeface="Calibri" pitchFamily="34" charset="-122"/>
                <a:cs typeface="Calibri" pitchFamily="34" charset="-120"/>
              </a:rPr>
              <a:t>Implications, limitations, and what comes next</a:t>
            </a:r>
            <a:endParaRPr lang="en-US" sz="1400" dirty="0"/>
          </a:p>
        </p:txBody>
      </p:sp>
      <p:sp>
        <p:nvSpPr>
          <p:cNvPr id="9" name="Text 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C6B7A"/>
                </a:solidFill>
                <a:latin typeface="Calibri" pitchFamily="34" charset="0"/>
                <a:ea typeface="Calibri" pitchFamily="34" charset="-122"/>
                <a:cs typeface="Calibri" pitchFamily="34" charset="-120"/>
              </a:rPr>
              <a:t>BTC Volatility Prediction  |  Capstone</a:t>
            </a:r>
            <a:endParaRPr lang="en-US" sz="900" dirty="0"/>
          </a:p>
        </p:txBody>
      </p:sp>
      <p:sp>
        <p:nvSpPr>
          <p:cNvPr id="10" name="Text 8"/>
          <p:cNvSpPr/>
          <p:nvPr/>
        </p:nvSpPr>
        <p:spPr>
          <a:xfrm>
            <a:off x="11521440" y="6537960"/>
            <a:ext cx="457200" cy="274320"/>
          </a:xfrm>
          <a:prstGeom prst="rect">
            <a:avLst/>
          </a:prstGeom>
          <a:noFill/>
          <a:ln/>
        </p:spPr>
        <p:txBody>
          <a:bodyPr wrap="square" rtlCol="0" anchor="ctr"/>
          <a:lstStyle/>
          <a:p>
            <a:pPr algn="r" indent="0" marL="0">
              <a:buNone/>
            </a:pPr>
            <a:r>
              <a:rPr lang="en-US" sz="900" dirty="0">
                <a:solidFill>
                  <a:srgbClr val="5C6B7A"/>
                </a:solidFill>
                <a:latin typeface="Calibri" pitchFamily="34" charset="0"/>
                <a:ea typeface="Calibri" pitchFamily="34" charset="-122"/>
                <a:cs typeface="Calibri" pitchFamily="34" charset="-120"/>
              </a:rPr>
              <a:t>12</a:t>
            </a:r>
            <a:endParaRPr lang="en-US" sz="900" dirty="0"/>
          </a:p>
        </p:txBody>
      </p:sp>
      <p:sp>
        <p:nvSpPr>
          <p:cNvPr id="11" name="Shape 9"/>
          <p:cNvSpPr/>
          <p:nvPr/>
        </p:nvSpPr>
        <p:spPr>
          <a:xfrm>
            <a:off x="548640" y="1554480"/>
            <a:ext cx="3611880" cy="4480560"/>
          </a:xfrm>
          <a:prstGeom prst="roundRect">
            <a:avLst>
              <a:gd name="adj" fmla="val 2025"/>
            </a:avLst>
          </a:prstGeom>
          <a:solidFill>
            <a:srgbClr val="FFFFFF"/>
          </a:solidFill>
          <a:ln/>
          <a:effectLst>
            <a:outerShdw sx="100000" sy="100000" kx="0" ky="0" algn="bl" rotWithShape="0" blurRad="76200" dist="25400" dir="5400000">
              <a:srgbClr val="888888">
                <a:alpha val="20000"/>
              </a:srgbClr>
            </a:outerShdw>
          </a:effectLst>
        </p:spPr>
      </p:sp>
      <p:sp>
        <p:nvSpPr>
          <p:cNvPr id="12" name="Shape 10"/>
          <p:cNvSpPr/>
          <p:nvPr/>
        </p:nvSpPr>
        <p:spPr>
          <a:xfrm>
            <a:off x="548640" y="1554480"/>
            <a:ext cx="3611880" cy="548640"/>
          </a:xfrm>
          <a:prstGeom prst="roundRect">
            <a:avLst>
              <a:gd name="adj" fmla="val 13333"/>
            </a:avLst>
          </a:prstGeom>
          <a:solidFill>
            <a:srgbClr val="1B4965"/>
          </a:solidFill>
          <a:ln/>
        </p:spPr>
      </p:sp>
      <p:sp>
        <p:nvSpPr>
          <p:cNvPr id="13" name="Text 11"/>
          <p:cNvSpPr/>
          <p:nvPr/>
        </p:nvSpPr>
        <p:spPr>
          <a:xfrm>
            <a:off x="548640" y="1554480"/>
            <a:ext cx="3611880" cy="548640"/>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Business implications</a:t>
            </a:r>
            <a:endParaRPr lang="en-US" sz="1400" dirty="0"/>
          </a:p>
        </p:txBody>
      </p:sp>
      <p:sp>
        <p:nvSpPr>
          <p:cNvPr id="14" name="Text 12"/>
          <p:cNvSpPr/>
          <p:nvPr/>
        </p:nvSpPr>
        <p:spPr>
          <a:xfrm>
            <a:off x="804672" y="2267712"/>
            <a:ext cx="3108960" cy="3657600"/>
          </a:xfrm>
          <a:prstGeom prst="rect">
            <a:avLst/>
          </a:prstGeom>
          <a:noFill/>
          <a:ln/>
        </p:spPr>
        <p:txBody>
          <a:bodyPr wrap="square" rtlCol="0" anchor="t"/>
          <a:lstStyle/>
          <a:p>
            <a:pPr marL="342900" indent="-342900">
              <a:lnSpc>
                <a:spcPct val="115000"/>
              </a:lnSpc>
              <a:spcAft>
                <a:spcPts val="1000"/>
              </a:spcAft>
              <a:buSzPct val="100000"/>
              <a:buChar char="●"/>
            </a:pPr>
            <a:r>
              <a:rPr lang="en-US" sz="1100" dirty="0">
                <a:solidFill>
                  <a:srgbClr val="0D1B2A"/>
                </a:solidFill>
                <a:latin typeface="Calibri" pitchFamily="34" charset="0"/>
                <a:ea typeface="Calibri" pitchFamily="34" charset="-122"/>
                <a:cs typeface="Calibri" pitchFamily="34" charset="-120"/>
              </a:rPr>
              <a:t>Continuous σ feeds directly into Black-Scholes option pricing</a:t>
            </a:r>
            <a:endParaRPr lang="en-US" sz="1100" dirty="0"/>
          </a:p>
          <a:p>
            <a:pPr marL="342900" indent="-342900">
              <a:lnSpc>
                <a:spcPct val="115000"/>
              </a:lnSpc>
              <a:spcAft>
                <a:spcPts val="1000"/>
              </a:spcAft>
              <a:buSzPct val="100000"/>
              <a:buChar char="●"/>
            </a:pPr>
            <a:r>
              <a:rPr lang="en-US" sz="1100" dirty="0">
                <a:solidFill>
                  <a:srgbClr val="0D1B2A"/>
                </a:solidFill>
                <a:latin typeface="Calibri" pitchFamily="34" charset="0"/>
                <a:ea typeface="Calibri" pitchFamily="34" charset="-122"/>
                <a:cs typeface="Calibri" pitchFamily="34" charset="-120"/>
              </a:rPr>
              <a:t>Drives Value-at-Risk and capital reserve calculations</a:t>
            </a:r>
            <a:endParaRPr lang="en-US" sz="1100" dirty="0"/>
          </a:p>
          <a:p>
            <a:pPr marL="342900" indent="-342900">
              <a:lnSpc>
                <a:spcPct val="115000"/>
              </a:lnSpc>
              <a:spcAft>
                <a:spcPts val="1000"/>
              </a:spcAft>
              <a:buSzPct val="100000"/>
              <a:buChar char="●"/>
            </a:pPr>
            <a:r>
              <a:rPr lang="en-US" sz="1100" dirty="0">
                <a:solidFill>
                  <a:srgbClr val="0D1B2A"/>
                </a:solidFill>
                <a:latin typeface="Calibri" pitchFamily="34" charset="0"/>
                <a:ea typeface="Calibri" pitchFamily="34" charset="-122"/>
                <a:cs typeface="Calibri" pitchFamily="34" charset="-120"/>
              </a:rPr>
              <a:t>Enables volatility-scaled position sizing</a:t>
            </a:r>
            <a:endParaRPr lang="en-US" sz="1100" dirty="0"/>
          </a:p>
          <a:p>
            <a:pPr marL="342900" indent="-342900">
              <a:lnSpc>
                <a:spcPct val="115000"/>
              </a:lnSpc>
              <a:spcAft>
                <a:spcPts val="1000"/>
              </a:spcAft>
              <a:buSzPct val="100000"/>
              <a:buChar char="●"/>
            </a:pPr>
            <a:r>
              <a:rPr lang="en-US" sz="1100" dirty="0">
                <a:solidFill>
                  <a:srgbClr val="0D1B2A"/>
                </a:solidFill>
                <a:latin typeface="Calibri" pitchFamily="34" charset="0"/>
                <a:ea typeface="Calibri" pitchFamily="34" charset="-122"/>
                <a:cs typeface="Calibri" pitchFamily="34" charset="-120"/>
              </a:rPr>
              <a:t>Informs exchange margin and liquidation thresholds</a:t>
            </a:r>
            <a:endParaRPr lang="en-US" sz="1100" dirty="0"/>
          </a:p>
        </p:txBody>
      </p:sp>
      <p:sp>
        <p:nvSpPr>
          <p:cNvPr id="15" name="Shape 13"/>
          <p:cNvSpPr/>
          <p:nvPr/>
        </p:nvSpPr>
        <p:spPr>
          <a:xfrm>
            <a:off x="4343400" y="1554480"/>
            <a:ext cx="3611880" cy="4480560"/>
          </a:xfrm>
          <a:prstGeom prst="roundRect">
            <a:avLst>
              <a:gd name="adj" fmla="val 2025"/>
            </a:avLst>
          </a:prstGeom>
          <a:solidFill>
            <a:srgbClr val="FFFFFF"/>
          </a:solidFill>
          <a:ln/>
          <a:effectLst>
            <a:outerShdw sx="100000" sy="100000" kx="0" ky="0" algn="bl" rotWithShape="0" blurRad="76200" dist="25400" dir="5400000">
              <a:srgbClr val="888888">
                <a:alpha val="20000"/>
              </a:srgbClr>
            </a:outerShdw>
          </a:effectLst>
        </p:spPr>
      </p:sp>
      <p:sp>
        <p:nvSpPr>
          <p:cNvPr id="16" name="Shape 14"/>
          <p:cNvSpPr/>
          <p:nvPr/>
        </p:nvSpPr>
        <p:spPr>
          <a:xfrm>
            <a:off x="4343400" y="1554480"/>
            <a:ext cx="3611880" cy="548640"/>
          </a:xfrm>
          <a:prstGeom prst="roundRect">
            <a:avLst>
              <a:gd name="adj" fmla="val 13333"/>
            </a:avLst>
          </a:prstGeom>
          <a:solidFill>
            <a:srgbClr val="0D1B2A"/>
          </a:solidFill>
          <a:ln/>
        </p:spPr>
      </p:sp>
      <p:sp>
        <p:nvSpPr>
          <p:cNvPr id="17" name="Text 15"/>
          <p:cNvSpPr/>
          <p:nvPr/>
        </p:nvSpPr>
        <p:spPr>
          <a:xfrm>
            <a:off x="4343400" y="1554480"/>
            <a:ext cx="3611880" cy="548640"/>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Limitations</a:t>
            </a:r>
            <a:endParaRPr lang="en-US" sz="1400" dirty="0"/>
          </a:p>
        </p:txBody>
      </p:sp>
      <p:sp>
        <p:nvSpPr>
          <p:cNvPr id="18" name="Text 16"/>
          <p:cNvSpPr/>
          <p:nvPr/>
        </p:nvSpPr>
        <p:spPr>
          <a:xfrm>
            <a:off x="4599432" y="2267712"/>
            <a:ext cx="3108960" cy="3657600"/>
          </a:xfrm>
          <a:prstGeom prst="rect">
            <a:avLst/>
          </a:prstGeom>
          <a:noFill/>
          <a:ln/>
        </p:spPr>
        <p:txBody>
          <a:bodyPr wrap="square" rtlCol="0" anchor="t"/>
          <a:lstStyle/>
          <a:p>
            <a:pPr marL="342900" indent="-342900">
              <a:lnSpc>
                <a:spcPct val="115000"/>
              </a:lnSpc>
              <a:spcAft>
                <a:spcPts val="1000"/>
              </a:spcAft>
              <a:buSzPct val="100000"/>
              <a:buChar char="●"/>
            </a:pPr>
            <a:r>
              <a:rPr lang="en-US" sz="1100" dirty="0">
                <a:solidFill>
                  <a:srgbClr val="0D1B2A"/>
                </a:solidFill>
                <a:latin typeface="Calibri" pitchFamily="34" charset="0"/>
                <a:ea typeface="Calibri" pitchFamily="34" charset="-122"/>
                <a:cs typeface="Calibri" pitchFamily="34" charset="-120"/>
              </a:rPr>
              <a:t>Volatility is partly driven by news absent from price data — a hard accuracy ceiling</a:t>
            </a:r>
            <a:endParaRPr lang="en-US" sz="1100" dirty="0"/>
          </a:p>
          <a:p>
            <a:pPr marL="342900" indent="-342900">
              <a:lnSpc>
                <a:spcPct val="115000"/>
              </a:lnSpc>
              <a:spcAft>
                <a:spcPts val="1000"/>
              </a:spcAft>
              <a:buSzPct val="100000"/>
              <a:buChar char="●"/>
            </a:pPr>
            <a:r>
              <a:rPr lang="en-US" sz="1100" dirty="0">
                <a:solidFill>
                  <a:srgbClr val="0D1B2A"/>
                </a:solidFill>
                <a:latin typeface="Calibri" pitchFamily="34" charset="0"/>
                <a:ea typeface="Calibri" pitchFamily="34" charset="-122"/>
                <a:cs typeface="Calibri" pitchFamily="34" charset="-120"/>
              </a:rPr>
              <a:t>GARCH forecast is a static fit, not a rolling refit</a:t>
            </a:r>
            <a:endParaRPr lang="en-US" sz="1100" dirty="0"/>
          </a:p>
          <a:p>
            <a:pPr marL="342900" indent="-342900">
              <a:lnSpc>
                <a:spcPct val="115000"/>
              </a:lnSpc>
              <a:spcAft>
                <a:spcPts val="1000"/>
              </a:spcAft>
              <a:buSzPct val="100000"/>
              <a:buChar char="●"/>
            </a:pPr>
            <a:r>
              <a:rPr lang="en-US" sz="1100" dirty="0">
                <a:solidFill>
                  <a:srgbClr val="0D1B2A"/>
                </a:solidFill>
                <a:latin typeface="Calibri" pitchFamily="34" charset="0"/>
                <a:ea typeface="Calibri" pitchFamily="34" charset="-122"/>
                <a:cs typeface="Calibri" pitchFamily="34" charset="-120"/>
              </a:rPr>
              <a:t>Single asset: no cross-asset spillover signal</a:t>
            </a:r>
            <a:endParaRPr lang="en-US" sz="1100" dirty="0"/>
          </a:p>
          <a:p>
            <a:pPr marL="342900" indent="-342900">
              <a:lnSpc>
                <a:spcPct val="115000"/>
              </a:lnSpc>
              <a:spcAft>
                <a:spcPts val="1000"/>
              </a:spcAft>
              <a:buSzPct val="100000"/>
              <a:buChar char="●"/>
            </a:pPr>
            <a:r>
              <a:rPr lang="en-US" sz="1100" dirty="0">
                <a:solidFill>
                  <a:srgbClr val="0D1B2A"/>
                </a:solidFill>
                <a:latin typeface="Calibri" pitchFamily="34" charset="0"/>
                <a:ea typeface="Calibri" pitchFamily="34" charset="-122"/>
                <a:cs typeface="Calibri" pitchFamily="34" charset="-120"/>
              </a:rPr>
              <a:t>LSTM is data-hungry and overfits a noisy target</a:t>
            </a:r>
            <a:endParaRPr lang="en-US" sz="1100" dirty="0"/>
          </a:p>
        </p:txBody>
      </p:sp>
      <p:sp>
        <p:nvSpPr>
          <p:cNvPr id="19" name="Shape 17"/>
          <p:cNvSpPr/>
          <p:nvPr/>
        </p:nvSpPr>
        <p:spPr>
          <a:xfrm>
            <a:off x="8138160" y="1554480"/>
            <a:ext cx="3611880" cy="4480560"/>
          </a:xfrm>
          <a:prstGeom prst="roundRect">
            <a:avLst>
              <a:gd name="adj" fmla="val 2025"/>
            </a:avLst>
          </a:prstGeom>
          <a:solidFill>
            <a:srgbClr val="FFFFFF"/>
          </a:solidFill>
          <a:ln/>
          <a:effectLst>
            <a:outerShdw sx="100000" sy="100000" kx="0" ky="0" algn="bl" rotWithShape="0" blurRad="76200" dist="25400" dir="5400000">
              <a:srgbClr val="888888">
                <a:alpha val="20000"/>
              </a:srgbClr>
            </a:outerShdw>
          </a:effectLst>
        </p:spPr>
      </p:sp>
      <p:sp>
        <p:nvSpPr>
          <p:cNvPr id="20" name="Shape 18"/>
          <p:cNvSpPr/>
          <p:nvPr/>
        </p:nvSpPr>
        <p:spPr>
          <a:xfrm>
            <a:off x="8138160" y="1554480"/>
            <a:ext cx="3611880" cy="548640"/>
          </a:xfrm>
          <a:prstGeom prst="roundRect">
            <a:avLst>
              <a:gd name="adj" fmla="val 13333"/>
            </a:avLst>
          </a:prstGeom>
          <a:solidFill>
            <a:srgbClr val="F7931A"/>
          </a:solidFill>
          <a:ln/>
        </p:spPr>
      </p:sp>
      <p:sp>
        <p:nvSpPr>
          <p:cNvPr id="21" name="Text 19"/>
          <p:cNvSpPr/>
          <p:nvPr/>
        </p:nvSpPr>
        <p:spPr>
          <a:xfrm>
            <a:off x="8138160" y="1554480"/>
            <a:ext cx="3611880" cy="548640"/>
          </a:xfrm>
          <a:prstGeom prst="rect">
            <a:avLst/>
          </a:prstGeom>
          <a:noFill/>
          <a:ln/>
        </p:spPr>
        <p:txBody>
          <a:bodyPr wrap="square" rtlCol="0" anchor="ctr"/>
          <a:lstStyle/>
          <a:p>
            <a:pPr algn="ctr" indent="0" marL="0">
              <a:buNone/>
            </a:pPr>
            <a:r>
              <a:rPr lang="en-US" sz="1400" b="1" dirty="0">
                <a:solidFill>
                  <a:srgbClr val="0D1B2A"/>
                </a:solidFill>
                <a:latin typeface="Cambria" pitchFamily="34" charset="0"/>
                <a:ea typeface="Cambria" pitchFamily="34" charset="-122"/>
                <a:cs typeface="Cambria" pitchFamily="34" charset="-120"/>
              </a:rPr>
              <a:t>Future improvements</a:t>
            </a:r>
            <a:endParaRPr lang="en-US" sz="1400" dirty="0"/>
          </a:p>
        </p:txBody>
      </p:sp>
      <p:sp>
        <p:nvSpPr>
          <p:cNvPr id="22" name="Text 20"/>
          <p:cNvSpPr/>
          <p:nvPr/>
        </p:nvSpPr>
        <p:spPr>
          <a:xfrm>
            <a:off x="8394192" y="2267712"/>
            <a:ext cx="3108960" cy="3657600"/>
          </a:xfrm>
          <a:prstGeom prst="rect">
            <a:avLst/>
          </a:prstGeom>
          <a:noFill/>
          <a:ln/>
        </p:spPr>
        <p:txBody>
          <a:bodyPr wrap="square" rtlCol="0" anchor="t"/>
          <a:lstStyle/>
          <a:p>
            <a:pPr marL="342900" indent="-342900">
              <a:lnSpc>
                <a:spcPct val="115000"/>
              </a:lnSpc>
              <a:spcAft>
                <a:spcPts val="1000"/>
              </a:spcAft>
              <a:buSzPct val="100000"/>
              <a:buChar char="●"/>
            </a:pPr>
            <a:r>
              <a:rPr lang="en-US" sz="1100" dirty="0">
                <a:solidFill>
                  <a:srgbClr val="0D1B2A"/>
                </a:solidFill>
                <a:latin typeface="Calibri" pitchFamily="34" charset="0"/>
                <a:ea typeface="Calibri" pitchFamily="34" charset="-122"/>
                <a:cs typeface="Calibri" pitchFamily="34" charset="-120"/>
              </a:rPr>
              <a:t>LLM-scored news sentiment as an added feature</a:t>
            </a:r>
            <a:endParaRPr lang="en-US" sz="1100" dirty="0"/>
          </a:p>
          <a:p>
            <a:pPr marL="342900" indent="-342900">
              <a:lnSpc>
                <a:spcPct val="115000"/>
              </a:lnSpc>
              <a:spcAft>
                <a:spcPts val="1000"/>
              </a:spcAft>
              <a:buSzPct val="100000"/>
              <a:buChar char="●"/>
            </a:pPr>
            <a:r>
              <a:rPr lang="en-US" sz="1100" dirty="0">
                <a:solidFill>
                  <a:srgbClr val="0D1B2A"/>
                </a:solidFill>
                <a:latin typeface="Calibri" pitchFamily="34" charset="0"/>
                <a:ea typeface="Calibri" pitchFamily="34" charset="-122"/>
                <a:cs typeface="Calibri" pitchFamily="34" charset="-120"/>
              </a:rPr>
              <a:t>Rolling/expanding-window GARCH refit</a:t>
            </a:r>
            <a:endParaRPr lang="en-US" sz="1100" dirty="0"/>
          </a:p>
          <a:p>
            <a:pPr marL="342900" indent="-342900">
              <a:lnSpc>
                <a:spcPct val="115000"/>
              </a:lnSpc>
              <a:spcAft>
                <a:spcPts val="1000"/>
              </a:spcAft>
              <a:buSzPct val="100000"/>
              <a:buChar char="●"/>
            </a:pPr>
            <a:r>
              <a:rPr lang="en-US" sz="1100" dirty="0">
                <a:solidFill>
                  <a:srgbClr val="0D1B2A"/>
                </a:solidFill>
                <a:latin typeface="Calibri" pitchFamily="34" charset="0"/>
                <a:ea typeface="Calibri" pitchFamily="34" charset="-122"/>
                <a:cs typeface="Calibri" pitchFamily="34" charset="-120"/>
              </a:rPr>
              <a:t>Automate live testing on a schedule for a longer track record</a:t>
            </a:r>
            <a:endParaRPr lang="en-US" sz="1100" dirty="0"/>
          </a:p>
          <a:p>
            <a:pPr marL="342900" indent="-342900">
              <a:lnSpc>
                <a:spcPct val="115000"/>
              </a:lnSpc>
              <a:spcAft>
                <a:spcPts val="1000"/>
              </a:spcAft>
              <a:buSzPct val="100000"/>
              <a:buChar char="●"/>
            </a:pPr>
            <a:r>
              <a:rPr lang="en-US" sz="1100" dirty="0">
                <a:solidFill>
                  <a:srgbClr val="0D1B2A"/>
                </a:solidFill>
                <a:latin typeface="Calibri" pitchFamily="34" charset="0"/>
                <a:ea typeface="Calibri" pitchFamily="34" charset="-122"/>
                <a:cs typeface="Calibri" pitchFamily="34" charset="-120"/>
              </a:rPr>
              <a:t>Ensemble the three tuned models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5623560" y="1280160"/>
            <a:ext cx="1371600" cy="1371600"/>
          </a:xfrm>
          <a:prstGeom prst="ellipse">
            <a:avLst/>
          </a:prstGeom>
          <a:solidFill>
            <a:srgbClr val="1B4965"/>
          </a:solidFill>
          <a:ln/>
        </p:spPr>
      </p:sp>
      <p:sp>
        <p:nvSpPr>
          <p:cNvPr id="3" name="Shape 1"/>
          <p:cNvSpPr/>
          <p:nvPr/>
        </p:nvSpPr>
        <p:spPr>
          <a:xfrm flipV="1">
            <a:off x="5925312" y="1697126"/>
            <a:ext cx="230429" cy="384048"/>
          </a:xfrm>
          <a:prstGeom prst="line">
            <a:avLst/>
          </a:prstGeom>
          <a:noFill/>
          <a:ln w="25400">
            <a:solidFill>
              <a:srgbClr val="F7931A"/>
            </a:solidFill>
            <a:prstDash val="solid"/>
          </a:ln>
        </p:spPr>
      </p:sp>
      <p:sp>
        <p:nvSpPr>
          <p:cNvPr id="4" name="Shape 2"/>
          <p:cNvSpPr/>
          <p:nvPr/>
        </p:nvSpPr>
        <p:spPr>
          <a:xfrm>
            <a:off x="6155741" y="1697126"/>
            <a:ext cx="153619" cy="460858"/>
          </a:xfrm>
          <a:prstGeom prst="line">
            <a:avLst/>
          </a:prstGeom>
          <a:noFill/>
          <a:ln w="25400">
            <a:solidFill>
              <a:srgbClr val="F7931A"/>
            </a:solidFill>
            <a:prstDash val="solid"/>
          </a:ln>
        </p:spPr>
      </p:sp>
      <p:sp>
        <p:nvSpPr>
          <p:cNvPr id="5" name="Shape 3"/>
          <p:cNvSpPr/>
          <p:nvPr/>
        </p:nvSpPr>
        <p:spPr>
          <a:xfrm flipV="1">
            <a:off x="6309360" y="1581912"/>
            <a:ext cx="192024" cy="576072"/>
          </a:xfrm>
          <a:prstGeom prst="line">
            <a:avLst/>
          </a:prstGeom>
          <a:noFill/>
          <a:ln w="25400">
            <a:solidFill>
              <a:srgbClr val="F7931A"/>
            </a:solidFill>
            <a:prstDash val="solid"/>
          </a:ln>
        </p:spPr>
      </p:sp>
      <p:sp>
        <p:nvSpPr>
          <p:cNvPr id="6" name="Shape 4"/>
          <p:cNvSpPr/>
          <p:nvPr/>
        </p:nvSpPr>
        <p:spPr>
          <a:xfrm>
            <a:off x="6501384" y="1581912"/>
            <a:ext cx="192024" cy="345643"/>
          </a:xfrm>
          <a:prstGeom prst="line">
            <a:avLst/>
          </a:prstGeom>
          <a:noFill/>
          <a:ln w="25400">
            <a:solidFill>
              <a:srgbClr val="F7931A"/>
            </a:solidFill>
            <a:prstDash val="solid"/>
          </a:ln>
        </p:spPr>
      </p:sp>
      <p:sp>
        <p:nvSpPr>
          <p:cNvPr id="7" name="Text 5"/>
          <p:cNvSpPr/>
          <p:nvPr/>
        </p:nvSpPr>
        <p:spPr>
          <a:xfrm>
            <a:off x="731520" y="3108960"/>
            <a:ext cx="10515600" cy="914400"/>
          </a:xfrm>
          <a:prstGeom prst="rect">
            <a:avLst/>
          </a:prstGeom>
          <a:noFill/>
          <a:ln/>
        </p:spPr>
        <p:txBody>
          <a:bodyPr wrap="square"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Thank you</a:t>
            </a:r>
            <a:endParaRPr lang="en-US" sz="4000" dirty="0"/>
          </a:p>
        </p:txBody>
      </p:sp>
      <p:sp>
        <p:nvSpPr>
          <p:cNvPr id="8" name="Text 6"/>
          <p:cNvSpPr/>
          <p:nvPr/>
        </p:nvSpPr>
        <p:spPr>
          <a:xfrm>
            <a:off x="731520" y="4069080"/>
            <a:ext cx="10515600" cy="548640"/>
          </a:xfrm>
          <a:prstGeom prst="rect">
            <a:avLst/>
          </a:prstGeom>
          <a:noFill/>
          <a:ln/>
        </p:spPr>
        <p:txBody>
          <a:bodyPr wrap="square" rtlCol="0" anchor="ctr"/>
          <a:lstStyle/>
          <a:p>
            <a:pPr algn="ctr" indent="0" marL="0">
              <a:buNone/>
            </a:pPr>
            <a:r>
              <a:rPr lang="en-US" sz="1800" i="1" dirty="0">
                <a:solidFill>
                  <a:srgbClr val="CADCFC"/>
                </a:solidFill>
                <a:latin typeface="Calibri" pitchFamily="34" charset="0"/>
                <a:ea typeface="Calibri" pitchFamily="34" charset="-122"/>
                <a:cs typeface="Calibri" pitchFamily="34" charset="-120"/>
              </a:rPr>
              <a:t>Questions?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2026-08-25T20:15:51Z</dcterms:created>
  <dcterms:modified xsi:type="dcterms:W3CDTF">2026-08-25T20:15:51Z</dcterms:modified>
</cp:coreProperties>
</file>